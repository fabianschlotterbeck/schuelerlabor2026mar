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340" r:id="rId2"/>
    <p:sldId id="257" r:id="rId3"/>
    <p:sldId id="258" r:id="rId4"/>
    <p:sldId id="332" r:id="rId5"/>
    <p:sldId id="385" r:id="rId6"/>
    <p:sldId id="386" r:id="rId7"/>
    <p:sldId id="333" r:id="rId8"/>
    <p:sldId id="381" r:id="rId9"/>
    <p:sldId id="384" r:id="rId10"/>
    <p:sldId id="375" r:id="rId11"/>
    <p:sldId id="382" r:id="rId12"/>
    <p:sldId id="383" r:id="rId13"/>
    <p:sldId id="289" r:id="rId14"/>
    <p:sldId id="377" r:id="rId15"/>
    <p:sldId id="347" r:id="rId16"/>
    <p:sldId id="339" r:id="rId17"/>
    <p:sldId id="378" r:id="rId18"/>
    <p:sldId id="358" r:id="rId19"/>
    <p:sldId id="359" r:id="rId20"/>
    <p:sldId id="379" r:id="rId21"/>
    <p:sldId id="380" r:id="rId22"/>
    <p:sldId id="323" r:id="rId23"/>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AB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5763" autoAdjust="0"/>
  </p:normalViewPr>
  <p:slideViewPr>
    <p:cSldViewPr>
      <p:cViewPr varScale="1">
        <p:scale>
          <a:sx n="122" d="100"/>
          <a:sy n="122" d="100"/>
        </p:scale>
        <p:origin x="1296"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93D105-950A-45A6-BAE9-68F9EBA8F002}" type="datetimeFigureOut">
              <a:rPr lang="nl-NL" smtClean="0"/>
              <a:pPr/>
              <a:t>9-4-2024</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C65EB6-A9BA-41EB-A83C-64C2AA57DD01}" type="slidenum">
              <a:rPr lang="nl-NL" smtClean="0"/>
              <a:pPr/>
              <a:t>‹Nr.›</a:t>
            </a:fld>
            <a:endParaRPr lang="nl-NL"/>
          </a:p>
        </p:txBody>
      </p:sp>
    </p:spTree>
    <p:extLst>
      <p:ext uri="{BB962C8B-B14F-4D97-AF65-F5344CB8AC3E}">
        <p14:creationId xmlns:p14="http://schemas.microsoft.com/office/powerpoint/2010/main" val="215055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nl-NL" dirty="0">
                <a:latin typeface="Georgia" panose="02040502050405020303" pitchFamily="18" charset="0"/>
              </a:rPr>
              <a:t>[...]sondern die Identität zweier Werte in zwei verschiedenen Propositionen zu assertieren (König, 1991c:33)</a:t>
            </a:r>
            <a:endParaRPr lang="de-DE" dirty="0"/>
          </a:p>
        </p:txBody>
      </p:sp>
      <p:sp>
        <p:nvSpPr>
          <p:cNvPr id="4" name="Foliennummernplatzhalter 3"/>
          <p:cNvSpPr>
            <a:spLocks noGrp="1"/>
          </p:cNvSpPr>
          <p:nvPr>
            <p:ph type="sldNum" sz="quarter" idx="5"/>
          </p:nvPr>
        </p:nvSpPr>
        <p:spPr/>
        <p:txBody>
          <a:bodyPr/>
          <a:lstStyle/>
          <a:p>
            <a:fld id="{3BC65EB6-A9BA-41EB-A83C-64C2AA57DD01}" type="slidenum">
              <a:rPr lang="nl-NL" smtClean="0"/>
              <a:pPr/>
              <a:t>10</a:t>
            </a:fld>
            <a:endParaRPr lang="nl-NL"/>
          </a:p>
        </p:txBody>
      </p:sp>
    </p:spTree>
    <p:extLst>
      <p:ext uri="{BB962C8B-B14F-4D97-AF65-F5344CB8AC3E}">
        <p14:creationId xmlns:p14="http://schemas.microsoft.com/office/powerpoint/2010/main" val="4001535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15</a:t>
            </a:fld>
            <a:endParaRPr lang="nl-NL"/>
          </a:p>
        </p:txBody>
      </p:sp>
    </p:spTree>
    <p:extLst>
      <p:ext uri="{BB962C8B-B14F-4D97-AF65-F5344CB8AC3E}">
        <p14:creationId xmlns:p14="http://schemas.microsoft.com/office/powerpoint/2010/main" val="3505055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16</a:t>
            </a:fld>
            <a:endParaRPr lang="nl-NL"/>
          </a:p>
        </p:txBody>
      </p:sp>
    </p:spTree>
    <p:extLst>
      <p:ext uri="{BB962C8B-B14F-4D97-AF65-F5344CB8AC3E}">
        <p14:creationId xmlns:p14="http://schemas.microsoft.com/office/powerpoint/2010/main" val="1914734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Erwartung Kontext basiert auf OH/ 0-bedingung.  Die Erwartungn von OH und RA sind ähnlich</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17</a:t>
            </a:fld>
            <a:endParaRPr lang="nl-NL"/>
          </a:p>
        </p:txBody>
      </p:sp>
    </p:spTree>
    <p:extLst>
      <p:ext uri="{BB962C8B-B14F-4D97-AF65-F5344CB8AC3E}">
        <p14:creationId xmlns:p14="http://schemas.microsoft.com/office/powerpoint/2010/main" val="2500417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18</a:t>
            </a:fld>
            <a:endParaRPr lang="nl-NL"/>
          </a:p>
        </p:txBody>
      </p:sp>
    </p:spTree>
    <p:extLst>
      <p:ext uri="{BB962C8B-B14F-4D97-AF65-F5344CB8AC3E}">
        <p14:creationId xmlns:p14="http://schemas.microsoft.com/office/powerpoint/2010/main" val="796173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19</a:t>
            </a:fld>
            <a:endParaRPr lang="nl-NL"/>
          </a:p>
        </p:txBody>
      </p:sp>
    </p:spTree>
    <p:extLst>
      <p:ext uri="{BB962C8B-B14F-4D97-AF65-F5344CB8AC3E}">
        <p14:creationId xmlns:p14="http://schemas.microsoft.com/office/powerpoint/2010/main" val="2927106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 “Hohe Erwartbarkeit benötigt einen gewissen Kontext. Ich habe mich bemüht, ohne </a:t>
            </a:r>
            <a:br>
              <a:rPr lang="nl-NL" dirty="0"/>
            </a:br>
            <a:r>
              <a:rPr lang="nl-NL" dirty="0"/>
              <a:t>das Hinzufügen von unnötige, irreführende Informationen, </a:t>
            </a:r>
            <a:br>
              <a:rPr lang="nl-NL" dirty="0"/>
            </a:br>
            <a:r>
              <a:rPr lang="nl-NL" dirty="0"/>
              <a:t>die Länge von H + M Kontexte eine ähnliche Länge zu geben”</a:t>
            </a:r>
            <a:endParaRPr lang="en-US" dirty="0"/>
          </a:p>
        </p:txBody>
      </p:sp>
      <p:sp>
        <p:nvSpPr>
          <p:cNvPr id="4" name="Slide Number Placeholder 3"/>
          <p:cNvSpPr>
            <a:spLocks noGrp="1"/>
          </p:cNvSpPr>
          <p:nvPr>
            <p:ph type="sldNum" sz="quarter" idx="5"/>
          </p:nvPr>
        </p:nvSpPr>
        <p:spPr/>
        <p:txBody>
          <a:bodyPr/>
          <a:lstStyle/>
          <a:p>
            <a:fld id="{3BC65EB6-A9BA-41EB-A83C-64C2AA57DD01}" type="slidenum">
              <a:rPr lang="nl-NL" smtClean="0"/>
              <a:pPr/>
              <a:t>20</a:t>
            </a:fld>
            <a:endParaRPr lang="nl-NL"/>
          </a:p>
        </p:txBody>
      </p:sp>
    </p:spTree>
    <p:extLst>
      <p:ext uri="{BB962C8B-B14F-4D97-AF65-F5344CB8AC3E}">
        <p14:creationId xmlns:p14="http://schemas.microsoft.com/office/powerpoint/2010/main" val="23775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AD8212-347D-4C89-AC81-C568C60FCCAC}" type="datetimeFigureOut">
              <a:rPr lang="nl-NL" smtClean="0"/>
              <a:pPr/>
              <a:t>9-4-2024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9-4-2024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D8212-347D-4C89-AC81-C568C60FCCAC}" type="datetimeFigureOut">
              <a:rPr lang="nl-NL" smtClean="0"/>
              <a:pPr/>
              <a:t>9-4-2024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AD8212-347D-4C89-AC81-C568C60FCCAC}" type="datetimeFigureOut">
              <a:rPr lang="nl-NL" smtClean="0"/>
              <a:pPr/>
              <a:t>9-4-2024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AD8212-347D-4C89-AC81-C568C60FCCAC}" type="datetimeFigureOut">
              <a:rPr lang="nl-NL" smtClean="0"/>
              <a:pPr/>
              <a:t>9-4-2024</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AD8212-347D-4C89-AC81-C568C60FCCAC}" type="datetimeFigureOut">
              <a:rPr lang="nl-NL" smtClean="0"/>
              <a:pPr/>
              <a:t>9-4-2024</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AD8212-347D-4C89-AC81-C568C60FCCAC}" type="datetimeFigureOut">
              <a:rPr lang="nl-NL" smtClean="0"/>
              <a:pPr/>
              <a:t>9-4-2024</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AD8212-347D-4C89-AC81-C568C60FCCAC}" type="datetimeFigureOut">
              <a:rPr lang="nl-NL" smtClean="0"/>
              <a:pPr/>
              <a:t>9-4-2024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F578AD4A-62BF-44EE-BE4B-647617E9574D}" type="slidenum">
              <a:rPr lang="nl-NL" smtClean="0"/>
              <a:pPr/>
              <a:t>‹Nr.›</a:t>
            </a:fld>
            <a:endParaRPr lang="nl-NL"/>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BAD8212-347D-4C89-AC81-C568C60FCCAC}" type="datetimeFigureOut">
              <a:rPr lang="nl-NL" smtClean="0"/>
              <a:pPr/>
              <a:t>9-4-2024</a:t>
            </a:fld>
            <a:endParaRPr lang="nl-NL"/>
          </a:p>
        </p:txBody>
      </p:sp>
      <p:sp>
        <p:nvSpPr>
          <p:cNvPr id="9" name="Slide Number Placeholder 8"/>
          <p:cNvSpPr>
            <a:spLocks noGrp="1"/>
          </p:cNvSpPr>
          <p:nvPr>
            <p:ph type="sldNum" sz="quarter" idx="11"/>
          </p:nvPr>
        </p:nvSpPr>
        <p:spPr/>
        <p:txBody>
          <a:bodyPr/>
          <a:lstStyle/>
          <a:p>
            <a:fld id="{F578AD4A-62BF-44EE-BE4B-647617E9574D}" type="slidenum">
              <a:rPr lang="nl-NL" smtClean="0"/>
              <a:pPr/>
              <a:t>‹Nr.›</a:t>
            </a:fld>
            <a:endParaRPr lang="nl-NL"/>
          </a:p>
        </p:txBody>
      </p:sp>
      <p:sp>
        <p:nvSpPr>
          <p:cNvPr id="10" name="Footer Placeholder 9"/>
          <p:cNvSpPr>
            <a:spLocks noGrp="1"/>
          </p:cNvSpPr>
          <p:nvPr>
            <p:ph type="ftr" sz="quarter" idx="12"/>
          </p:nvPr>
        </p:nvSpPr>
        <p:spPr/>
        <p:txBody>
          <a:bodyPr/>
          <a:lstStyle/>
          <a:p>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9-4-2024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AD8212-347D-4C89-AC81-C568C60FCCAC}" type="datetimeFigureOut">
              <a:rPr lang="nl-NL" smtClean="0"/>
              <a:pPr/>
              <a:t>9-4-2024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F578AD4A-62BF-44EE-BE4B-647617E9574D}" type="slidenum">
              <a:rPr lang="nl-NL" smtClean="0"/>
              <a:pPr/>
              <a:t>‹Nr.›</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578AD4A-62BF-44EE-BE4B-647617E9574D}" type="slidenum">
              <a:rPr lang="nl-NL" smtClean="0"/>
              <a:pPr/>
              <a:t>‹Nr.›</a:t>
            </a:fld>
            <a:endParaRPr lang="nl-NL"/>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nl-NL"/>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DBAD8212-347D-4C89-AC81-C568C60FCCAC}" type="datetimeFigureOut">
              <a:rPr lang="nl-NL" smtClean="0"/>
              <a:pPr/>
              <a:t>9-4-2024</a:t>
            </a:fld>
            <a:endParaRPr lang="nl-NL"/>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www.google.nl/url?sa=i&amp;rct=j&amp;q=&amp;esrc=s&amp;source=images&amp;cd=&amp;cad=rja&amp;uact=8&amp;ved=0ahUKEwifgNrW7-_UAhUkJJoKHbT5AMwQjRwIBw&amp;url=http://www.mathematik.uni-marburg.de/~agricola/Hopf2017/&amp;psig=AFQjCNE3GwAloMo7u0IQF4Tol9VTXUaHZA&amp;ust=1499266016477973" TargetMode="Externa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060848"/>
            <a:ext cx="9144000" cy="2304256"/>
          </a:xfrm>
        </p:spPr>
        <p:txBody>
          <a:bodyPr/>
          <a:lstStyle/>
          <a:p>
            <a:r>
              <a:rPr lang="de-DE" sz="3600" b="1" dirty="0">
                <a:latin typeface="Georgia" panose="02040502050405020303" pitchFamily="18" charset="0"/>
              </a:rPr>
              <a:t>Erwartungswidrige Fokuspartikeln; </a:t>
            </a:r>
            <a:r>
              <a:rPr lang="de-DE" sz="1600" b="1" dirty="0">
                <a:effectLst/>
                <a:latin typeface="Georgia" panose="02040502050405020303" pitchFamily="18" charset="0"/>
                <a:ea typeface="Calibri" panose="020F0502020204030204" pitchFamily="34" charset="0"/>
              </a:rPr>
              <a:t>Experimente zu </a:t>
            </a:r>
            <a:r>
              <a:rPr lang="de-DE" sz="1600" b="1" i="1" dirty="0">
                <a:effectLst/>
                <a:latin typeface="Georgia" panose="02040502050405020303" pitchFamily="18" charset="0"/>
                <a:ea typeface="Calibri" panose="020F0502020204030204" pitchFamily="34" charset="0"/>
              </a:rPr>
              <a:t>eben, ausgerechnet, gerade </a:t>
            </a:r>
            <a:r>
              <a:rPr lang="de-DE" sz="1600" b="1" dirty="0">
                <a:effectLst/>
                <a:latin typeface="Georgia" panose="02040502050405020303" pitchFamily="18" charset="0"/>
                <a:ea typeface="Calibri" panose="020F0502020204030204" pitchFamily="34" charset="0"/>
              </a:rPr>
              <a:t>und </a:t>
            </a:r>
            <a:r>
              <a:rPr lang="de-DE" sz="1600" b="1" i="1" dirty="0">
                <a:effectLst/>
                <a:latin typeface="Georgia" panose="02040502050405020303" pitchFamily="18" charset="0"/>
                <a:ea typeface="Calibri" panose="020F0502020204030204" pitchFamily="34" charset="0"/>
              </a:rPr>
              <a:t>genau</a:t>
            </a:r>
            <a:r>
              <a:rPr lang="de-DE" sz="1800" dirty="0">
                <a:effectLst/>
                <a:latin typeface="Times New Roman" panose="02020603050405020304" pitchFamily="18" charset="0"/>
                <a:ea typeface="Calibri" panose="020F0502020204030204" pitchFamily="34" charset="0"/>
              </a:rPr>
              <a:t/>
            </a:r>
            <a:br>
              <a:rPr lang="de-DE" sz="1800" dirty="0">
                <a:effectLst/>
                <a:latin typeface="Times New Roman" panose="02020603050405020304" pitchFamily="18" charset="0"/>
                <a:ea typeface="Calibri" panose="020F0502020204030204" pitchFamily="34" charset="0"/>
              </a:rPr>
            </a:br>
            <a:endParaRPr lang="nl-NL" sz="3600" b="1" dirty="0">
              <a:latin typeface="Georgia" panose="02040502050405020303" pitchFamily="18" charset="0"/>
            </a:endParaRPr>
          </a:p>
        </p:txBody>
      </p:sp>
      <p:sp>
        <p:nvSpPr>
          <p:cNvPr id="4" name="TextBox 3"/>
          <p:cNvSpPr txBox="1"/>
          <p:nvPr/>
        </p:nvSpPr>
        <p:spPr>
          <a:xfrm>
            <a:off x="2339752" y="4171080"/>
            <a:ext cx="5976664" cy="1169551"/>
          </a:xfrm>
          <a:prstGeom prst="rect">
            <a:avLst/>
          </a:prstGeom>
          <a:noFill/>
        </p:spPr>
        <p:txBody>
          <a:bodyPr wrap="square" rtlCol="0">
            <a:spAutoFit/>
          </a:bodyPr>
          <a:lstStyle/>
          <a:p>
            <a:r>
              <a:rPr lang="en-US" sz="1400" dirty="0">
                <a:solidFill>
                  <a:schemeClr val="tx1">
                    <a:lumMod val="75000"/>
                    <a:lumOff val="25000"/>
                  </a:schemeClr>
                </a:solidFill>
                <a:latin typeface="Georgia" panose="02040502050405020303" pitchFamily="18" charset="0"/>
              </a:rPr>
              <a:t>Margarethe Annedore van </a:t>
            </a:r>
            <a:r>
              <a:rPr lang="en-US" sz="1400" dirty="0" smtClean="0">
                <a:solidFill>
                  <a:schemeClr val="tx1">
                    <a:lumMod val="75000"/>
                    <a:lumOff val="25000"/>
                  </a:schemeClr>
                </a:solidFill>
                <a:latin typeface="Georgia" panose="02040502050405020303" pitchFamily="18" charset="0"/>
              </a:rPr>
              <a:t>Liempt</a:t>
            </a:r>
            <a:r>
              <a:rPr lang="en-US" sz="1400" baseline="30000" dirty="0" smtClean="0">
                <a:solidFill>
                  <a:schemeClr val="tx1">
                    <a:lumMod val="75000"/>
                    <a:lumOff val="25000"/>
                  </a:schemeClr>
                </a:solidFill>
                <a:latin typeface="Georgia" panose="02040502050405020303" pitchFamily="18" charset="0"/>
              </a:rPr>
              <a:t>1</a:t>
            </a:r>
            <a:r>
              <a:rPr lang="en-US" sz="1400" dirty="0" smtClean="0">
                <a:solidFill>
                  <a:schemeClr val="tx1">
                    <a:lumMod val="75000"/>
                    <a:lumOff val="25000"/>
                  </a:schemeClr>
                </a:solidFill>
                <a:latin typeface="Georgia" panose="02040502050405020303" pitchFamily="18" charset="0"/>
              </a:rPr>
              <a:t> &amp; Fabian Schlotterbeck</a:t>
            </a:r>
            <a:r>
              <a:rPr lang="en-US" sz="1400" baseline="30000" dirty="0" smtClean="0">
                <a:solidFill>
                  <a:schemeClr val="tx1">
                    <a:lumMod val="75000"/>
                    <a:lumOff val="25000"/>
                  </a:schemeClr>
                </a:solidFill>
                <a:latin typeface="Georgia" panose="02040502050405020303" pitchFamily="18" charset="0"/>
              </a:rPr>
              <a:t>2</a:t>
            </a:r>
            <a:endParaRPr lang="en-US" sz="1400" dirty="0" smtClean="0">
              <a:solidFill>
                <a:schemeClr val="tx1">
                  <a:lumMod val="75000"/>
                  <a:lumOff val="25000"/>
                </a:schemeClr>
              </a:solidFill>
              <a:latin typeface="Georgia" panose="02040502050405020303" pitchFamily="18" charset="0"/>
            </a:endParaRPr>
          </a:p>
          <a:p>
            <a:endParaRPr lang="en-US" sz="1400" dirty="0" smtClean="0">
              <a:solidFill>
                <a:schemeClr val="tx1">
                  <a:lumMod val="75000"/>
                  <a:lumOff val="25000"/>
                </a:schemeClr>
              </a:solidFill>
              <a:latin typeface="Georgia" panose="02040502050405020303" pitchFamily="18" charset="0"/>
            </a:endParaRPr>
          </a:p>
          <a:p>
            <a:r>
              <a:rPr lang="en-US" sz="1400" baseline="30000" dirty="0">
                <a:solidFill>
                  <a:schemeClr val="tx1">
                    <a:lumMod val="75000"/>
                    <a:lumOff val="25000"/>
                  </a:schemeClr>
                </a:solidFill>
                <a:latin typeface="Georgia" panose="02040502050405020303" pitchFamily="18" charset="0"/>
              </a:rPr>
              <a:t>1</a:t>
            </a:r>
            <a:r>
              <a:rPr lang="en-US" sz="1400" dirty="0" smtClean="0">
                <a:solidFill>
                  <a:schemeClr val="tx1">
                    <a:lumMod val="75000"/>
                    <a:lumOff val="25000"/>
                  </a:schemeClr>
                </a:solidFill>
                <a:latin typeface="Georgia" panose="02040502050405020303" pitchFamily="18" charset="0"/>
              </a:rPr>
              <a:t>Rheinland-Pfälzische </a:t>
            </a:r>
            <a:r>
              <a:rPr lang="en-US" sz="1400" dirty="0" err="1">
                <a:solidFill>
                  <a:schemeClr val="tx1">
                    <a:lumMod val="75000"/>
                    <a:lumOff val="25000"/>
                  </a:schemeClr>
                </a:solidFill>
                <a:latin typeface="Georgia" panose="02040502050405020303" pitchFamily="18" charset="0"/>
              </a:rPr>
              <a:t>Technische</a:t>
            </a:r>
            <a:r>
              <a:rPr lang="en-US" sz="1400" dirty="0">
                <a:solidFill>
                  <a:schemeClr val="tx1">
                    <a:lumMod val="75000"/>
                    <a:lumOff val="25000"/>
                  </a:schemeClr>
                </a:solidFill>
                <a:latin typeface="Georgia" panose="02040502050405020303" pitchFamily="18" charset="0"/>
              </a:rPr>
              <a:t> </a:t>
            </a:r>
            <a:r>
              <a:rPr lang="en-US" sz="1400" dirty="0" err="1">
                <a:solidFill>
                  <a:schemeClr val="tx1">
                    <a:lumMod val="75000"/>
                    <a:lumOff val="25000"/>
                  </a:schemeClr>
                </a:solidFill>
                <a:latin typeface="Georgia" panose="02040502050405020303" pitchFamily="18" charset="0"/>
              </a:rPr>
              <a:t>Universität</a:t>
            </a:r>
            <a:r>
              <a:rPr lang="en-US" sz="1400" dirty="0">
                <a:solidFill>
                  <a:schemeClr val="tx1">
                    <a:lumMod val="75000"/>
                    <a:lumOff val="25000"/>
                  </a:schemeClr>
                </a:solidFill>
                <a:latin typeface="Georgia" panose="02040502050405020303" pitchFamily="18" charset="0"/>
              </a:rPr>
              <a:t> </a:t>
            </a:r>
            <a:r>
              <a:rPr lang="en-US" sz="1400" dirty="0" smtClean="0">
                <a:solidFill>
                  <a:schemeClr val="tx1">
                    <a:lumMod val="75000"/>
                    <a:lumOff val="25000"/>
                  </a:schemeClr>
                </a:solidFill>
                <a:latin typeface="Georgia" panose="02040502050405020303" pitchFamily="18" charset="0"/>
              </a:rPr>
              <a:t>Kaiserslautern-Landau</a:t>
            </a:r>
          </a:p>
          <a:p>
            <a:r>
              <a:rPr lang="en-US" sz="1400" baseline="30000" dirty="0" smtClean="0">
                <a:solidFill>
                  <a:schemeClr val="tx1">
                    <a:lumMod val="75000"/>
                    <a:lumOff val="25000"/>
                  </a:schemeClr>
                </a:solidFill>
                <a:latin typeface="Georgia" panose="02040502050405020303" pitchFamily="18" charset="0"/>
              </a:rPr>
              <a:t>2</a:t>
            </a:r>
            <a:r>
              <a:rPr lang="en-US" sz="1400" dirty="0" smtClean="0">
                <a:solidFill>
                  <a:schemeClr val="tx1">
                    <a:lumMod val="75000"/>
                    <a:lumOff val="25000"/>
                  </a:schemeClr>
                </a:solidFill>
                <a:latin typeface="Georgia" panose="02040502050405020303" pitchFamily="18" charset="0"/>
              </a:rPr>
              <a:t>Universität </a:t>
            </a:r>
            <a:r>
              <a:rPr lang="en-US" sz="1400" dirty="0" err="1" smtClean="0">
                <a:solidFill>
                  <a:schemeClr val="tx1">
                    <a:lumMod val="75000"/>
                    <a:lumOff val="25000"/>
                  </a:schemeClr>
                </a:solidFill>
                <a:latin typeface="Georgia" panose="02040502050405020303" pitchFamily="18" charset="0"/>
              </a:rPr>
              <a:t>Tübingen</a:t>
            </a:r>
            <a:r>
              <a:rPr lang="en-US" sz="1400" dirty="0">
                <a:solidFill>
                  <a:schemeClr val="tx1">
                    <a:lumMod val="75000"/>
                    <a:lumOff val="25000"/>
                  </a:schemeClr>
                </a:solidFill>
                <a:latin typeface="Georgia" panose="02040502050405020303" pitchFamily="18" charset="0"/>
              </a:rPr>
              <a:t/>
            </a:r>
            <a:br>
              <a:rPr lang="en-US" sz="1400" dirty="0">
                <a:solidFill>
                  <a:schemeClr val="tx1">
                    <a:lumMod val="75000"/>
                    <a:lumOff val="25000"/>
                  </a:schemeClr>
                </a:solidFill>
                <a:latin typeface="Georgia" panose="02040502050405020303" pitchFamily="18" charset="0"/>
              </a:rPr>
            </a:br>
            <a:endParaRPr lang="nl-NL" sz="1400" dirty="0">
              <a:solidFill>
                <a:schemeClr val="tx1">
                  <a:lumMod val="75000"/>
                  <a:lumOff val="25000"/>
                </a:schemeClr>
              </a:solidFill>
              <a:latin typeface="Georgia" panose="02040502050405020303" pitchFamily="18" charset="0"/>
            </a:endParaRPr>
          </a:p>
        </p:txBody>
      </p:sp>
      <p:sp>
        <p:nvSpPr>
          <p:cNvPr id="15362" name="AutoShape 2"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6" name="AutoShape 6"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8" name="AutoShape 8" descr="Afbeeldingsresultaat voor uni marburg">
            <a:hlinkClick r:id="rId2"/>
          </p:cNvPr>
          <p:cNvSpPr>
            <a:spLocks noChangeAspect="1" noChangeArrowheads="1"/>
          </p:cNvSpPr>
          <p:nvPr/>
        </p:nvSpPr>
        <p:spPr bwMode="auto">
          <a:xfrm>
            <a:off x="1331640" y="260648"/>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0" name="AutoShape 10"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2" name="AutoShape 12" descr="Afbeeldingsresultaat voor uni marburg">
            <a:hlinkClick r:id="rId2"/>
          </p:cNvPr>
          <p:cNvSpPr>
            <a:spLocks noChangeAspect="1" noChangeArrowheads="1"/>
          </p:cNvSpPr>
          <p:nvPr/>
        </p:nvSpPr>
        <p:spPr bwMode="auto">
          <a:xfrm>
            <a:off x="53975" y="-609600"/>
            <a:ext cx="3571875" cy="12763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Grafik 4" descr="Ein Bild, das Text enthält.&#10;&#10;Automatisch generierte Beschreibung">
            <a:extLst>
              <a:ext uri="{FF2B5EF4-FFF2-40B4-BE49-F238E27FC236}">
                <a16:creationId xmlns="" xmlns:a16="http://schemas.microsoft.com/office/drawing/2014/main" id="{041F54C9-8862-D9A1-C2BD-E8ECCE776E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95736" y="1052736"/>
            <a:ext cx="4903515" cy="1259149"/>
          </a:xfrm>
          <a:prstGeom prst="rect">
            <a:avLst/>
          </a:prstGeom>
        </p:spPr>
      </p:pic>
      <p:pic>
        <p:nvPicPr>
          <p:cNvPr id="3" name="Grafik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049" y="4182591"/>
            <a:ext cx="1781175" cy="2381250"/>
          </a:xfrm>
          <a:prstGeom prst="rect">
            <a:avLst/>
          </a:prstGeom>
        </p:spPr>
      </p:pic>
    </p:spTree>
    <p:extLst>
      <p:ext uri="{BB962C8B-B14F-4D97-AF65-F5344CB8AC3E}">
        <p14:creationId xmlns:p14="http://schemas.microsoft.com/office/powerpoint/2010/main" val="85303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63688"/>
            <a:ext cx="7620000" cy="4800600"/>
          </a:xfrm>
        </p:spPr>
        <p:txBody>
          <a:bodyPr>
            <a:normAutofit/>
          </a:bodyPr>
          <a:lstStyle/>
          <a:p>
            <a:r>
              <a:rPr lang="nl-NL" dirty="0" err="1">
                <a:latin typeface="Georgia" panose="02040502050405020303" pitchFamily="18" charset="0"/>
              </a:rPr>
              <a:t>Einführung</a:t>
            </a:r>
            <a:endParaRPr lang="nl-NL" dirty="0">
              <a:latin typeface="Georgia" panose="02040502050405020303" pitchFamily="18" charset="0"/>
            </a:endParaRPr>
          </a:p>
          <a:p>
            <a:endParaRPr lang="nl-NL" dirty="0">
              <a:latin typeface="Georgia" panose="02040502050405020303" pitchFamily="18" charset="0"/>
            </a:endParaRPr>
          </a:p>
          <a:p>
            <a:r>
              <a:rPr lang="nl-NL" dirty="0">
                <a:latin typeface="Georgia" panose="02040502050405020303" pitchFamily="18" charset="0"/>
              </a:rPr>
              <a:t>Vorschlag</a:t>
            </a:r>
          </a:p>
          <a:p>
            <a:endParaRPr lang="nl-NL" dirty="0">
              <a:latin typeface="Georgia" panose="02040502050405020303" pitchFamily="18" charset="0"/>
            </a:endParaRPr>
          </a:p>
          <a:p>
            <a:r>
              <a:rPr lang="nl-NL" dirty="0">
                <a:latin typeface="Georgia" panose="02040502050405020303" pitchFamily="18" charset="0"/>
              </a:rPr>
              <a:t>Hypothese</a:t>
            </a:r>
          </a:p>
          <a:p>
            <a:endParaRPr lang="nl-NL" dirty="0">
              <a:latin typeface="Georgia" panose="02040502050405020303" pitchFamily="18" charset="0"/>
            </a:endParaRPr>
          </a:p>
          <a:p>
            <a:r>
              <a:rPr lang="nl-NL" dirty="0">
                <a:latin typeface="Georgia" panose="02040502050405020303" pitchFamily="18" charset="0"/>
              </a:rPr>
              <a:t>Experimente</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sp>
        <p:nvSpPr>
          <p:cNvPr id="5" name="Title 1"/>
          <p:cNvSpPr txBox="1">
            <a:spLocks/>
          </p:cNvSpPr>
          <p:nvPr/>
        </p:nvSpPr>
        <p:spPr>
          <a:xfrm>
            <a:off x="497837" y="620688"/>
            <a:ext cx="76200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dirty="0" err="1">
                <a:latin typeface="Georgia" panose="02040502050405020303" pitchFamily="18" charset="0"/>
              </a:rPr>
              <a:t>Inhaltsangabe</a:t>
            </a:r>
            <a:endParaRPr lang="nl-NL" dirty="0">
              <a:latin typeface="Georgia" panose="02040502050405020303" pitchFamily="18" charset="0"/>
            </a:endParaRPr>
          </a:p>
        </p:txBody>
      </p:sp>
    </p:spTree>
    <p:extLst>
      <p:ext uri="{BB962C8B-B14F-4D97-AF65-F5344CB8AC3E}">
        <p14:creationId xmlns:p14="http://schemas.microsoft.com/office/powerpoint/2010/main" val="148577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3" name="Content Placeholder 2"/>
          <p:cNvSpPr>
            <a:spLocks noGrp="1"/>
          </p:cNvSpPr>
          <p:nvPr>
            <p:ph idx="1"/>
          </p:nvPr>
        </p:nvSpPr>
        <p:spPr>
          <a:xfrm>
            <a:off x="497837" y="1787277"/>
            <a:ext cx="7620000" cy="4800600"/>
          </a:xfrm>
        </p:spPr>
        <p:txBody>
          <a:bodyPr/>
          <a:lstStyle/>
          <a:p>
            <a:endParaRPr lang="en-US"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a:p>
            <a:pPr>
              <a:buNone/>
            </a:pPr>
            <a:endParaRPr lang="nl-NL" dirty="0">
              <a:latin typeface="Georgia" panose="02040502050405020303" pitchFamily="18" charset="0"/>
            </a:endParaRPr>
          </a:p>
          <a:p>
            <a:endParaRPr lang="nl-NL" dirty="0">
              <a:latin typeface="Georgia" panose="02040502050405020303" pitchFamily="18" charset="0"/>
            </a:endParaRPr>
          </a:p>
        </p:txBody>
      </p:sp>
      <p:sp>
        <p:nvSpPr>
          <p:cNvPr id="8"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nl-NL" b="1" dirty="0" smtClean="0">
                <a:latin typeface="Georgia" panose="02040502050405020303" pitchFamily="18" charset="0"/>
              </a:rPr>
              <a:t>Fokuspartikeln</a:t>
            </a:r>
            <a:endParaRPr lang="nl-NL" dirty="0">
              <a:latin typeface="Georgia" panose="02040502050405020303" pitchFamily="18" charset="0"/>
            </a:endParaRPr>
          </a:p>
          <a:p>
            <a:endParaRPr lang="nl-NL" b="1" dirty="0">
              <a:latin typeface="Georgia" panose="02040502050405020303" pitchFamily="18" charset="0"/>
            </a:endParaRPr>
          </a:p>
          <a:p>
            <a:r>
              <a:rPr lang="nl-NL" dirty="0">
                <a:latin typeface="Georgia" panose="02040502050405020303" pitchFamily="18" charset="0"/>
              </a:rPr>
              <a:t>Bekannte Gruppen: restriktive, additive und (hybride) skalare </a:t>
            </a:r>
            <a:r>
              <a:rPr lang="nl-NL" dirty="0" smtClean="0">
                <a:latin typeface="Georgia" panose="02040502050405020303" pitchFamily="18" charset="0"/>
              </a:rPr>
              <a:t>Fokuspartikeln</a:t>
            </a:r>
            <a:endParaRPr lang="nl-NL" dirty="0">
              <a:latin typeface="Georgia" panose="02040502050405020303" pitchFamily="18" charset="0"/>
            </a:endParaRPr>
          </a:p>
          <a:p>
            <a:endParaRPr lang="nl-NL" dirty="0">
              <a:latin typeface="Georgia" panose="02040502050405020303" pitchFamily="18" charset="0"/>
            </a:endParaRPr>
          </a:p>
          <a:p>
            <a:pPr lvl="1"/>
            <a:r>
              <a:rPr lang="de-DE" sz="1600" i="1" dirty="0">
                <a:latin typeface="Georgia" panose="02040502050405020303" pitchFamily="18" charset="0"/>
              </a:rPr>
              <a:t>allein, auch, auch nur, </a:t>
            </a:r>
            <a:r>
              <a:rPr lang="de-DE" sz="1600" i="1" dirty="0">
                <a:highlight>
                  <a:srgbClr val="FFFF00"/>
                </a:highlight>
                <a:latin typeface="Georgia" panose="02040502050405020303" pitchFamily="18" charset="0"/>
              </a:rPr>
              <a:t>ausgerechnet</a:t>
            </a:r>
            <a:r>
              <a:rPr lang="de-DE" sz="1600" i="1" dirty="0">
                <a:latin typeface="Georgia" panose="02040502050405020303" pitchFamily="18" charset="0"/>
              </a:rPr>
              <a:t>, ausschließlich, bereits, besonders, bloß, einzig, </a:t>
            </a:r>
            <a:r>
              <a:rPr lang="de-DE" sz="1600" i="1" dirty="0">
                <a:highlight>
                  <a:srgbClr val="FFFF00"/>
                </a:highlight>
                <a:latin typeface="Georgia" panose="02040502050405020303" pitchFamily="18" charset="0"/>
              </a:rPr>
              <a:t>eben</a:t>
            </a:r>
            <a:r>
              <a:rPr lang="de-DE" sz="1600" i="1" dirty="0">
                <a:latin typeface="Georgia" panose="02040502050405020303" pitchFamily="18" charset="0"/>
              </a:rPr>
              <a:t>, ebenfalls, erst, gar, </a:t>
            </a:r>
            <a:r>
              <a:rPr lang="de-DE" sz="1600" i="1" dirty="0">
                <a:highlight>
                  <a:srgbClr val="FFFF00"/>
                </a:highlight>
                <a:latin typeface="Georgia" panose="02040502050405020303" pitchFamily="18" charset="0"/>
              </a:rPr>
              <a:t>genau</a:t>
            </a:r>
            <a:r>
              <a:rPr lang="de-DE" sz="1600" i="1" dirty="0">
                <a:latin typeface="Georgia" panose="02040502050405020303" pitchFamily="18" charset="0"/>
              </a:rPr>
              <a:t>, geschweige denn, </a:t>
            </a:r>
            <a:r>
              <a:rPr lang="de-DE" sz="1600" i="1" dirty="0">
                <a:highlight>
                  <a:srgbClr val="FFFF00"/>
                </a:highlight>
                <a:latin typeface="Georgia" panose="02040502050405020303" pitchFamily="18" charset="0"/>
              </a:rPr>
              <a:t>gerade</a:t>
            </a:r>
            <a:r>
              <a:rPr lang="de-DE" sz="1600" i="1" dirty="0">
                <a:latin typeface="Georgia" panose="02040502050405020303" pitchFamily="18" charset="0"/>
              </a:rPr>
              <a:t>, gleich, gleichfalls, insbesondere, lediglich, (nicht) einmal, noch, nur, schon, selbst, sogar, vor allem, wenigstens, zumal, zumindest. </a:t>
            </a:r>
          </a:p>
          <a:p>
            <a:pPr marL="411480" lvl="1" indent="0">
              <a:buNone/>
            </a:pPr>
            <a:r>
              <a:rPr lang="de-DE" sz="1600" i="1" dirty="0">
                <a:latin typeface="Georgia" panose="02040502050405020303" pitchFamily="18" charset="0"/>
              </a:rPr>
              <a:t>     </a:t>
            </a:r>
            <a:r>
              <a:rPr lang="nl-NL" sz="1400" dirty="0">
                <a:latin typeface="Georgia" panose="02040502050405020303" pitchFamily="18" charset="0"/>
              </a:rPr>
              <a:t>(König 1991a: 10)</a:t>
            </a: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6427022B-5D64-871D-B7DA-089146A51C4D}"/>
              </a:ext>
            </a:extLst>
          </p:cNvPr>
          <p:cNvGraphicFramePr>
            <a:graphicFrameLocks noGrp="1"/>
          </p:cNvGraphicFramePr>
          <p:nvPr>
            <p:extLst>
              <p:ext uri="{D42A27DB-BD31-4B8C-83A1-F6EECF244321}">
                <p14:modId xmlns:p14="http://schemas.microsoft.com/office/powerpoint/2010/main" val="4253010042"/>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4005500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dirty="0">
                <a:latin typeface="Georgia" panose="02040502050405020303" pitchFamily="18" charset="0"/>
              </a:rPr>
              <a:t>„Partikeln, die die Funktion haben, bestimmte Elemente eines Satzes hervorzuheben. Zusammen mit deren Bezugsausdruck (worauf der Fokus gelegt wird) bilden sie den Informationskern des Satzes. Das Weglassen der Fokuspartikel verändert nicht die grammatische Richtigkeit des Satzes, kann und soll aber die Bedeutung des Satzes verändern.“</a:t>
            </a:r>
          </a:p>
          <a:p>
            <a:pPr lvl="6"/>
            <a:r>
              <a:rPr lang="de-DE" dirty="0">
                <a:latin typeface="Georgia" panose="02040502050405020303" pitchFamily="18" charset="0"/>
              </a:rPr>
              <a:t>Inspiriert von der Definition von Dimroth (2004: 14-15)</a:t>
            </a: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B71A1041-093A-113F-326E-D9729E7610F9}"/>
              </a:ext>
            </a:extLst>
          </p:cNvPr>
          <p:cNvGraphicFramePr>
            <a:graphicFrameLocks noGrp="1"/>
          </p:cNvGraphicFramePr>
          <p:nvPr>
            <p:extLst>
              <p:ext uri="{D42A27DB-BD31-4B8C-83A1-F6EECF244321}">
                <p14:modId xmlns:p14="http://schemas.microsoft.com/office/powerpoint/2010/main" val="301365725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1026030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B71A1041-093A-113F-326E-D9729E7610F9}"/>
              </a:ext>
            </a:extLst>
          </p:cNvPr>
          <p:cNvGraphicFramePr>
            <a:graphicFrameLocks noGrp="1"/>
          </p:cNvGraphicFramePr>
          <p:nvPr>
            <p:extLst>
              <p:ext uri="{D42A27DB-BD31-4B8C-83A1-F6EECF244321}">
                <p14:modId xmlns:p14="http://schemas.microsoft.com/office/powerpoint/2010/main" val="301365725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
        <p:nvSpPr>
          <p:cNvPr id="5" name="Content Placeholder 2">
            <a:extLst>
              <a:ext uri="{FF2B5EF4-FFF2-40B4-BE49-F238E27FC236}">
                <a16:creationId xmlns="" xmlns:a16="http://schemas.microsoft.com/office/drawing/2014/main" id="{2825FD2F-6484-741A-66B4-7EB0AA783294}"/>
              </a:ext>
            </a:extLst>
          </p:cNvPr>
          <p:cNvSpPr txBox="1">
            <a:spLocks/>
          </p:cNvSpPr>
          <p:nvPr/>
        </p:nvSpPr>
        <p:spPr>
          <a:xfrm>
            <a:off x="497837" y="2469451"/>
            <a:ext cx="7620000" cy="504056"/>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buNone/>
            </a:pPr>
            <a:r>
              <a:rPr lang="nl-NL" i="1" dirty="0" smtClean="0">
                <a:latin typeface="Georgia" panose="02040502050405020303" pitchFamily="18" charset="0"/>
              </a:rPr>
              <a:t>Nur </a:t>
            </a:r>
            <a:r>
              <a:rPr lang="nl-NL" dirty="0">
                <a:latin typeface="Georgia" panose="02040502050405020303" pitchFamily="18" charset="0"/>
              </a:rPr>
              <a:t>[Emma] hält einen Vortrag über Fokuspartikeln.</a:t>
            </a:r>
          </a:p>
          <a:p>
            <a:endParaRPr lang="nl-NL" dirty="0">
              <a:latin typeface="Georgia" panose="02040502050405020303" pitchFamily="18" charset="0"/>
            </a:endParaRPr>
          </a:p>
          <a:p>
            <a:endParaRPr lang="nl-NL" dirty="0">
              <a:latin typeface="Georgia" panose="02040502050405020303" pitchFamily="18" charset="0"/>
            </a:endParaRPr>
          </a:p>
        </p:txBody>
      </p:sp>
    </p:spTree>
    <p:extLst>
      <p:ext uri="{BB962C8B-B14F-4D97-AF65-F5344CB8AC3E}">
        <p14:creationId xmlns:p14="http://schemas.microsoft.com/office/powerpoint/2010/main" val="194500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B71A1041-093A-113F-326E-D9729E7610F9}"/>
              </a:ext>
            </a:extLst>
          </p:cNvPr>
          <p:cNvGraphicFramePr>
            <a:graphicFrameLocks noGrp="1"/>
          </p:cNvGraphicFramePr>
          <p:nvPr>
            <p:extLst>
              <p:ext uri="{D42A27DB-BD31-4B8C-83A1-F6EECF244321}">
                <p14:modId xmlns:p14="http://schemas.microsoft.com/office/powerpoint/2010/main" val="301365725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
        <p:nvSpPr>
          <p:cNvPr id="6"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1299592"/>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411480" lvl="1" indent="0">
              <a:buNone/>
            </a:pPr>
            <a:r>
              <a:rPr lang="nl-NL" i="1" dirty="0">
                <a:latin typeface="Georgia" panose="02040502050405020303" pitchFamily="18" charset="0"/>
              </a:rPr>
              <a:t> </a:t>
            </a:r>
            <a:r>
              <a:rPr lang="nl-NL" i="1" dirty="0" smtClean="0">
                <a:latin typeface="Georgia" panose="02040502050405020303" pitchFamily="18" charset="0"/>
              </a:rPr>
              <a:t>   </a:t>
            </a:r>
            <a:r>
              <a:rPr lang="nl-NL" sz="2200" dirty="0" smtClean="0">
                <a:solidFill>
                  <a:srgbClr val="FF0000"/>
                </a:solidFill>
                <a:latin typeface="Georgia" panose="02040502050405020303" pitchFamily="18" charset="0"/>
              </a:rPr>
              <a:t>[Ziheng]</a:t>
            </a:r>
            <a:endParaRPr lang="nl-NL" sz="2200" dirty="0">
              <a:solidFill>
                <a:srgbClr val="FF0000"/>
              </a:solidFill>
              <a:latin typeface="Georgia" panose="02040502050405020303" pitchFamily="18" charset="0"/>
            </a:endParaRPr>
          </a:p>
          <a:p>
            <a:pPr marL="114300" indent="0">
              <a:buNone/>
            </a:pPr>
            <a:r>
              <a:rPr lang="nl-NL" i="1" dirty="0">
                <a:latin typeface="Georgia" panose="02040502050405020303" pitchFamily="18" charset="0"/>
              </a:rPr>
              <a:t>Nur </a:t>
            </a:r>
            <a:r>
              <a:rPr lang="nl-NL" dirty="0">
                <a:latin typeface="Georgia" panose="02040502050405020303" pitchFamily="18" charset="0"/>
              </a:rPr>
              <a:t>[Emma] hält einen Vortrag über Fokuspartikeln</a:t>
            </a:r>
            <a:r>
              <a:rPr lang="nl-NL" dirty="0" smtClean="0">
                <a:latin typeface="Georgia" panose="02040502050405020303" pitchFamily="18" charset="0"/>
              </a:rPr>
              <a:t>.</a:t>
            </a:r>
          </a:p>
          <a:p>
            <a:pPr marL="114300" indent="0">
              <a:buNone/>
            </a:pPr>
            <a:r>
              <a:rPr lang="nl-NL" dirty="0">
                <a:latin typeface="Georgia" panose="02040502050405020303" pitchFamily="18" charset="0"/>
              </a:rPr>
              <a:t> </a:t>
            </a:r>
            <a:r>
              <a:rPr lang="nl-NL" dirty="0" smtClean="0">
                <a:latin typeface="Georgia" panose="02040502050405020303" pitchFamily="18" charset="0"/>
              </a:rPr>
              <a:t>       </a:t>
            </a:r>
            <a:r>
              <a:rPr lang="nl-NL" sz="2200" dirty="0" smtClean="0">
                <a:solidFill>
                  <a:srgbClr val="FF0000"/>
                </a:solidFill>
                <a:latin typeface="Georgia" panose="02040502050405020303" pitchFamily="18" charset="0"/>
              </a:rPr>
              <a:t>[Tamara]</a:t>
            </a:r>
          </a:p>
          <a:p>
            <a:pPr marL="114300" indent="0">
              <a:buNone/>
            </a:pPr>
            <a:endParaRPr lang="nl-NL" dirty="0">
              <a:latin typeface="Georgia" panose="02040502050405020303" pitchFamily="18" charset="0"/>
            </a:endParaRPr>
          </a:p>
          <a:p>
            <a:endParaRPr lang="nl-NL" dirty="0">
              <a:latin typeface="Georgia" panose="02040502050405020303" pitchFamily="18" charset="0"/>
            </a:endParaRPr>
          </a:p>
        </p:txBody>
      </p:sp>
    </p:spTree>
    <p:extLst>
      <p:ext uri="{BB962C8B-B14F-4D97-AF65-F5344CB8AC3E}">
        <p14:creationId xmlns:p14="http://schemas.microsoft.com/office/powerpoint/2010/main" val="2293856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b="1" dirty="0">
                <a:latin typeface="Georgia" panose="02040502050405020303" pitchFamily="18" charset="0"/>
              </a:rPr>
              <a:t>Restriktive</a:t>
            </a:r>
            <a:r>
              <a:rPr lang="de-DE" dirty="0">
                <a:latin typeface="Georgia" panose="02040502050405020303" pitchFamily="18" charset="0"/>
              </a:rPr>
              <a:t> Fokuspartikeln (</a:t>
            </a:r>
            <a:r>
              <a:rPr lang="de-DE" i="1" dirty="0">
                <a:latin typeface="Georgia" panose="02040502050405020303" pitchFamily="18" charset="0"/>
              </a:rPr>
              <a:t>allein, nur </a:t>
            </a:r>
            <a:r>
              <a:rPr lang="de-DE" dirty="0">
                <a:latin typeface="Georgia" panose="02040502050405020303" pitchFamily="18" charset="0"/>
              </a:rPr>
              <a:t>und </a:t>
            </a:r>
            <a:r>
              <a:rPr lang="de-DE" i="1" dirty="0">
                <a:latin typeface="Georgia" panose="02040502050405020303" pitchFamily="18" charset="0"/>
              </a:rPr>
              <a:t>ausschließlich</a:t>
            </a:r>
            <a:r>
              <a:rPr lang="de-DE" dirty="0">
                <a:latin typeface="Georgia" panose="02040502050405020303" pitchFamily="18" charset="0"/>
              </a:rPr>
              <a:t>):</a:t>
            </a:r>
          </a:p>
          <a:p>
            <a:endParaRPr lang="de-DE" dirty="0">
              <a:latin typeface="Georgia" panose="02040502050405020303" pitchFamily="18" charset="0"/>
            </a:endParaRPr>
          </a:p>
          <a:p>
            <a:r>
              <a:rPr lang="nl-NL" i="1" dirty="0">
                <a:latin typeface="Georgia" panose="02040502050405020303" pitchFamily="18" charset="0"/>
              </a:rPr>
              <a:t>Nur </a:t>
            </a:r>
            <a:r>
              <a:rPr lang="nl-NL" dirty="0">
                <a:latin typeface="Georgia" panose="02040502050405020303" pitchFamily="18" charset="0"/>
              </a:rPr>
              <a:t>[Emma] hält einen Vortrag über Fokuspartikeln.</a:t>
            </a:r>
          </a:p>
          <a:p>
            <a:endParaRPr lang="de-DE" i="1" dirty="0">
              <a:latin typeface="Georgia" panose="02040502050405020303" pitchFamily="18" charset="0"/>
            </a:endParaRPr>
          </a:p>
          <a:p>
            <a:endParaRPr lang="de-DE" i="1" dirty="0">
              <a:latin typeface="Georgia" panose="02040502050405020303" pitchFamily="18" charset="0"/>
            </a:endParaRPr>
          </a:p>
          <a:p>
            <a:endParaRPr lang="de-DE" i="1" dirty="0">
              <a:latin typeface="Georgia" panose="02040502050405020303" pitchFamily="18" charset="0"/>
            </a:endParaRP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3C225358-6075-766D-BA3B-1CDF89567931}"/>
              </a:ext>
            </a:extLst>
          </p:cNvPr>
          <p:cNvGraphicFramePr>
            <a:graphicFrameLocks noGrp="1"/>
          </p:cNvGraphicFramePr>
          <p:nvPr>
            <p:extLst>
              <p:ext uri="{D42A27DB-BD31-4B8C-83A1-F6EECF244321}">
                <p14:modId xmlns:p14="http://schemas.microsoft.com/office/powerpoint/2010/main" val="145178307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983655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b="1" dirty="0">
                <a:solidFill>
                  <a:schemeClr val="bg2">
                    <a:lumMod val="60000"/>
                    <a:lumOff val="40000"/>
                  </a:schemeClr>
                </a:solidFill>
                <a:latin typeface="Georgia" panose="02040502050405020303" pitchFamily="18" charset="0"/>
              </a:rPr>
              <a:t>Restriktive</a:t>
            </a:r>
            <a:r>
              <a:rPr lang="de-DE" dirty="0">
                <a:solidFill>
                  <a:schemeClr val="bg2">
                    <a:lumMod val="60000"/>
                    <a:lumOff val="40000"/>
                  </a:schemeClr>
                </a:solidFill>
                <a:latin typeface="Georgia" panose="02040502050405020303" pitchFamily="18" charset="0"/>
              </a:rPr>
              <a:t> Fokuspartikeln (</a:t>
            </a:r>
            <a:r>
              <a:rPr lang="de-DE" i="1" dirty="0">
                <a:solidFill>
                  <a:schemeClr val="bg2">
                    <a:lumMod val="60000"/>
                    <a:lumOff val="40000"/>
                  </a:schemeClr>
                </a:solidFill>
                <a:latin typeface="Georgia" panose="02040502050405020303" pitchFamily="18" charset="0"/>
              </a:rPr>
              <a:t>allein, nur </a:t>
            </a:r>
            <a:r>
              <a:rPr lang="de-DE" dirty="0">
                <a:solidFill>
                  <a:schemeClr val="bg2">
                    <a:lumMod val="60000"/>
                    <a:lumOff val="40000"/>
                  </a:schemeClr>
                </a:solidFill>
                <a:latin typeface="Georgia" panose="02040502050405020303" pitchFamily="18" charset="0"/>
              </a:rPr>
              <a:t>und </a:t>
            </a:r>
            <a:r>
              <a:rPr lang="de-DE" i="1" dirty="0">
                <a:solidFill>
                  <a:schemeClr val="bg2">
                    <a:lumMod val="60000"/>
                    <a:lumOff val="40000"/>
                  </a:schemeClr>
                </a:solidFill>
                <a:latin typeface="Georgia" panose="02040502050405020303" pitchFamily="18" charset="0"/>
              </a:rPr>
              <a:t>ausschließlich</a:t>
            </a:r>
            <a:r>
              <a:rPr lang="de-DE" dirty="0">
                <a:solidFill>
                  <a:schemeClr val="bg2">
                    <a:lumMod val="60000"/>
                    <a:lumOff val="40000"/>
                  </a:schemeClr>
                </a:solidFill>
                <a:latin typeface="Georgia" panose="02040502050405020303" pitchFamily="18" charset="0"/>
              </a:rPr>
              <a:t>):</a:t>
            </a:r>
          </a:p>
          <a:p>
            <a:endParaRPr lang="de-DE" dirty="0">
              <a:solidFill>
                <a:schemeClr val="bg2">
                  <a:lumMod val="60000"/>
                  <a:lumOff val="40000"/>
                </a:schemeClr>
              </a:solidFill>
              <a:latin typeface="Georgia" panose="02040502050405020303" pitchFamily="18" charset="0"/>
            </a:endParaRPr>
          </a:p>
          <a:p>
            <a:r>
              <a:rPr lang="nl-NL" i="1" dirty="0">
                <a:solidFill>
                  <a:schemeClr val="bg2">
                    <a:lumMod val="60000"/>
                    <a:lumOff val="40000"/>
                  </a:schemeClr>
                </a:solidFill>
                <a:latin typeface="Georgia" panose="02040502050405020303" pitchFamily="18" charset="0"/>
              </a:rPr>
              <a:t>Nur </a:t>
            </a:r>
            <a:r>
              <a:rPr lang="nl-NL" dirty="0">
                <a:solidFill>
                  <a:schemeClr val="bg2">
                    <a:lumMod val="60000"/>
                    <a:lumOff val="40000"/>
                  </a:schemeClr>
                </a:solidFill>
                <a:latin typeface="Georgia" panose="02040502050405020303" pitchFamily="18" charset="0"/>
              </a:rPr>
              <a:t>[Emma] hält einen Vortrag über Fokuspartikeln.</a:t>
            </a:r>
          </a:p>
          <a:p>
            <a:endParaRPr lang="de-DE" i="1" dirty="0">
              <a:latin typeface="Georgia" panose="02040502050405020303" pitchFamily="18" charset="0"/>
            </a:endParaRPr>
          </a:p>
          <a:p>
            <a:r>
              <a:rPr lang="de-DE" b="1" dirty="0">
                <a:latin typeface="Georgia" panose="02040502050405020303" pitchFamily="18" charset="0"/>
              </a:rPr>
              <a:t>Additive</a:t>
            </a:r>
            <a:r>
              <a:rPr lang="de-DE" dirty="0">
                <a:latin typeface="Georgia" panose="02040502050405020303" pitchFamily="18" charset="0"/>
              </a:rPr>
              <a:t> Fokuspartikeln (</a:t>
            </a:r>
            <a:r>
              <a:rPr lang="de-DE" i="1" dirty="0">
                <a:latin typeface="Georgia" panose="02040502050405020303" pitchFamily="18" charset="0"/>
              </a:rPr>
              <a:t>auch, ebenfalls</a:t>
            </a:r>
            <a:r>
              <a:rPr lang="de-DE" dirty="0">
                <a:latin typeface="Georgia" panose="02040502050405020303" pitchFamily="18" charset="0"/>
              </a:rPr>
              <a:t>):</a:t>
            </a:r>
          </a:p>
          <a:p>
            <a:pPr marL="777240" lvl="2" indent="0">
              <a:buNone/>
            </a:pPr>
            <a:r>
              <a:rPr lang="nl-NL" dirty="0">
                <a:latin typeface="Georgia" panose="02040502050405020303" pitchFamily="18" charset="0"/>
              </a:rPr>
              <a:t> </a:t>
            </a:r>
            <a:r>
              <a:rPr lang="nl-NL" dirty="0" smtClean="0">
                <a:latin typeface="Georgia" panose="02040502050405020303" pitchFamily="18" charset="0"/>
              </a:rPr>
              <a:t>    </a:t>
            </a:r>
            <a:endParaRPr lang="de-DE" sz="2200" i="1" dirty="0">
              <a:solidFill>
                <a:srgbClr val="05AB09"/>
              </a:solidFill>
              <a:latin typeface="Georgia" panose="02040502050405020303" pitchFamily="18" charset="0"/>
            </a:endParaRPr>
          </a:p>
          <a:p>
            <a:r>
              <a:rPr lang="nl-NL" i="1" dirty="0">
                <a:latin typeface="Georgia" panose="02040502050405020303" pitchFamily="18" charset="0"/>
              </a:rPr>
              <a:t>Auch </a:t>
            </a:r>
            <a:r>
              <a:rPr lang="nl-NL" dirty="0">
                <a:latin typeface="Georgia" panose="02040502050405020303" pitchFamily="18" charset="0"/>
              </a:rPr>
              <a:t>[Emma] hält einen Vortrag über Fokuspartikeln</a:t>
            </a:r>
            <a:r>
              <a:rPr lang="nl-NL" dirty="0" smtClean="0">
                <a:latin typeface="Georgia" panose="02040502050405020303" pitchFamily="18" charset="0"/>
              </a:rPr>
              <a:t>.</a:t>
            </a:r>
            <a:endParaRPr lang="de-DE" dirty="0">
              <a:solidFill>
                <a:srgbClr val="05AB09"/>
              </a:solidFill>
              <a:latin typeface="Georgia" panose="02040502050405020303" pitchFamily="18" charset="0"/>
            </a:endParaRPr>
          </a:p>
          <a:p>
            <a:endParaRPr lang="de-DE" i="1" dirty="0">
              <a:latin typeface="Georgia" panose="02040502050405020303" pitchFamily="18" charset="0"/>
            </a:endParaRP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3" name="Tabelle 4">
            <a:extLst>
              <a:ext uri="{FF2B5EF4-FFF2-40B4-BE49-F238E27FC236}">
                <a16:creationId xmlns="" xmlns:a16="http://schemas.microsoft.com/office/drawing/2014/main" id="{A4A12761-DE8D-04F3-9430-7338A0633742}"/>
              </a:ext>
            </a:extLst>
          </p:cNvPr>
          <p:cNvGraphicFramePr>
            <a:graphicFrameLocks noGrp="1"/>
          </p:cNvGraphicFramePr>
          <p:nvPr>
            <p:extLst>
              <p:ext uri="{D42A27DB-BD31-4B8C-83A1-F6EECF244321}">
                <p14:modId xmlns:p14="http://schemas.microsoft.com/office/powerpoint/2010/main" val="229669620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44076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Einführung</a:t>
            </a:r>
            <a:endParaRPr lang="nl-NL" dirty="0">
              <a:latin typeface="Georgia" panose="02040502050405020303" pitchFamily="18" charset="0"/>
            </a:endParaRPr>
          </a:p>
        </p:txBody>
      </p:sp>
      <p:sp>
        <p:nvSpPr>
          <p:cNvPr id="8" name="Content Placeholder 2">
            <a:extLst>
              <a:ext uri="{FF2B5EF4-FFF2-40B4-BE49-F238E27FC236}">
                <a16:creationId xmlns="" xmlns:a16="http://schemas.microsoft.com/office/drawing/2014/main" id="{2825FD2F-6484-741A-66B4-7EB0AA783294}"/>
              </a:ext>
            </a:extLst>
          </p:cNvPr>
          <p:cNvSpPr txBox="1">
            <a:spLocks/>
          </p:cNvSpPr>
          <p:nvPr/>
        </p:nvSpPr>
        <p:spPr>
          <a:xfrm>
            <a:off x="497837" y="2057400"/>
            <a:ext cx="76200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de-DE" b="1" dirty="0">
                <a:solidFill>
                  <a:schemeClr val="bg2">
                    <a:lumMod val="60000"/>
                    <a:lumOff val="40000"/>
                  </a:schemeClr>
                </a:solidFill>
                <a:latin typeface="Georgia" panose="02040502050405020303" pitchFamily="18" charset="0"/>
              </a:rPr>
              <a:t>Restriktive</a:t>
            </a:r>
            <a:r>
              <a:rPr lang="de-DE" dirty="0">
                <a:solidFill>
                  <a:schemeClr val="bg2">
                    <a:lumMod val="60000"/>
                    <a:lumOff val="40000"/>
                  </a:schemeClr>
                </a:solidFill>
                <a:latin typeface="Georgia" panose="02040502050405020303" pitchFamily="18" charset="0"/>
              </a:rPr>
              <a:t> Fokuspartikeln (</a:t>
            </a:r>
            <a:r>
              <a:rPr lang="de-DE" i="1" dirty="0">
                <a:solidFill>
                  <a:schemeClr val="bg2">
                    <a:lumMod val="60000"/>
                    <a:lumOff val="40000"/>
                  </a:schemeClr>
                </a:solidFill>
                <a:latin typeface="Georgia" panose="02040502050405020303" pitchFamily="18" charset="0"/>
              </a:rPr>
              <a:t>allein, nur </a:t>
            </a:r>
            <a:r>
              <a:rPr lang="de-DE" dirty="0">
                <a:solidFill>
                  <a:schemeClr val="bg2">
                    <a:lumMod val="60000"/>
                    <a:lumOff val="40000"/>
                  </a:schemeClr>
                </a:solidFill>
                <a:latin typeface="Georgia" panose="02040502050405020303" pitchFamily="18" charset="0"/>
              </a:rPr>
              <a:t>und </a:t>
            </a:r>
            <a:r>
              <a:rPr lang="de-DE" i="1" dirty="0">
                <a:solidFill>
                  <a:schemeClr val="bg2">
                    <a:lumMod val="60000"/>
                    <a:lumOff val="40000"/>
                  </a:schemeClr>
                </a:solidFill>
                <a:latin typeface="Georgia" panose="02040502050405020303" pitchFamily="18" charset="0"/>
              </a:rPr>
              <a:t>ausschließlich</a:t>
            </a:r>
            <a:r>
              <a:rPr lang="de-DE" dirty="0">
                <a:solidFill>
                  <a:schemeClr val="bg2">
                    <a:lumMod val="60000"/>
                    <a:lumOff val="40000"/>
                  </a:schemeClr>
                </a:solidFill>
                <a:latin typeface="Georgia" panose="02040502050405020303" pitchFamily="18" charset="0"/>
              </a:rPr>
              <a:t>):</a:t>
            </a:r>
          </a:p>
          <a:p>
            <a:endParaRPr lang="de-DE" dirty="0">
              <a:solidFill>
                <a:schemeClr val="bg2">
                  <a:lumMod val="60000"/>
                  <a:lumOff val="40000"/>
                </a:schemeClr>
              </a:solidFill>
              <a:latin typeface="Georgia" panose="02040502050405020303" pitchFamily="18" charset="0"/>
            </a:endParaRPr>
          </a:p>
          <a:p>
            <a:r>
              <a:rPr lang="nl-NL" i="1" dirty="0">
                <a:solidFill>
                  <a:schemeClr val="bg2">
                    <a:lumMod val="60000"/>
                    <a:lumOff val="40000"/>
                  </a:schemeClr>
                </a:solidFill>
                <a:latin typeface="Georgia" panose="02040502050405020303" pitchFamily="18" charset="0"/>
              </a:rPr>
              <a:t>Nur </a:t>
            </a:r>
            <a:r>
              <a:rPr lang="nl-NL" dirty="0">
                <a:solidFill>
                  <a:schemeClr val="bg2">
                    <a:lumMod val="60000"/>
                    <a:lumOff val="40000"/>
                  </a:schemeClr>
                </a:solidFill>
                <a:latin typeface="Georgia" panose="02040502050405020303" pitchFamily="18" charset="0"/>
              </a:rPr>
              <a:t>[Emma] hält einen Vortrag über Fokuspartikeln.</a:t>
            </a:r>
          </a:p>
          <a:p>
            <a:endParaRPr lang="de-DE" i="1" dirty="0">
              <a:latin typeface="Georgia" panose="02040502050405020303" pitchFamily="18" charset="0"/>
            </a:endParaRPr>
          </a:p>
          <a:p>
            <a:r>
              <a:rPr lang="de-DE" b="1" dirty="0">
                <a:latin typeface="Georgia" panose="02040502050405020303" pitchFamily="18" charset="0"/>
              </a:rPr>
              <a:t>Additive</a:t>
            </a:r>
            <a:r>
              <a:rPr lang="de-DE" dirty="0">
                <a:latin typeface="Georgia" panose="02040502050405020303" pitchFamily="18" charset="0"/>
              </a:rPr>
              <a:t> Fokuspartikeln (</a:t>
            </a:r>
            <a:r>
              <a:rPr lang="de-DE" i="1" dirty="0">
                <a:latin typeface="Georgia" panose="02040502050405020303" pitchFamily="18" charset="0"/>
              </a:rPr>
              <a:t>auch, ebenfalls</a:t>
            </a:r>
            <a:r>
              <a:rPr lang="de-DE" dirty="0">
                <a:latin typeface="Georgia" panose="02040502050405020303" pitchFamily="18" charset="0"/>
              </a:rPr>
              <a:t>):</a:t>
            </a:r>
          </a:p>
          <a:p>
            <a:pPr marL="777240" lvl="2" indent="0">
              <a:buNone/>
            </a:pPr>
            <a:r>
              <a:rPr lang="nl-NL" dirty="0">
                <a:latin typeface="Georgia" panose="02040502050405020303" pitchFamily="18" charset="0"/>
              </a:rPr>
              <a:t> </a:t>
            </a:r>
            <a:r>
              <a:rPr lang="nl-NL" dirty="0" smtClean="0">
                <a:latin typeface="Georgia" panose="02040502050405020303" pitchFamily="18" charset="0"/>
              </a:rPr>
              <a:t>    </a:t>
            </a:r>
            <a:r>
              <a:rPr lang="nl-NL" sz="2200" dirty="0" smtClean="0">
                <a:solidFill>
                  <a:srgbClr val="05AB09"/>
                </a:solidFill>
                <a:latin typeface="Georgia" panose="02040502050405020303" pitchFamily="18" charset="0"/>
              </a:rPr>
              <a:t>[Fabian]</a:t>
            </a:r>
            <a:endParaRPr lang="de-DE" sz="2200" i="1" dirty="0">
              <a:solidFill>
                <a:srgbClr val="05AB09"/>
              </a:solidFill>
              <a:latin typeface="Georgia" panose="02040502050405020303" pitchFamily="18" charset="0"/>
            </a:endParaRPr>
          </a:p>
          <a:p>
            <a:r>
              <a:rPr lang="nl-NL" i="1" dirty="0">
                <a:latin typeface="Georgia" panose="02040502050405020303" pitchFamily="18" charset="0"/>
              </a:rPr>
              <a:t>Auch </a:t>
            </a:r>
            <a:r>
              <a:rPr lang="nl-NL" dirty="0">
                <a:latin typeface="Georgia" panose="02040502050405020303" pitchFamily="18" charset="0"/>
              </a:rPr>
              <a:t>[Emma] hält einen Vortrag über Fokuspartikeln.</a:t>
            </a:r>
          </a:p>
          <a:p>
            <a:pPr marL="114300" indent="0">
              <a:buNone/>
            </a:pPr>
            <a:r>
              <a:rPr lang="de-DE" i="1" dirty="0">
                <a:latin typeface="Georgia" panose="02040502050405020303" pitchFamily="18" charset="0"/>
              </a:rPr>
              <a:t>	</a:t>
            </a:r>
            <a:r>
              <a:rPr lang="de-DE" i="1" dirty="0" smtClean="0">
                <a:latin typeface="Georgia" panose="02040502050405020303" pitchFamily="18" charset="0"/>
              </a:rPr>
              <a:t>  </a:t>
            </a:r>
            <a:r>
              <a:rPr lang="de-DE" dirty="0" smtClean="0">
                <a:solidFill>
                  <a:srgbClr val="05AB09"/>
                </a:solidFill>
                <a:latin typeface="Georgia" panose="02040502050405020303" pitchFamily="18" charset="0"/>
              </a:rPr>
              <a:t>[Britta]</a:t>
            </a:r>
            <a:endParaRPr lang="de-DE" dirty="0">
              <a:solidFill>
                <a:srgbClr val="05AB09"/>
              </a:solidFill>
              <a:latin typeface="Georgia" panose="02040502050405020303" pitchFamily="18" charset="0"/>
            </a:endParaRPr>
          </a:p>
          <a:p>
            <a:endParaRPr lang="de-DE" i="1" dirty="0">
              <a:latin typeface="Georgia" panose="02040502050405020303" pitchFamily="18" charset="0"/>
            </a:endParaRPr>
          </a:p>
          <a:p>
            <a:pPr marL="114300" indent="0">
              <a:buNone/>
            </a:pPr>
            <a:endParaRPr lang="de-DE" dirty="0">
              <a:latin typeface="Georgia" panose="02040502050405020303" pitchFamily="18" charset="0"/>
            </a:endParaRPr>
          </a:p>
          <a:p>
            <a:endParaRPr lang="nl-NL" dirty="0">
              <a:latin typeface="Georgia" panose="02040502050405020303" pitchFamily="18" charset="0"/>
            </a:endParaRPr>
          </a:p>
          <a:p>
            <a:pPr lvl="1"/>
            <a:endParaRPr lang="nl-NL" sz="1600" i="1"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3" name="Tabelle 4">
            <a:extLst>
              <a:ext uri="{FF2B5EF4-FFF2-40B4-BE49-F238E27FC236}">
                <a16:creationId xmlns="" xmlns:a16="http://schemas.microsoft.com/office/drawing/2014/main" id="{A4A12761-DE8D-04F3-9430-7338A0633742}"/>
              </a:ext>
            </a:extLst>
          </p:cNvPr>
          <p:cNvGraphicFramePr>
            <a:graphicFrameLocks noGrp="1"/>
          </p:cNvGraphicFramePr>
          <p:nvPr>
            <p:extLst>
              <p:ext uri="{D42A27DB-BD31-4B8C-83A1-F6EECF244321}">
                <p14:modId xmlns:p14="http://schemas.microsoft.com/office/powerpoint/2010/main" val="229669620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bg1"/>
                          </a:solidFill>
                        </a:rPr>
                        <a:t>Einführung</a:t>
                      </a:r>
                      <a:endParaRPr lang="de-DE" dirty="0">
                        <a:solidFill>
                          <a:schemeClr val="bg1"/>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720879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395536"/>
            <a:ext cx="7620000" cy="1368152"/>
          </a:xfrm>
        </p:spPr>
        <p:txBody>
          <a:bodyPr/>
          <a:lstStyle/>
          <a:p>
            <a:r>
              <a:rPr lang="en-US" dirty="0" err="1">
                <a:latin typeface="Georgia" panose="02040502050405020303" pitchFamily="18" charset="0"/>
              </a:rPr>
              <a:t>Warum</a:t>
            </a:r>
            <a:r>
              <a:rPr lang="en-US" dirty="0">
                <a:latin typeface="Georgia" panose="02040502050405020303" pitchFamily="18" charset="0"/>
              </a:rPr>
              <a:t> </a:t>
            </a:r>
            <a:r>
              <a:rPr lang="en-US" dirty="0" err="1">
                <a:latin typeface="Georgia" panose="02040502050405020303" pitchFamily="18" charset="0"/>
              </a:rPr>
              <a:t>dann</a:t>
            </a:r>
            <a:r>
              <a:rPr lang="en-US" dirty="0">
                <a:latin typeface="Georgia" panose="02040502050405020303" pitchFamily="18" charset="0"/>
              </a:rPr>
              <a:t> dieses Experiment?</a:t>
            </a:r>
            <a:endParaRPr lang="nl-NL" dirty="0">
              <a:latin typeface="Georgia" panose="02040502050405020303" pitchFamily="18" charset="0"/>
            </a:endParaRPr>
          </a:p>
        </p:txBody>
      </p:sp>
      <p:sp>
        <p:nvSpPr>
          <p:cNvPr id="6" name="Tijdelijke aanduiding voor inhoud 5"/>
          <p:cNvSpPr>
            <a:spLocks noGrp="1"/>
          </p:cNvSpPr>
          <p:nvPr>
            <p:ph idx="1"/>
          </p:nvPr>
        </p:nvSpPr>
        <p:spPr>
          <a:xfrm>
            <a:off x="513426" y="1960852"/>
            <a:ext cx="7344816" cy="2936296"/>
          </a:xfrm>
        </p:spPr>
        <p:txBody>
          <a:bodyPr>
            <a:noAutofit/>
          </a:bodyPr>
          <a:lstStyle/>
          <a:p>
            <a:r>
              <a:rPr lang="nl-NL" dirty="0">
                <a:latin typeface="Georgia" panose="02040502050405020303" pitchFamily="18" charset="0"/>
              </a:rPr>
              <a:t>“[...], daß es auch Fokuspartikeln gibt, </a:t>
            </a:r>
            <a:r>
              <a:rPr lang="nl-NL" b="1" dirty="0">
                <a:latin typeface="Georgia" panose="02040502050405020303" pitchFamily="18" charset="0"/>
              </a:rPr>
              <a:t>die sich nicht klar zu einer der beiden Gruppen zuordnen lassen.</a:t>
            </a:r>
            <a:r>
              <a:rPr lang="nl-NL" dirty="0">
                <a:latin typeface="Georgia" panose="02040502050405020303" pitchFamily="18" charset="0"/>
              </a:rPr>
              <a:t> Es sind die Partikeln wie z.B. </a:t>
            </a:r>
            <a:r>
              <a:rPr lang="nl-NL" i="1" dirty="0">
                <a:highlight>
                  <a:srgbClr val="FFFF00"/>
                </a:highlight>
                <a:latin typeface="Georgia" panose="02040502050405020303" pitchFamily="18" charset="0"/>
              </a:rPr>
              <a:t>eben, genau, gerade</a:t>
            </a:r>
            <a:r>
              <a:rPr lang="nl-NL" i="1" dirty="0">
                <a:latin typeface="Georgia" panose="02040502050405020303" pitchFamily="18" charset="0"/>
              </a:rPr>
              <a:t>, </a:t>
            </a:r>
            <a:r>
              <a:rPr lang="nl-NL" dirty="0">
                <a:latin typeface="Georgia" panose="02040502050405020303" pitchFamily="18" charset="0"/>
              </a:rPr>
              <a:t>deren Funktion nicht darin besteht, relevante Alternativen für die Besetzung der Variablen in der Satzfunktion ein- oder auszuschließen [...].” </a:t>
            </a:r>
          </a:p>
          <a:p>
            <a:pPr marL="114300" indent="0">
              <a:buNone/>
            </a:pPr>
            <a:r>
              <a:rPr lang="nl-NL" dirty="0">
                <a:latin typeface="Georgia" panose="02040502050405020303" pitchFamily="18" charset="0"/>
              </a:rPr>
              <a:t>					Dimroth 2004: 25</a:t>
            </a:r>
          </a:p>
          <a:p>
            <a:endParaRPr lang="nl-NL" dirty="0">
              <a:latin typeface="Georgia" panose="02040502050405020303" pitchFamily="18" charset="0"/>
            </a:endParaRPr>
          </a:p>
          <a:p>
            <a:endParaRPr lang="nl-NL" dirty="0">
              <a:latin typeface="Georgia" panose="02040502050405020303" pitchFamily="18" charset="0"/>
            </a:endParaRPr>
          </a:p>
          <a:p>
            <a:pPr marL="114300" indent="0">
              <a:buNone/>
            </a:pPr>
            <a:r>
              <a:rPr lang="nl-NL" dirty="0">
                <a:latin typeface="Georgia" panose="02040502050405020303" pitchFamily="18" charset="0"/>
              </a:rPr>
              <a:t>	</a:t>
            </a:r>
          </a:p>
          <a:p>
            <a:pPr lvl="3"/>
            <a:endParaRPr lang="de-DE"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72935B22-852D-A8A6-555D-49897E7A28E6}"/>
              </a:ext>
            </a:extLst>
          </p:cNvPr>
          <p:cNvGraphicFramePr>
            <a:graphicFrameLocks noGrp="1"/>
          </p:cNvGraphicFramePr>
          <p:nvPr>
            <p:extLst>
              <p:ext uri="{D42A27DB-BD31-4B8C-83A1-F6EECF244321}">
                <p14:modId xmlns:p14="http://schemas.microsoft.com/office/powerpoint/2010/main" val="352191628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3541477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750E78B4-E46A-6286-22F4-4D86E09F4710}"/>
              </a:ext>
            </a:extLst>
          </p:cNvPr>
          <p:cNvSpPr>
            <a:spLocks noGrp="1"/>
          </p:cNvSpPr>
          <p:nvPr>
            <p:ph type="title"/>
          </p:nvPr>
        </p:nvSpPr>
        <p:spPr/>
        <p:txBody>
          <a:bodyPr/>
          <a:lstStyle/>
          <a:p>
            <a:endParaRPr lang="de-DE"/>
          </a:p>
        </p:txBody>
      </p:sp>
      <p:pic>
        <p:nvPicPr>
          <p:cNvPr id="5" name="Inhaltsplatzhalter 4" descr="Ein Bild, das Text enthält.&#10;&#10;Automatisch generierte Beschreibung">
            <a:extLst>
              <a:ext uri="{FF2B5EF4-FFF2-40B4-BE49-F238E27FC236}">
                <a16:creationId xmlns="" xmlns:a16="http://schemas.microsoft.com/office/drawing/2014/main" id="{78448E9B-CFD3-8C82-296B-B3A7D964AF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265000"/>
            <a:ext cx="6397768" cy="4051920"/>
          </a:xfrm>
        </p:spPr>
      </p:pic>
    </p:spTree>
    <p:extLst>
      <p:ext uri="{BB962C8B-B14F-4D97-AF65-F5344CB8AC3E}">
        <p14:creationId xmlns:p14="http://schemas.microsoft.com/office/powerpoint/2010/main" val="3437144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750E78B4-E46A-6286-22F4-4D86E09F4710}"/>
              </a:ext>
            </a:extLst>
          </p:cNvPr>
          <p:cNvSpPr>
            <a:spLocks noGrp="1"/>
          </p:cNvSpPr>
          <p:nvPr>
            <p:ph type="title"/>
          </p:nvPr>
        </p:nvSpPr>
        <p:spPr/>
        <p:txBody>
          <a:bodyPr/>
          <a:lstStyle/>
          <a:p>
            <a:endParaRPr lang="de-DE"/>
          </a:p>
        </p:txBody>
      </p:sp>
      <p:pic>
        <p:nvPicPr>
          <p:cNvPr id="5" name="Inhaltsplatzhalter 4" descr="Ein Bild, das Text enthält.&#10;&#10;Automatisch generierte Beschreibung">
            <a:extLst>
              <a:ext uri="{FF2B5EF4-FFF2-40B4-BE49-F238E27FC236}">
                <a16:creationId xmlns="" xmlns:a16="http://schemas.microsoft.com/office/drawing/2014/main" id="{78448E9B-CFD3-8C82-296B-B3A7D964AFF2}"/>
              </a:ext>
            </a:extLst>
          </p:cNvPr>
          <p:cNvPicPr>
            <a:picLocks noGrp="1" noChangeAspect="1"/>
          </p:cNvPicPr>
          <p:nvPr>
            <p:ph idx="1"/>
          </p:nvPr>
        </p:nvPicPr>
        <p:blipFill>
          <a:blip r:embed="rId2">
            <a:alphaModFix amt="50000"/>
            <a:extLst>
              <a:ext uri="{28A0092B-C50C-407E-A947-70E740481C1C}">
                <a14:useLocalDpi xmlns:a14="http://schemas.microsoft.com/office/drawing/2010/main" val="0"/>
              </a:ext>
            </a:extLst>
          </a:blip>
          <a:stretch>
            <a:fillRect/>
          </a:stretch>
        </p:blipFill>
        <p:spPr>
          <a:xfrm>
            <a:off x="395536" y="265000"/>
            <a:ext cx="6397768" cy="4051920"/>
          </a:xfrm>
        </p:spPr>
      </p:pic>
      <p:pic>
        <p:nvPicPr>
          <p:cNvPr id="4" name="Grafik 3" descr="Ein Bild, das Text enthält.&#10;&#10;Automatisch generierte Beschreibung">
            <a:extLst>
              <a:ext uri="{FF2B5EF4-FFF2-40B4-BE49-F238E27FC236}">
                <a16:creationId xmlns="" xmlns:a16="http://schemas.microsoft.com/office/drawing/2014/main" id="{15C20085-3943-2566-378C-F9381C719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021" y="1421167"/>
            <a:ext cx="7722443" cy="5162195"/>
          </a:xfrm>
          <a:prstGeom prst="rect">
            <a:avLst/>
          </a:prstGeom>
        </p:spPr>
      </p:pic>
    </p:spTree>
    <p:extLst>
      <p:ext uri="{BB962C8B-B14F-4D97-AF65-F5344CB8AC3E}">
        <p14:creationId xmlns:p14="http://schemas.microsoft.com/office/powerpoint/2010/main" val="2442473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476672"/>
            <a:ext cx="7620000" cy="1143000"/>
          </a:xfrm>
        </p:spPr>
        <p:txBody>
          <a:bodyPr/>
          <a:lstStyle/>
          <a:p>
            <a:r>
              <a:rPr lang="en-US" dirty="0" err="1">
                <a:latin typeface="Georgia" panose="02040502050405020303" pitchFamily="18" charset="0"/>
              </a:rPr>
              <a:t>Vorschlag</a:t>
            </a:r>
            <a:r>
              <a:rPr lang="en-US" dirty="0">
                <a:latin typeface="Georgia" panose="02040502050405020303" pitchFamily="18" charset="0"/>
              </a:rPr>
              <a:t> für </a:t>
            </a:r>
            <a:r>
              <a:rPr lang="en-US" dirty="0" err="1">
                <a:latin typeface="Georgia" panose="02040502050405020303" pitchFamily="18" charset="0"/>
              </a:rPr>
              <a:t>einen</a:t>
            </a:r>
            <a:r>
              <a:rPr lang="en-US" dirty="0">
                <a:latin typeface="Georgia" panose="02040502050405020303" pitchFamily="18" charset="0"/>
              </a:rPr>
              <a:t> </a:t>
            </a:r>
            <a:r>
              <a:rPr lang="en-US" dirty="0" err="1">
                <a:latin typeface="Georgia" panose="02040502050405020303" pitchFamily="18" charset="0"/>
              </a:rPr>
              <a:t>Namen</a:t>
            </a:r>
            <a:r>
              <a:rPr lang="en-US" dirty="0">
                <a:latin typeface="Georgia" panose="02040502050405020303" pitchFamily="18" charset="0"/>
              </a:rPr>
              <a:t>:</a:t>
            </a:r>
            <a:endParaRPr lang="nl-NL" dirty="0">
              <a:latin typeface="Georgia" panose="02040502050405020303" pitchFamily="18" charset="0"/>
            </a:endParaRPr>
          </a:p>
        </p:txBody>
      </p:sp>
      <p:sp>
        <p:nvSpPr>
          <p:cNvPr id="6" name="Tijdelijke aanduiding voor inhoud 5"/>
          <p:cNvSpPr>
            <a:spLocks noGrp="1"/>
          </p:cNvSpPr>
          <p:nvPr>
            <p:ph idx="1"/>
          </p:nvPr>
        </p:nvSpPr>
        <p:spPr>
          <a:xfrm>
            <a:off x="635429" y="2564904"/>
            <a:ext cx="7344816" cy="1368152"/>
          </a:xfrm>
        </p:spPr>
        <p:txBody>
          <a:bodyPr>
            <a:noAutofit/>
          </a:bodyPr>
          <a:lstStyle/>
          <a:p>
            <a:r>
              <a:rPr lang="de-DE" b="1" dirty="0">
                <a:latin typeface="Georgia" panose="02040502050405020303" pitchFamily="18" charset="0"/>
              </a:rPr>
              <a:t>Erwartungswidrige Fokuspartikeln </a:t>
            </a:r>
            <a:r>
              <a:rPr lang="de-DE" dirty="0">
                <a:latin typeface="Georgia" panose="02040502050405020303" pitchFamily="18" charset="0"/>
              </a:rPr>
              <a:t>(</a:t>
            </a:r>
            <a:r>
              <a:rPr lang="de-DE" i="1" dirty="0">
                <a:latin typeface="Georgia" panose="02040502050405020303" pitchFamily="18" charset="0"/>
              </a:rPr>
              <a:t>ausgerechnet, genau, gerade </a:t>
            </a:r>
            <a:r>
              <a:rPr lang="de-DE" dirty="0">
                <a:latin typeface="Georgia" panose="02040502050405020303" pitchFamily="18" charset="0"/>
              </a:rPr>
              <a:t>&amp; </a:t>
            </a:r>
            <a:r>
              <a:rPr lang="de-DE" i="1" dirty="0">
                <a:latin typeface="Georgia" panose="02040502050405020303" pitchFamily="18" charset="0"/>
              </a:rPr>
              <a:t>eben</a:t>
            </a:r>
            <a:r>
              <a:rPr lang="de-DE" dirty="0">
                <a:latin typeface="Georgia" panose="02040502050405020303" pitchFamily="18" charset="0"/>
              </a:rPr>
              <a:t>).</a:t>
            </a:r>
            <a:endParaRPr lang="de-DE" i="1" dirty="0">
              <a:latin typeface="Georgia" panose="02040502050405020303" pitchFamily="18" charset="0"/>
            </a:endParaRPr>
          </a:p>
          <a:p>
            <a:endParaRPr lang="en-US" sz="2800" dirty="0">
              <a:latin typeface="Georgia" pitchFamily="18" charset="0"/>
            </a:endParaRPr>
          </a:p>
        </p:txBody>
      </p:sp>
      <p:graphicFrame>
        <p:nvGraphicFramePr>
          <p:cNvPr id="4" name="Tabelle 4">
            <a:extLst>
              <a:ext uri="{FF2B5EF4-FFF2-40B4-BE49-F238E27FC236}">
                <a16:creationId xmlns="" xmlns:a16="http://schemas.microsoft.com/office/drawing/2014/main" id="{D676B6BF-061A-E432-EECA-8A1B1D85028E}"/>
              </a:ext>
            </a:extLst>
          </p:cNvPr>
          <p:cNvGraphicFramePr>
            <a:graphicFrameLocks noGrp="1"/>
          </p:cNvGraphicFramePr>
          <p:nvPr>
            <p:extLst>
              <p:ext uri="{D42A27DB-BD31-4B8C-83A1-F6EECF244321}">
                <p14:modId xmlns:p14="http://schemas.microsoft.com/office/powerpoint/2010/main" val="805422786"/>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4005500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476672"/>
            <a:ext cx="7620000" cy="1143000"/>
          </a:xfrm>
        </p:spPr>
        <p:txBody>
          <a:bodyPr/>
          <a:lstStyle/>
          <a:p>
            <a:r>
              <a:rPr lang="en-US" dirty="0" err="1">
                <a:latin typeface="Georgia" panose="02040502050405020303" pitchFamily="18" charset="0"/>
              </a:rPr>
              <a:t>Vorschlag</a:t>
            </a:r>
            <a:r>
              <a:rPr lang="en-US" dirty="0">
                <a:latin typeface="Georgia" panose="02040502050405020303" pitchFamily="18" charset="0"/>
              </a:rPr>
              <a:t> für </a:t>
            </a:r>
            <a:r>
              <a:rPr lang="en-US" dirty="0" err="1">
                <a:latin typeface="Georgia" panose="02040502050405020303" pitchFamily="18" charset="0"/>
              </a:rPr>
              <a:t>einen</a:t>
            </a:r>
            <a:r>
              <a:rPr lang="en-US" dirty="0">
                <a:latin typeface="Georgia" panose="02040502050405020303" pitchFamily="18" charset="0"/>
              </a:rPr>
              <a:t> </a:t>
            </a:r>
            <a:r>
              <a:rPr lang="en-US" dirty="0" err="1">
                <a:latin typeface="Georgia" panose="02040502050405020303" pitchFamily="18" charset="0"/>
              </a:rPr>
              <a:t>Namen</a:t>
            </a:r>
            <a:r>
              <a:rPr lang="en-US" dirty="0">
                <a:latin typeface="Georgia" panose="02040502050405020303" pitchFamily="18" charset="0"/>
              </a:rPr>
              <a:t>:</a:t>
            </a:r>
            <a:endParaRPr lang="nl-NL" dirty="0">
              <a:latin typeface="Georgia" panose="02040502050405020303" pitchFamily="18" charset="0"/>
            </a:endParaRPr>
          </a:p>
        </p:txBody>
      </p:sp>
      <p:sp>
        <p:nvSpPr>
          <p:cNvPr id="6" name="Tijdelijke aanduiding voor inhoud 5"/>
          <p:cNvSpPr>
            <a:spLocks noGrp="1"/>
          </p:cNvSpPr>
          <p:nvPr>
            <p:ph idx="1"/>
          </p:nvPr>
        </p:nvSpPr>
        <p:spPr>
          <a:xfrm>
            <a:off x="635429" y="2564904"/>
            <a:ext cx="7344816" cy="1368152"/>
          </a:xfrm>
        </p:spPr>
        <p:txBody>
          <a:bodyPr>
            <a:noAutofit/>
          </a:bodyPr>
          <a:lstStyle/>
          <a:p>
            <a:r>
              <a:rPr lang="de-DE" b="1" dirty="0">
                <a:latin typeface="Georgia" panose="02040502050405020303" pitchFamily="18" charset="0"/>
              </a:rPr>
              <a:t>Erwartungswidrige Fokuspartikeln </a:t>
            </a:r>
            <a:r>
              <a:rPr lang="de-DE" dirty="0">
                <a:latin typeface="Georgia" panose="02040502050405020303" pitchFamily="18" charset="0"/>
              </a:rPr>
              <a:t>(</a:t>
            </a:r>
            <a:r>
              <a:rPr lang="de-DE" i="1" dirty="0">
                <a:latin typeface="Georgia" panose="02040502050405020303" pitchFamily="18" charset="0"/>
              </a:rPr>
              <a:t>ausgerechnet, genau, gerade </a:t>
            </a:r>
            <a:r>
              <a:rPr lang="de-DE" dirty="0">
                <a:latin typeface="Georgia" panose="02040502050405020303" pitchFamily="18" charset="0"/>
              </a:rPr>
              <a:t>&amp; </a:t>
            </a:r>
            <a:r>
              <a:rPr lang="de-DE" i="1" dirty="0">
                <a:latin typeface="Georgia" panose="02040502050405020303" pitchFamily="18" charset="0"/>
              </a:rPr>
              <a:t>eben</a:t>
            </a:r>
            <a:r>
              <a:rPr lang="de-DE" dirty="0">
                <a:latin typeface="Georgia" panose="02040502050405020303" pitchFamily="18" charset="0"/>
              </a:rPr>
              <a:t>).</a:t>
            </a:r>
            <a:endParaRPr lang="de-DE" i="1" dirty="0">
              <a:latin typeface="Georgia" panose="02040502050405020303" pitchFamily="18" charset="0"/>
            </a:endParaRPr>
          </a:p>
          <a:p>
            <a:endParaRPr lang="en-US" sz="2800" dirty="0">
              <a:latin typeface="Georgia" pitchFamily="18" charset="0"/>
            </a:endParaRPr>
          </a:p>
        </p:txBody>
      </p:sp>
      <p:sp>
        <p:nvSpPr>
          <p:cNvPr id="4" name="Textfeld 3">
            <a:extLst>
              <a:ext uri="{FF2B5EF4-FFF2-40B4-BE49-F238E27FC236}">
                <a16:creationId xmlns="" xmlns:a16="http://schemas.microsoft.com/office/drawing/2014/main" id="{F9CEBE87-9DF9-892C-560B-DCFBF3FAAA32}"/>
              </a:ext>
            </a:extLst>
          </p:cNvPr>
          <p:cNvSpPr txBox="1"/>
          <p:nvPr/>
        </p:nvSpPr>
        <p:spPr>
          <a:xfrm>
            <a:off x="2021837" y="4365104"/>
            <a:ext cx="4572000" cy="1477328"/>
          </a:xfrm>
          <a:prstGeom prst="rect">
            <a:avLst/>
          </a:prstGeom>
          <a:noFill/>
        </p:spPr>
        <p:txBody>
          <a:bodyPr wrap="square">
            <a:spAutoFit/>
          </a:bodyPr>
          <a:lstStyle/>
          <a:p>
            <a:r>
              <a:rPr lang="de-DE" sz="1800" i="1" dirty="0">
                <a:latin typeface="Georgia" panose="02040502050405020303" pitchFamily="18" charset="0"/>
              </a:rPr>
              <a:t>„Die erwartungswidrigen Fokuspartikeln heben die </a:t>
            </a:r>
            <a:r>
              <a:rPr lang="de-DE" sz="1800" b="1" i="1" dirty="0">
                <a:latin typeface="Georgia" panose="02040502050405020303" pitchFamily="18" charset="0"/>
              </a:rPr>
              <a:t>Unwahrscheinlichkeit des Bezugsausdrucks </a:t>
            </a:r>
            <a:r>
              <a:rPr lang="de-DE" sz="1800" i="1" dirty="0">
                <a:latin typeface="Georgia" panose="02040502050405020303" pitchFamily="18" charset="0"/>
              </a:rPr>
              <a:t>in Relation zu allen möglichen Alternativen hervor, indem er als (sehr) unerwartet bestimmt wird.“ </a:t>
            </a:r>
            <a:endParaRPr lang="en-US" sz="2400" dirty="0">
              <a:latin typeface="Georgia" pitchFamily="18" charset="0"/>
            </a:endParaRPr>
          </a:p>
        </p:txBody>
      </p:sp>
      <p:sp>
        <p:nvSpPr>
          <p:cNvPr id="5" name="Pfeil: nach unten 4">
            <a:extLst>
              <a:ext uri="{FF2B5EF4-FFF2-40B4-BE49-F238E27FC236}">
                <a16:creationId xmlns="" xmlns:a16="http://schemas.microsoft.com/office/drawing/2014/main" id="{14988FC9-63DD-6106-4275-FE655532A918}"/>
              </a:ext>
            </a:extLst>
          </p:cNvPr>
          <p:cNvSpPr/>
          <p:nvPr/>
        </p:nvSpPr>
        <p:spPr>
          <a:xfrm>
            <a:off x="3995936" y="3429000"/>
            <a:ext cx="144016"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7" name="Tabelle 4">
            <a:extLst>
              <a:ext uri="{FF2B5EF4-FFF2-40B4-BE49-F238E27FC236}">
                <a16:creationId xmlns="" xmlns:a16="http://schemas.microsoft.com/office/drawing/2014/main" id="{FA27428F-230F-7783-5376-A7862789E487}"/>
              </a:ext>
            </a:extLst>
          </p:cNvPr>
          <p:cNvGraphicFramePr>
            <a:graphicFrameLocks noGrp="1"/>
          </p:cNvGraphicFramePr>
          <p:nvPr>
            <p:extLst>
              <p:ext uri="{D42A27DB-BD31-4B8C-83A1-F6EECF244321}">
                <p14:modId xmlns:p14="http://schemas.microsoft.com/office/powerpoint/2010/main" val="644378867"/>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128634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Vorangehensweise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75005" y="1763688"/>
            <a:ext cx="7620000" cy="4800600"/>
          </a:xfrm>
        </p:spPr>
        <p:txBody>
          <a:bodyPr>
            <a:normAutofit/>
          </a:bodyPr>
          <a:lstStyle/>
          <a:p>
            <a:pPr marL="114300" indent="0">
              <a:buNone/>
            </a:pPr>
            <a:endParaRPr lang="nl-NL" dirty="0">
              <a:latin typeface="Georgia" panose="02040502050405020303" pitchFamily="18" charset="0"/>
            </a:endParaRPr>
          </a:p>
          <a:p>
            <a:r>
              <a:rPr lang="nl-NL" dirty="0">
                <a:latin typeface="Georgia" panose="02040502050405020303" pitchFamily="18" charset="0"/>
              </a:rPr>
              <a:t>Pre-Test </a:t>
            </a:r>
            <a:r>
              <a:rPr lang="nl-NL" dirty="0" smtClean="0">
                <a:latin typeface="Georgia" panose="02040502050405020303" pitchFamily="18" charset="0"/>
              </a:rPr>
              <a:t>(</a:t>
            </a:r>
            <a:r>
              <a:rPr lang="nl-NL" dirty="0">
                <a:latin typeface="Georgia" panose="02040502050405020303" pitchFamily="18" charset="0"/>
              </a:rPr>
              <a:t>36 Items)</a:t>
            </a:r>
          </a:p>
          <a:p>
            <a:endParaRPr lang="nl-NL" dirty="0">
              <a:latin typeface="Georgia" panose="02040502050405020303" pitchFamily="18" charset="0"/>
            </a:endParaRPr>
          </a:p>
          <a:p>
            <a:r>
              <a:rPr lang="nl-NL" dirty="0">
                <a:highlight>
                  <a:srgbClr val="FFFF00"/>
                </a:highlight>
                <a:latin typeface="Georgia" panose="02040502050405020303" pitchFamily="18" charset="0"/>
              </a:rPr>
              <a:t>Auswahlexperiment </a:t>
            </a:r>
          </a:p>
          <a:p>
            <a:endParaRPr lang="nl-NL" dirty="0">
              <a:latin typeface="Georgia" panose="02040502050405020303" pitchFamily="18" charset="0"/>
            </a:endParaRPr>
          </a:p>
          <a:p>
            <a:endParaRPr lang="nl-NL" dirty="0">
              <a:latin typeface="Georgia" panose="02040502050405020303" pitchFamily="18" charset="0"/>
            </a:endParaRPr>
          </a:p>
        </p:txBody>
      </p:sp>
      <p:graphicFrame>
        <p:nvGraphicFramePr>
          <p:cNvPr id="4" name="Tabelle 4">
            <a:extLst>
              <a:ext uri="{FF2B5EF4-FFF2-40B4-BE49-F238E27FC236}">
                <a16:creationId xmlns="" xmlns:a16="http://schemas.microsoft.com/office/drawing/2014/main" id="{5D12CD8B-42C8-2DB2-4B8D-4AEC23DD07FF}"/>
              </a:ext>
            </a:extLst>
          </p:cNvPr>
          <p:cNvGraphicFramePr>
            <a:graphicFrameLocks noGrp="1"/>
          </p:cNvGraphicFramePr>
          <p:nvPr>
            <p:extLst>
              <p:ext uri="{D42A27DB-BD31-4B8C-83A1-F6EECF244321}">
                <p14:modId xmlns:p14="http://schemas.microsoft.com/office/powerpoint/2010/main" val="3695226463"/>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bg1"/>
                          </a:solidFill>
                        </a:rPr>
                        <a:t>Vorschlag</a:t>
                      </a:r>
                      <a:endParaRPr lang="de-DE" dirty="0">
                        <a:solidFill>
                          <a:schemeClr val="bg1"/>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1573574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r>
              <a:rPr lang="en-US" dirty="0">
                <a:latin typeface="Georgia" panose="02040502050405020303" pitchFamily="18" charset="0"/>
              </a:rPr>
              <a:t> </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4800600"/>
          </a:xfrm>
        </p:spPr>
        <p:txBody>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p:txBody>
      </p:sp>
      <p:pic>
        <p:nvPicPr>
          <p:cNvPr id="4" name="Grafik 3">
            <a:extLst>
              <a:ext uri="{FF2B5EF4-FFF2-40B4-BE49-F238E27FC236}">
                <a16:creationId xmlns=""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 xmlns:a16="http://schemas.microsoft.com/office/drawing/2014/main" id="{C4F3D194-59E7-CBA1-3A20-2D9AA4FBE041}"/>
              </a:ext>
            </a:extLst>
          </p:cNvPr>
          <p:cNvGraphicFramePr>
            <a:graphicFrameLocks noGrp="1"/>
          </p:cNvGraphicFramePr>
          <p:nvPr>
            <p:extLst>
              <p:ext uri="{D42A27DB-BD31-4B8C-83A1-F6EECF244321}">
                <p14:modId xmlns:p14="http://schemas.microsoft.com/office/powerpoint/2010/main" val="1003010774"/>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85944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r>
              <a:rPr lang="en-US" dirty="0">
                <a:latin typeface="Georgia" panose="02040502050405020303" pitchFamily="18" charset="0"/>
              </a:rPr>
              <a:t> </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4800600"/>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a:t>
            </a:r>
            <a:r>
              <a:rPr lang="nl-NL" dirty="0">
                <a:solidFill>
                  <a:srgbClr val="00B050"/>
                </a:solidFill>
                <a:latin typeface="Georgia" panose="02040502050405020303" pitchFamily="18" charset="0"/>
              </a:rPr>
              <a:t>OH</a:t>
            </a:r>
            <a:r>
              <a:rPr lang="nl-NL" dirty="0">
                <a:latin typeface="Georgia" panose="02040502050405020303" pitchFamily="18" charset="0"/>
              </a:rPr>
              <a:t>/</a:t>
            </a:r>
            <a:r>
              <a:rPr lang="nl-NL" dirty="0">
                <a:solidFill>
                  <a:srgbClr val="7030A0"/>
                </a:solidFill>
                <a:latin typeface="Georgia" panose="02040502050405020303" pitchFamily="18" charset="0"/>
              </a:rPr>
              <a:t>RA</a:t>
            </a:r>
            <a:r>
              <a:rPr lang="nl-NL" dirty="0">
                <a:latin typeface="Georgia" panose="02040502050405020303" pitchFamily="18" charset="0"/>
              </a:rPr>
              <a:t>/</a:t>
            </a:r>
            <a:r>
              <a:rPr lang="nl-NL" dirty="0">
                <a:solidFill>
                  <a:srgbClr val="FF0000"/>
                </a:solidFill>
                <a:latin typeface="Georgia" panose="02040502050405020303" pitchFamily="18" charset="0"/>
              </a:rPr>
              <a:t>EW</a:t>
            </a:r>
            <a:r>
              <a:rPr lang="nl-NL" dirty="0">
                <a:latin typeface="Georgia" panose="02040502050405020303" pitchFamily="18" charset="0"/>
              </a:rPr>
              <a:t>)</a:t>
            </a: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marL="411480" lvl="1" indent="0">
              <a:buNone/>
            </a:pPr>
            <a:endParaRPr lang="nl-NL" dirty="0">
              <a:latin typeface="Georgia" panose="02040502050405020303" pitchFamily="18" charset="0"/>
            </a:endParaRPr>
          </a:p>
          <a:p>
            <a:pPr lvl="1"/>
            <a:r>
              <a:rPr lang="nl-NL" dirty="0">
                <a:solidFill>
                  <a:srgbClr val="00B050"/>
                </a:solidFill>
                <a:latin typeface="Georgia" panose="02040502050405020303" pitchFamily="18" charset="0"/>
              </a:rPr>
              <a:t>Peter </a:t>
            </a:r>
            <a:r>
              <a:rPr lang="nl-NL" dirty="0">
                <a:latin typeface="Georgia" panose="02040502050405020303" pitchFamily="18" charset="0"/>
              </a:rPr>
              <a:t>/ </a:t>
            </a:r>
            <a:r>
              <a:rPr lang="nl-NL" i="1" dirty="0">
                <a:solidFill>
                  <a:srgbClr val="7030A0"/>
                </a:solidFill>
                <a:latin typeface="Georgia" panose="02040502050405020303" pitchFamily="18" charset="0"/>
              </a:rPr>
              <a:t>nur </a:t>
            </a:r>
            <a:r>
              <a:rPr lang="nl-NL" dirty="0">
                <a:solidFill>
                  <a:srgbClr val="7030A0"/>
                </a:solidFill>
                <a:latin typeface="Georgia" panose="02040502050405020303" pitchFamily="18" charset="0"/>
              </a:rPr>
              <a:t>Peter </a:t>
            </a:r>
            <a:r>
              <a:rPr lang="nl-NL" dirty="0">
                <a:latin typeface="Georgia" panose="02040502050405020303" pitchFamily="18" charset="0"/>
              </a:rPr>
              <a:t>/ </a:t>
            </a:r>
            <a:r>
              <a:rPr lang="nl-NL" i="1" dirty="0">
                <a:solidFill>
                  <a:srgbClr val="FF0000"/>
                </a:solidFill>
                <a:latin typeface="Georgia" panose="02040502050405020303" pitchFamily="18" charset="0"/>
              </a:rPr>
              <a:t>ausgerechnet </a:t>
            </a:r>
            <a:r>
              <a:rPr lang="nl-NL" dirty="0">
                <a:solidFill>
                  <a:srgbClr val="FF0000"/>
                </a:solidFill>
                <a:latin typeface="Georgia" panose="02040502050405020303" pitchFamily="18" charset="0"/>
              </a:rPr>
              <a:t>Peter.....</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p:txBody>
      </p:sp>
      <p:pic>
        <p:nvPicPr>
          <p:cNvPr id="4" name="Grafik 3">
            <a:extLst>
              <a:ext uri="{FF2B5EF4-FFF2-40B4-BE49-F238E27FC236}">
                <a16:creationId xmlns=""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3" name="Tabelle 4">
            <a:extLst>
              <a:ext uri="{FF2B5EF4-FFF2-40B4-BE49-F238E27FC236}">
                <a16:creationId xmlns="" xmlns:a16="http://schemas.microsoft.com/office/drawing/2014/main" id="{77F75BD7-627F-B3B7-6E6B-309C398289AC}"/>
              </a:ext>
            </a:extLst>
          </p:cNvPr>
          <p:cNvGraphicFramePr>
            <a:graphicFrameLocks noGrp="1"/>
          </p:cNvGraphicFramePr>
          <p:nvPr>
            <p:extLst>
              <p:ext uri="{D42A27DB-BD31-4B8C-83A1-F6EECF244321}">
                <p14:modId xmlns:p14="http://schemas.microsoft.com/office/powerpoint/2010/main" val="2403592160"/>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1606055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a:t>
            </a:r>
            <a:r>
              <a:rPr lang="nl-NL" dirty="0">
                <a:solidFill>
                  <a:srgbClr val="00B050"/>
                </a:solidFill>
                <a:latin typeface="Georgia" panose="02040502050405020303" pitchFamily="18" charset="0"/>
              </a:rPr>
              <a:t>OH</a:t>
            </a:r>
            <a:r>
              <a:rPr lang="nl-NL" dirty="0">
                <a:latin typeface="Georgia" panose="02040502050405020303" pitchFamily="18" charset="0"/>
              </a:rPr>
              <a:t>/</a:t>
            </a:r>
            <a:r>
              <a:rPr lang="nl-NL" dirty="0">
                <a:solidFill>
                  <a:srgbClr val="7030A0"/>
                </a:solidFill>
                <a:latin typeface="Georgia" panose="02040502050405020303" pitchFamily="18" charset="0"/>
              </a:rPr>
              <a:t>RA</a:t>
            </a:r>
            <a:r>
              <a:rPr lang="nl-NL" dirty="0">
                <a:latin typeface="Georgia" panose="02040502050405020303" pitchFamily="18" charset="0"/>
              </a:rPr>
              <a:t>/EW)</a:t>
            </a:r>
          </a:p>
          <a:p>
            <a:pPr lvl="1"/>
            <a:r>
              <a:rPr lang="nl-NL" dirty="0">
                <a:solidFill>
                  <a:srgbClr val="00B050"/>
                </a:solidFill>
                <a:latin typeface="Georgia" panose="02040502050405020303" pitchFamily="18" charset="0"/>
              </a:rPr>
              <a:t>Ohne Partikel</a:t>
            </a:r>
            <a:r>
              <a:rPr lang="nl-NL" dirty="0">
                <a:latin typeface="Georgia" panose="02040502050405020303" pitchFamily="18" charset="0"/>
              </a:rPr>
              <a:t>/ </a:t>
            </a:r>
            <a:r>
              <a:rPr lang="nl-NL" dirty="0">
                <a:solidFill>
                  <a:srgbClr val="7030A0"/>
                </a:solidFill>
                <a:latin typeface="Georgia" panose="02040502050405020303" pitchFamily="18" charset="0"/>
              </a:rPr>
              <a:t>mit RA Partikel</a:t>
            </a: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r>
              <a:rPr lang="nl-NL" dirty="0">
                <a:latin typeface="Georgia" panose="02040502050405020303" pitchFamily="18" charset="0"/>
              </a:rPr>
              <a:t>Die Erwartung bei </a:t>
            </a:r>
            <a:r>
              <a:rPr lang="nl-NL" dirty="0">
                <a:solidFill>
                  <a:srgbClr val="00B050"/>
                </a:solidFill>
                <a:latin typeface="Georgia" panose="02040502050405020303" pitchFamily="18" charset="0"/>
              </a:rPr>
              <a:t>bei</a:t>
            </a:r>
            <a:r>
              <a:rPr lang="nl-NL" dirty="0">
                <a:solidFill>
                  <a:srgbClr val="7030A0"/>
                </a:solidFill>
                <a:latin typeface="Georgia" panose="02040502050405020303" pitchFamily="18" charset="0"/>
              </a:rPr>
              <a:t>den</a:t>
            </a:r>
            <a:r>
              <a:rPr lang="nl-NL" dirty="0">
                <a:latin typeface="Georgia" panose="02040502050405020303" pitchFamily="18" charset="0"/>
              </a:rPr>
              <a:t> ist ähnlich, weil RA </a:t>
            </a:r>
            <a:r>
              <a:rPr lang="nl-NL" dirty="0" smtClean="0">
                <a:latin typeface="Georgia" panose="02040502050405020303" pitchFamily="18" charset="0"/>
              </a:rPr>
              <a:t>nur </a:t>
            </a:r>
            <a:r>
              <a:rPr lang="nl-NL" dirty="0">
                <a:latin typeface="Georgia" panose="02040502050405020303" pitchFamily="18" charset="0"/>
              </a:rPr>
              <a:t>ein- oder ausschließt. Die Erwartung des Kontextes wird vermutlich fortgesetzt: “</a:t>
            </a:r>
            <a:r>
              <a:rPr lang="nl-NL" dirty="0">
                <a:solidFill>
                  <a:srgbClr val="00B050"/>
                </a:solidFill>
                <a:latin typeface="Georgia" panose="02040502050405020303" pitchFamily="18" charset="0"/>
              </a:rPr>
              <a:t>hat nicht </a:t>
            </a:r>
            <a:r>
              <a:rPr lang="nl-NL" dirty="0">
                <a:solidFill>
                  <a:srgbClr val="7030A0"/>
                </a:solidFill>
                <a:latin typeface="Georgia" panose="02040502050405020303" pitchFamily="18" charset="0"/>
              </a:rPr>
              <a:t>bestanden</a:t>
            </a:r>
            <a:r>
              <a:rPr lang="nl-NL" dirty="0">
                <a:latin typeface="Georgia" panose="02040502050405020303" pitchFamily="18" charset="0"/>
              </a:rPr>
              <a:t>” o.ä.</a:t>
            </a:r>
          </a:p>
        </p:txBody>
      </p:sp>
      <p:pic>
        <p:nvPicPr>
          <p:cNvPr id="4" name="Grafik 3">
            <a:extLst>
              <a:ext uri="{FF2B5EF4-FFF2-40B4-BE49-F238E27FC236}">
                <a16:creationId xmlns=""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 xmlns:a16="http://schemas.microsoft.com/office/drawing/2014/main" id="{FAC12F5E-E2BF-A1CC-E73D-7B1825C9015C}"/>
              </a:ext>
            </a:extLst>
          </p:cNvPr>
          <p:cNvGraphicFramePr>
            <a:graphicFrameLocks noGrp="1"/>
          </p:cNvGraphicFramePr>
          <p:nvPr>
            <p:extLst>
              <p:ext uri="{D42A27DB-BD31-4B8C-83A1-F6EECF244321}">
                <p14:modId xmlns:p14="http://schemas.microsoft.com/office/powerpoint/2010/main" val="2629047963"/>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10191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lvl="1"/>
            <a:r>
              <a:rPr lang="nl-NL" dirty="0">
                <a:solidFill>
                  <a:srgbClr val="FF0000"/>
                </a:solidFill>
                <a:latin typeface="Georgia" panose="02040502050405020303" pitchFamily="18" charset="0"/>
              </a:rPr>
              <a:t>mit Partikel; EW</a:t>
            </a: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r>
              <a:rPr lang="de-DE" dirty="0">
                <a:solidFill>
                  <a:srgbClr val="FF0000"/>
                </a:solidFill>
                <a:latin typeface="Georgia" panose="02040502050405020303" pitchFamily="18" charset="0"/>
              </a:rPr>
              <a:t>Die Erwartung dabei ist, dass der Proband die </a:t>
            </a:r>
            <a:r>
              <a:rPr lang="de-DE" dirty="0" smtClean="0">
                <a:solidFill>
                  <a:srgbClr val="FF0000"/>
                </a:solidFill>
                <a:latin typeface="Georgia" panose="02040502050405020303" pitchFamily="18" charset="0"/>
              </a:rPr>
              <a:t>‚Richtung </a:t>
            </a:r>
            <a:r>
              <a:rPr lang="de-DE" dirty="0">
                <a:solidFill>
                  <a:srgbClr val="FF0000"/>
                </a:solidFill>
                <a:latin typeface="Georgia" panose="02040502050405020303" pitchFamily="18" charset="0"/>
              </a:rPr>
              <a:t>der </a:t>
            </a:r>
            <a:r>
              <a:rPr lang="de-DE" dirty="0" smtClean="0">
                <a:solidFill>
                  <a:srgbClr val="FF0000"/>
                </a:solidFill>
                <a:latin typeface="Georgia" panose="02040502050405020303" pitchFamily="18" charset="0"/>
              </a:rPr>
              <a:t>Erwartung‘, </a:t>
            </a:r>
            <a:r>
              <a:rPr lang="de-DE" dirty="0">
                <a:solidFill>
                  <a:srgbClr val="FF0000"/>
                </a:solidFill>
                <a:latin typeface="Georgia" panose="02040502050405020303" pitchFamily="18" charset="0"/>
              </a:rPr>
              <a:t>die durch den Kontext ursprünglich gegeben wurde, durchbricht und eine andere Richtung einschlägt.</a:t>
            </a:r>
          </a:p>
          <a:p>
            <a:pPr marL="1051560" lvl="3" indent="0">
              <a:buNone/>
            </a:pPr>
            <a:endParaRPr lang="de-DE" dirty="0">
              <a:solidFill>
                <a:srgbClr val="FF0000"/>
              </a:solidFill>
              <a:latin typeface="Georgia" panose="02040502050405020303" pitchFamily="18" charset="0"/>
            </a:endParaRPr>
          </a:p>
        </p:txBody>
      </p:sp>
      <p:pic>
        <p:nvPicPr>
          <p:cNvPr id="4" name="Grafik 3">
            <a:extLst>
              <a:ext uri="{FF2B5EF4-FFF2-40B4-BE49-F238E27FC236}">
                <a16:creationId xmlns=""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aphicFrame>
        <p:nvGraphicFramePr>
          <p:cNvPr id="5" name="Tabelle 4">
            <a:extLst>
              <a:ext uri="{FF2B5EF4-FFF2-40B4-BE49-F238E27FC236}">
                <a16:creationId xmlns="" xmlns:a16="http://schemas.microsoft.com/office/drawing/2014/main" id="{D709F6C8-8B16-4131-CB10-4C3076ED7F23}"/>
              </a:ext>
            </a:extLst>
          </p:cNvPr>
          <p:cNvGraphicFramePr>
            <a:graphicFrameLocks noGrp="1"/>
          </p:cNvGraphicFramePr>
          <p:nvPr>
            <p:extLst>
              <p:ext uri="{D42A27DB-BD31-4B8C-83A1-F6EECF244321}">
                <p14:modId xmlns:p14="http://schemas.microsoft.com/office/powerpoint/2010/main" val="343117546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19444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Hypothese</a:t>
            </a:r>
            <a:endParaRPr lang="nl-NL" dirty="0">
              <a:latin typeface="Georgia" panose="02040502050405020303" pitchFamily="18" charset="0"/>
            </a:endParaRPr>
          </a:p>
        </p:txBody>
      </p:sp>
      <p:sp>
        <p:nvSpPr>
          <p:cNvPr id="10" name="Tijdelijke aanduiding voor inhoud 8"/>
          <p:cNvSpPr>
            <a:spLocks noGrp="1"/>
          </p:cNvSpPr>
          <p:nvPr>
            <p:ph idx="1"/>
          </p:nvPr>
        </p:nvSpPr>
        <p:spPr>
          <a:xfrm>
            <a:off x="457200" y="1600200"/>
            <a:ext cx="7620000" cy="5357192"/>
          </a:xfrm>
        </p:spPr>
        <p:txBody>
          <a:bodyPr>
            <a:normAutofit/>
          </a:bodyPr>
          <a:lstStyle/>
          <a:p>
            <a:endParaRPr lang="nl-NL" dirty="0">
              <a:latin typeface="Georgia" panose="02040502050405020303" pitchFamily="18" charset="0"/>
            </a:endParaRPr>
          </a:p>
          <a:p>
            <a:r>
              <a:rPr lang="nl-NL" dirty="0">
                <a:latin typeface="Georgia" panose="02040502050405020303" pitchFamily="18" charset="0"/>
              </a:rPr>
              <a:t>6 Bedingungen: 2 Kontexte x 3 Partikeln (OH/RA/EW)</a:t>
            </a:r>
          </a:p>
          <a:p>
            <a:pPr lvl="1"/>
            <a:r>
              <a:rPr lang="nl-NL" dirty="0">
                <a:solidFill>
                  <a:srgbClr val="FF0000"/>
                </a:solidFill>
                <a:latin typeface="Georgia" panose="02040502050405020303" pitchFamily="18" charset="0"/>
              </a:rPr>
              <a:t>mit Partikel; EW</a:t>
            </a:r>
          </a:p>
          <a:p>
            <a:pPr marL="411480" lvl="1" indent="0">
              <a:buNone/>
            </a:pPr>
            <a:endParaRPr lang="nl-NL" dirty="0">
              <a:latin typeface="Georgia" panose="02040502050405020303" pitchFamily="18" charset="0"/>
            </a:endParaRPr>
          </a:p>
          <a:p>
            <a:pPr lvl="1"/>
            <a:endParaRPr lang="nl-NL" dirty="0">
              <a:latin typeface="Georgia" panose="02040502050405020303" pitchFamily="18" charset="0"/>
            </a:endParaRPr>
          </a:p>
          <a:p>
            <a:r>
              <a:rPr lang="nl-NL" dirty="0">
                <a:latin typeface="Georgia" panose="02040502050405020303" pitchFamily="18" charset="0"/>
              </a:rPr>
              <a:t> </a:t>
            </a:r>
          </a:p>
          <a:p>
            <a:endParaRPr lang="nl-NL" dirty="0">
              <a:latin typeface="Georgia" panose="02040502050405020303" pitchFamily="18" charset="0"/>
            </a:endParaRPr>
          </a:p>
          <a:p>
            <a:endParaRPr lang="nl-NL" dirty="0">
              <a:latin typeface="Georgia" panose="02040502050405020303" pitchFamily="18" charset="0"/>
            </a:endParaRPr>
          </a:p>
          <a:p>
            <a:r>
              <a:rPr lang="de-DE" dirty="0">
                <a:solidFill>
                  <a:srgbClr val="FF0000"/>
                </a:solidFill>
                <a:latin typeface="Georgia" panose="02040502050405020303" pitchFamily="18" charset="0"/>
              </a:rPr>
              <a:t>Die Erwartung dabei ist, dass der Proband die </a:t>
            </a:r>
            <a:r>
              <a:rPr lang="de-DE" dirty="0" smtClean="0">
                <a:solidFill>
                  <a:srgbClr val="FF0000"/>
                </a:solidFill>
                <a:latin typeface="Georgia" panose="02040502050405020303" pitchFamily="18" charset="0"/>
              </a:rPr>
              <a:t>‚Richtung </a:t>
            </a:r>
            <a:r>
              <a:rPr lang="de-DE" dirty="0">
                <a:solidFill>
                  <a:srgbClr val="FF0000"/>
                </a:solidFill>
                <a:latin typeface="Georgia" panose="02040502050405020303" pitchFamily="18" charset="0"/>
              </a:rPr>
              <a:t>der </a:t>
            </a:r>
            <a:r>
              <a:rPr lang="de-DE" dirty="0" smtClean="0">
                <a:solidFill>
                  <a:srgbClr val="FF0000"/>
                </a:solidFill>
                <a:latin typeface="Georgia" panose="02040502050405020303" pitchFamily="18" charset="0"/>
              </a:rPr>
              <a:t>Erwartung‘, </a:t>
            </a:r>
            <a:r>
              <a:rPr lang="de-DE" dirty="0">
                <a:solidFill>
                  <a:srgbClr val="FF0000"/>
                </a:solidFill>
                <a:latin typeface="Georgia" panose="02040502050405020303" pitchFamily="18" charset="0"/>
              </a:rPr>
              <a:t>die durch den Kontext ursprünglich gegeben wurde, durchbricht und eine andere Richtung einschlägt.</a:t>
            </a:r>
          </a:p>
          <a:p>
            <a:pPr lvl="3"/>
            <a:r>
              <a:rPr lang="de-DE" b="1" dirty="0">
                <a:effectLst/>
                <a:latin typeface="Georgia" panose="02040502050405020303" pitchFamily="18" charset="0"/>
                <a:ea typeface="Calibri" panose="020F0502020204030204" pitchFamily="34" charset="0"/>
                <a:cs typeface="Times New Roman" panose="02020603050405020304" pitchFamily="18" charset="0"/>
              </a:rPr>
              <a:t>Die unwahrscheinlichste Variante zum </a:t>
            </a:r>
            <a:r>
              <a:rPr lang="de-DE" b="1" dirty="0">
                <a:latin typeface="Georgia" panose="02040502050405020303" pitchFamily="18" charset="0"/>
                <a:ea typeface="Calibri" panose="020F0502020204030204" pitchFamily="34" charset="0"/>
                <a:cs typeface="Times New Roman" panose="02020603050405020304" pitchFamily="18" charset="0"/>
              </a:rPr>
              <a:t>Bezugsausdruck wird sofort </a:t>
            </a:r>
            <a:r>
              <a:rPr lang="de-DE" b="1" dirty="0">
                <a:effectLst/>
                <a:latin typeface="Georgia" panose="02040502050405020303" pitchFamily="18" charset="0"/>
                <a:ea typeface="Calibri" panose="020F0502020204030204" pitchFamily="34" charset="0"/>
                <a:cs typeface="Times New Roman" panose="02020603050405020304" pitchFamily="18" charset="0"/>
              </a:rPr>
              <a:t>zu dem wahrscheinlichsten Auskunft.</a:t>
            </a:r>
            <a:r>
              <a:rPr lang="de-DE" b="1" dirty="0">
                <a:latin typeface="Georgia" panose="02040502050405020303" pitchFamily="18" charset="0"/>
              </a:rPr>
              <a:t> </a:t>
            </a:r>
            <a:br>
              <a:rPr lang="de-DE" b="1" dirty="0">
                <a:latin typeface="Georgia" panose="02040502050405020303" pitchFamily="18" charset="0"/>
              </a:rPr>
            </a:br>
            <a:r>
              <a:rPr lang="de-DE" b="1" dirty="0">
                <a:latin typeface="Georgia" panose="02040502050405020303" pitchFamily="18" charset="0"/>
              </a:rPr>
              <a:t>z.B. „hatte die beste Note“</a:t>
            </a:r>
            <a:endParaRPr lang="nl-NL" b="1" dirty="0">
              <a:latin typeface="Georgia" panose="02040502050405020303" pitchFamily="18" charset="0"/>
            </a:endParaRPr>
          </a:p>
          <a:p>
            <a:pPr lvl="3"/>
            <a:endParaRPr lang="de-DE" dirty="0">
              <a:solidFill>
                <a:srgbClr val="FF0000"/>
              </a:solidFill>
              <a:latin typeface="Georgia" panose="02040502050405020303" pitchFamily="18" charset="0"/>
            </a:endParaRPr>
          </a:p>
        </p:txBody>
      </p:sp>
      <p:pic>
        <p:nvPicPr>
          <p:cNvPr id="4" name="Grafik 3">
            <a:extLst>
              <a:ext uri="{FF2B5EF4-FFF2-40B4-BE49-F238E27FC236}">
                <a16:creationId xmlns="" xmlns:a16="http://schemas.microsoft.com/office/drawing/2014/main" id="{7C9779FC-8516-53C0-5DAC-F4D39FA38462}"/>
              </a:ext>
            </a:extLst>
          </p:cNvPr>
          <p:cNvPicPr>
            <a:picLocks noChangeAspect="1"/>
          </p:cNvPicPr>
          <p:nvPr/>
        </p:nvPicPr>
        <p:blipFill>
          <a:blip r:embed="rId3"/>
          <a:stretch>
            <a:fillRect/>
          </a:stretch>
        </p:blipFill>
        <p:spPr>
          <a:xfrm>
            <a:off x="251520" y="2996952"/>
            <a:ext cx="7516274" cy="15718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Pfeil: nach rechts 2">
            <a:extLst>
              <a:ext uri="{FF2B5EF4-FFF2-40B4-BE49-F238E27FC236}">
                <a16:creationId xmlns="" xmlns:a16="http://schemas.microsoft.com/office/drawing/2014/main" id="{89A4A8EC-891A-AB7F-FE62-3EAAE0131772}"/>
              </a:ext>
            </a:extLst>
          </p:cNvPr>
          <p:cNvSpPr/>
          <p:nvPr/>
        </p:nvSpPr>
        <p:spPr>
          <a:xfrm>
            <a:off x="683568" y="6237312"/>
            <a:ext cx="720080"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5" name="Tabelle 4">
            <a:extLst>
              <a:ext uri="{FF2B5EF4-FFF2-40B4-BE49-F238E27FC236}">
                <a16:creationId xmlns="" xmlns:a16="http://schemas.microsoft.com/office/drawing/2014/main" id="{224E6B48-A9E1-D2A9-C19B-A5803121523C}"/>
              </a:ext>
            </a:extLst>
          </p:cNvPr>
          <p:cNvGraphicFramePr>
            <a:graphicFrameLocks noGrp="1"/>
          </p:cNvGraphicFramePr>
          <p:nvPr>
            <p:extLst>
              <p:ext uri="{D42A27DB-BD31-4B8C-83A1-F6EECF244321}">
                <p14:modId xmlns:p14="http://schemas.microsoft.com/office/powerpoint/2010/main" val="1907551031"/>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bg1"/>
                          </a:solidFill>
                        </a:rPr>
                        <a:t>Hypothese</a:t>
                      </a:r>
                      <a:endParaRPr lang="de-DE" dirty="0">
                        <a:solidFill>
                          <a:schemeClr val="bg1"/>
                        </a:solidFill>
                      </a:endParaRPr>
                    </a:p>
                  </a:txBody>
                  <a:tcPr/>
                </a:tc>
                <a:tc>
                  <a:txBody>
                    <a:bodyPr/>
                    <a:lstStyle/>
                    <a:p>
                      <a:r>
                        <a:rPr lang="nl-NL" dirty="0">
                          <a:solidFill>
                            <a:schemeClr val="tx1">
                              <a:lumMod val="75000"/>
                              <a:lumOff val="25000"/>
                            </a:schemeClr>
                          </a:solidFill>
                        </a:rPr>
                        <a:t>Experimente</a:t>
                      </a:r>
                      <a:endParaRPr lang="de-DE" dirty="0">
                        <a:solidFill>
                          <a:schemeClr val="tx1">
                            <a:lumMod val="75000"/>
                            <a:lumOff val="25000"/>
                          </a:schemeClr>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59432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837" y="620688"/>
            <a:ext cx="7620000" cy="1143000"/>
          </a:xfrm>
        </p:spPr>
        <p:txBody>
          <a:bodyPr/>
          <a:lstStyle/>
          <a:p>
            <a:r>
              <a:rPr lang="en-US" dirty="0" err="1">
                <a:latin typeface="Georgia" panose="02040502050405020303" pitchFamily="18" charset="0"/>
              </a:rPr>
              <a:t>Auswahlexperiment</a:t>
            </a:r>
            <a:endParaRPr lang="nl-NL" dirty="0">
              <a:latin typeface="Georgia" panose="02040502050405020303" pitchFamily="18" charset="0"/>
            </a:endParaRPr>
          </a:p>
        </p:txBody>
      </p:sp>
      <p:sp>
        <p:nvSpPr>
          <p:cNvPr id="5" name="Tijdelijke aanduiding voor inhoud 4"/>
          <p:cNvSpPr>
            <a:spLocks noGrp="1"/>
          </p:cNvSpPr>
          <p:nvPr>
            <p:ph idx="1"/>
          </p:nvPr>
        </p:nvSpPr>
        <p:spPr>
          <a:xfrm>
            <a:off x="107504" y="1340768"/>
            <a:ext cx="7620000" cy="4800600"/>
          </a:xfrm>
        </p:spPr>
        <p:txBody>
          <a:bodyPr>
            <a:normAutofit/>
          </a:bodyPr>
          <a:lstStyle/>
          <a:p>
            <a:endParaRPr lang="nl-NL" dirty="0">
              <a:solidFill>
                <a:schemeClr val="tx1">
                  <a:lumMod val="90000"/>
                  <a:lumOff val="10000"/>
                </a:schemeClr>
              </a:solidFill>
              <a:latin typeface="Georgia" panose="02040502050405020303" pitchFamily="18" charset="0"/>
            </a:endParaRPr>
          </a:p>
          <a:p>
            <a:pPr marL="0" lvl="0" indent="0">
              <a:lnSpc>
                <a:spcPct val="107000"/>
              </a:lnSpc>
              <a:spcAft>
                <a:spcPts val="800"/>
              </a:spcAft>
              <a:buNone/>
            </a:pPr>
            <a:r>
              <a:rPr lang="de-DE" sz="1800" dirty="0">
                <a:solidFill>
                  <a:srgbClr val="FF0000"/>
                </a:solidFill>
                <a:effectLst/>
                <a:latin typeface="Georgia" panose="02040502050405020303" pitchFamily="18" charset="0"/>
                <a:ea typeface="Times New Roman" panose="02020603050405020304" pitchFamily="18" charset="0"/>
                <a:cs typeface="Calibri" panose="020F0502020204030204" pitchFamily="34" charset="0"/>
              </a:rPr>
              <a:t>       (H) 	</a:t>
            </a:r>
            <a:r>
              <a:rPr lang="de-DE" sz="1800" dirty="0">
                <a:effectLst/>
                <a:latin typeface="Georgia" panose="02040502050405020303" pitchFamily="18" charset="0"/>
                <a:ea typeface="Times New Roman" panose="02020603050405020304" pitchFamily="18" charset="0"/>
                <a:cs typeface="Calibri" panose="020F0502020204030204" pitchFamily="34" charset="0"/>
              </a:rPr>
              <a:t>Peter ist nicht gut in der Schule. Besonders Mathe fällt ihm 	schwer. Trotz ständiger Nachhilfe kommt er nicht mit den 	anderen 	mit. Letzte Woche haben die Schüler eine			Matheprüfung geschrieben.  In der heutigen Stunde wurden die	Prüfungen dann endlich zurückgegeben. </a:t>
            </a:r>
            <a:r>
              <a:rPr lang="de-DE" sz="1800" dirty="0">
                <a:solidFill>
                  <a:srgbClr val="70AD47"/>
                </a:solidFill>
                <a:effectLst/>
                <a:latin typeface="Georgia" panose="02040502050405020303" pitchFamily="18" charset="0"/>
                <a:ea typeface="Times New Roman" panose="02020603050405020304" pitchFamily="18" charset="0"/>
                <a:cs typeface="Calibri" panose="020F0502020204030204" pitchFamily="34" charset="0"/>
              </a:rPr>
              <a:t>  </a:t>
            </a:r>
          </a:p>
          <a:p>
            <a:pPr marL="0" lvl="0" indent="0">
              <a:lnSpc>
                <a:spcPct val="107000"/>
              </a:lnSpc>
              <a:spcAft>
                <a:spcPts val="800"/>
              </a:spcAft>
              <a:buNone/>
            </a:pPr>
            <a:r>
              <a:rPr lang="de-DE" sz="1800" dirty="0">
                <a:solidFill>
                  <a:srgbClr val="70AD47"/>
                </a:solidFill>
                <a:effectLst/>
                <a:latin typeface="Georgia" panose="02040502050405020303" pitchFamily="18" charset="0"/>
                <a:ea typeface="Times New Roman" panose="02020603050405020304" pitchFamily="18" charset="0"/>
                <a:cs typeface="Calibri" panose="020F0502020204030204" pitchFamily="34" charset="0"/>
              </a:rPr>
              <a:t>       (M) </a:t>
            </a:r>
            <a:r>
              <a:rPr lang="de-DE" sz="1800" dirty="0">
                <a:effectLst/>
                <a:latin typeface="Georgia" panose="02040502050405020303" pitchFamily="18" charset="0"/>
                <a:ea typeface="Times New Roman" panose="02020603050405020304" pitchFamily="18" charset="0"/>
                <a:cs typeface="Calibri" panose="020F0502020204030204" pitchFamily="34" charset="0"/>
              </a:rPr>
              <a:t>Peter ist in der 8. Klasse. Seit letzter Woche ist die Aufregung 	unter den Schülern groß, weil sie eine Matheprüfung 	geschrieben und seither gespannt auf die Ergebnisse gewartet 	haben. In der heutigen Stunde wurden die Prüfungen dann 	endlich zurückgegeben. </a:t>
            </a:r>
            <a:endParaRPr lang="de-DE"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228600" indent="0">
              <a:lnSpc>
                <a:spcPct val="107000"/>
              </a:lnSpc>
              <a:buNone/>
            </a:pPr>
            <a:r>
              <a:rPr lang="de-DE" sz="1800" i="1" dirty="0">
                <a:effectLst/>
                <a:latin typeface="Georgia" panose="02040502050405020303" pitchFamily="18" charset="0"/>
                <a:ea typeface="Times New Roman" panose="02020603050405020304" pitchFamily="18" charset="0"/>
                <a:cs typeface="Calibri" panose="020F0502020204030204" pitchFamily="34" charset="0"/>
              </a:rPr>
              <a:t>	</a:t>
            </a:r>
            <a:r>
              <a:rPr lang="nl-NL" dirty="0">
                <a:solidFill>
                  <a:srgbClr val="00B050"/>
                </a:solidFill>
                <a:latin typeface="Georgia" panose="02040502050405020303" pitchFamily="18" charset="0"/>
              </a:rPr>
              <a:t>Peter </a:t>
            </a:r>
            <a:r>
              <a:rPr lang="nl-NL" dirty="0">
                <a:latin typeface="Georgia" panose="02040502050405020303" pitchFamily="18" charset="0"/>
              </a:rPr>
              <a:t>/ </a:t>
            </a:r>
            <a:r>
              <a:rPr lang="nl-NL" i="1" dirty="0">
                <a:solidFill>
                  <a:srgbClr val="7030A0"/>
                </a:solidFill>
                <a:latin typeface="Georgia" panose="02040502050405020303" pitchFamily="18" charset="0"/>
              </a:rPr>
              <a:t>nur </a:t>
            </a:r>
            <a:r>
              <a:rPr lang="nl-NL" dirty="0">
                <a:solidFill>
                  <a:srgbClr val="7030A0"/>
                </a:solidFill>
                <a:latin typeface="Georgia" panose="02040502050405020303" pitchFamily="18" charset="0"/>
              </a:rPr>
              <a:t>Peter </a:t>
            </a:r>
            <a:r>
              <a:rPr lang="nl-NL" dirty="0">
                <a:latin typeface="Georgia" panose="02040502050405020303" pitchFamily="18" charset="0"/>
              </a:rPr>
              <a:t>/ </a:t>
            </a:r>
            <a:r>
              <a:rPr lang="nl-NL" i="1" dirty="0">
                <a:solidFill>
                  <a:srgbClr val="FF0000"/>
                </a:solidFill>
                <a:latin typeface="Georgia" panose="02040502050405020303" pitchFamily="18" charset="0"/>
              </a:rPr>
              <a:t>ausgerechnet </a:t>
            </a:r>
            <a:r>
              <a:rPr lang="nl-NL" dirty="0">
                <a:solidFill>
                  <a:srgbClr val="FF0000"/>
                </a:solidFill>
                <a:latin typeface="Georgia" panose="02040502050405020303" pitchFamily="18" charset="0"/>
              </a:rPr>
              <a:t>Peter....</a:t>
            </a:r>
          </a:p>
          <a:p>
            <a:pPr marL="228600" indent="0">
              <a:lnSpc>
                <a:spcPct val="107000"/>
              </a:lnSpc>
              <a:buNone/>
            </a:pPr>
            <a:endParaRPr lang="nl-NL" dirty="0">
              <a:solidFill>
                <a:srgbClr val="FF0000"/>
              </a:solidFill>
              <a:latin typeface="Georgia" panose="02040502050405020303" pitchFamily="18" charset="0"/>
            </a:endParaRPr>
          </a:p>
          <a:p>
            <a:pPr marL="228600" indent="0">
              <a:lnSpc>
                <a:spcPct val="107000"/>
              </a:lnSpc>
              <a:buNone/>
            </a:pPr>
            <a:endParaRPr lang="nl-NL" dirty="0">
              <a:latin typeface="Georgia" panose="02040502050405020303" pitchFamily="18" charset="0"/>
            </a:endParaRPr>
          </a:p>
          <a:p>
            <a:endParaRPr lang="nl-NL" dirty="0">
              <a:solidFill>
                <a:schemeClr val="tx1">
                  <a:lumMod val="50000"/>
                  <a:lumOff val="50000"/>
                </a:schemeClr>
              </a:solidFill>
              <a:latin typeface="Georgia" pitchFamily="18" charset="0"/>
            </a:endParaRPr>
          </a:p>
          <a:p>
            <a:endParaRPr lang="nl-NL" dirty="0">
              <a:solidFill>
                <a:schemeClr val="tx1">
                  <a:lumMod val="50000"/>
                  <a:lumOff val="50000"/>
                </a:schemeClr>
              </a:solidFill>
              <a:latin typeface="Georgia" pitchFamily="18" charset="0"/>
            </a:endParaRPr>
          </a:p>
          <a:p>
            <a:endParaRPr lang="nl-NL" dirty="0">
              <a:solidFill>
                <a:schemeClr val="tx1">
                  <a:lumMod val="50000"/>
                  <a:lumOff val="50000"/>
                </a:schemeClr>
              </a:solidFill>
              <a:latin typeface="Georgia" pitchFamily="18" charset="0"/>
            </a:endParaRPr>
          </a:p>
          <a:p>
            <a:endParaRPr lang="nl-NL" dirty="0">
              <a:latin typeface="Georgia" panose="02040502050405020303" pitchFamily="18" charset="0"/>
            </a:endParaRPr>
          </a:p>
          <a:p>
            <a:endParaRPr lang="nl-NL" dirty="0">
              <a:latin typeface="Georgia" panose="02040502050405020303" pitchFamily="18" charset="0"/>
            </a:endParaRPr>
          </a:p>
          <a:p>
            <a:endParaRPr lang="en-US" dirty="0">
              <a:latin typeface="Georgia" panose="02040502050405020303" pitchFamily="18" charset="0"/>
            </a:endParaRPr>
          </a:p>
        </p:txBody>
      </p:sp>
      <p:graphicFrame>
        <p:nvGraphicFramePr>
          <p:cNvPr id="6" name="Tabelle 4">
            <a:extLst>
              <a:ext uri="{FF2B5EF4-FFF2-40B4-BE49-F238E27FC236}">
                <a16:creationId xmlns="" xmlns:a16="http://schemas.microsoft.com/office/drawing/2014/main" id="{BF31150C-3EE8-E0DF-AD14-7B8BD145872B}"/>
              </a:ext>
            </a:extLst>
          </p:cNvPr>
          <p:cNvGraphicFramePr>
            <a:graphicFrameLocks noGrp="1"/>
          </p:cNvGraphicFramePr>
          <p:nvPr>
            <p:extLst>
              <p:ext uri="{D42A27DB-BD31-4B8C-83A1-F6EECF244321}">
                <p14:modId xmlns:p14="http://schemas.microsoft.com/office/powerpoint/2010/main" val="1395524539"/>
              </p:ext>
            </p:extLst>
          </p:nvPr>
        </p:nvGraphicFramePr>
        <p:xfrm>
          <a:off x="0" y="0"/>
          <a:ext cx="9144000" cy="365760"/>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2570910268"/>
                    </a:ext>
                  </a:extLst>
                </a:gridCol>
                <a:gridCol w="2286000">
                  <a:extLst>
                    <a:ext uri="{9D8B030D-6E8A-4147-A177-3AD203B41FA5}">
                      <a16:colId xmlns="" xmlns:a16="http://schemas.microsoft.com/office/drawing/2014/main" val="2767606074"/>
                    </a:ext>
                  </a:extLst>
                </a:gridCol>
                <a:gridCol w="2286000">
                  <a:extLst>
                    <a:ext uri="{9D8B030D-6E8A-4147-A177-3AD203B41FA5}">
                      <a16:colId xmlns="" xmlns:a16="http://schemas.microsoft.com/office/drawing/2014/main" val="3625186058"/>
                    </a:ext>
                  </a:extLst>
                </a:gridCol>
                <a:gridCol w="2286000">
                  <a:extLst>
                    <a:ext uri="{9D8B030D-6E8A-4147-A177-3AD203B41FA5}">
                      <a16:colId xmlns="" xmlns:a16="http://schemas.microsoft.com/office/drawing/2014/main" val="3975910008"/>
                    </a:ext>
                  </a:extLst>
                </a:gridCol>
              </a:tblGrid>
              <a:tr h="350565">
                <a:tc>
                  <a:txBody>
                    <a:bodyPr/>
                    <a:lstStyle/>
                    <a:p>
                      <a:r>
                        <a:rPr lang="nl-NL" dirty="0">
                          <a:solidFill>
                            <a:schemeClr val="tx1">
                              <a:lumMod val="75000"/>
                              <a:lumOff val="25000"/>
                            </a:schemeClr>
                          </a:solidFill>
                        </a:rPr>
                        <a:t>Einführung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Vorschlag</a:t>
                      </a:r>
                      <a:endParaRPr lang="de-DE" dirty="0">
                        <a:solidFill>
                          <a:schemeClr val="tx1">
                            <a:lumMod val="75000"/>
                            <a:lumOff val="25000"/>
                          </a:schemeClr>
                        </a:solidFill>
                      </a:endParaRPr>
                    </a:p>
                  </a:txBody>
                  <a:tcPr/>
                </a:tc>
                <a:tc>
                  <a:txBody>
                    <a:bodyPr/>
                    <a:lstStyle/>
                    <a:p>
                      <a:r>
                        <a:rPr lang="nl-NL" dirty="0">
                          <a:solidFill>
                            <a:schemeClr val="tx1">
                              <a:lumMod val="75000"/>
                              <a:lumOff val="25000"/>
                            </a:schemeClr>
                          </a:solidFill>
                        </a:rPr>
                        <a:t>Hypothese</a:t>
                      </a:r>
                      <a:endParaRPr lang="de-DE" dirty="0">
                        <a:solidFill>
                          <a:schemeClr val="tx1">
                            <a:lumMod val="75000"/>
                            <a:lumOff val="25000"/>
                          </a:schemeClr>
                        </a:solidFill>
                      </a:endParaRPr>
                    </a:p>
                  </a:txBody>
                  <a:tcPr/>
                </a:tc>
                <a:tc>
                  <a:txBody>
                    <a:bodyPr/>
                    <a:lstStyle/>
                    <a:p>
                      <a:r>
                        <a:rPr lang="nl-NL" dirty="0">
                          <a:solidFill>
                            <a:schemeClr val="bg1"/>
                          </a:solidFill>
                        </a:rPr>
                        <a:t>Experimente</a:t>
                      </a:r>
                      <a:endParaRPr lang="de-DE" dirty="0">
                        <a:solidFill>
                          <a:schemeClr val="bg1"/>
                        </a:solidFill>
                      </a:endParaRPr>
                    </a:p>
                  </a:txBody>
                  <a:tcPr/>
                </a:tc>
                <a:extLst>
                  <a:ext uri="{0D108BD9-81ED-4DB2-BD59-A6C34878D82A}">
                    <a16:rowId xmlns="" xmlns:a16="http://schemas.microsoft.com/office/drawing/2014/main" val="3071743559"/>
                  </a:ext>
                </a:extLst>
              </a:tr>
            </a:tbl>
          </a:graphicData>
        </a:graphic>
      </p:graphicFrame>
    </p:spTree>
    <p:extLst>
      <p:ext uri="{BB962C8B-B14F-4D97-AF65-F5344CB8AC3E}">
        <p14:creationId xmlns:p14="http://schemas.microsoft.com/office/powerpoint/2010/main" val="2247273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704" y="2492896"/>
            <a:ext cx="7620000" cy="1143000"/>
          </a:xfrm>
        </p:spPr>
        <p:txBody>
          <a:bodyPr/>
          <a:lstStyle/>
          <a:p>
            <a:r>
              <a:rPr lang="en-US" sz="6600" dirty="0" err="1">
                <a:latin typeface="Georgia" panose="02040502050405020303" pitchFamily="18" charset="0"/>
              </a:rPr>
              <a:t>Jetzt</a:t>
            </a:r>
            <a:r>
              <a:rPr lang="en-US" sz="6600" dirty="0">
                <a:latin typeface="Georgia" panose="02040502050405020303" pitchFamily="18" charset="0"/>
              </a:rPr>
              <a:t> </a:t>
            </a:r>
            <a:r>
              <a:rPr lang="en-US" sz="6600" dirty="0" err="1">
                <a:latin typeface="Georgia" panose="02040502050405020303" pitchFamily="18" charset="0"/>
              </a:rPr>
              <a:t>euere</a:t>
            </a:r>
            <a:r>
              <a:rPr lang="en-US" sz="6600" dirty="0">
                <a:latin typeface="Georgia" panose="02040502050405020303" pitchFamily="18" charset="0"/>
              </a:rPr>
              <a:t> </a:t>
            </a:r>
            <a:r>
              <a:rPr lang="en-US" sz="6600" dirty="0" err="1">
                <a:latin typeface="Georgia" panose="02040502050405020303" pitchFamily="18" charset="0"/>
              </a:rPr>
              <a:t>Antworten</a:t>
            </a:r>
            <a:r>
              <a:rPr lang="en-US" sz="6600" dirty="0">
                <a:latin typeface="Georgia" panose="02040502050405020303" pitchFamily="18" charset="0"/>
              </a:rPr>
              <a:t>:</a:t>
            </a:r>
            <a:r>
              <a:rPr lang="en-US" dirty="0">
                <a:latin typeface="Georgia" panose="02040502050405020303" pitchFamily="18" charset="0"/>
              </a:rPr>
              <a:t> </a:t>
            </a:r>
            <a:endParaRPr lang="nl-NL" dirty="0">
              <a:latin typeface="Georgia" panose="02040502050405020303" pitchFamily="18" charset="0"/>
            </a:endParaRPr>
          </a:p>
        </p:txBody>
      </p:sp>
      <p:sp>
        <p:nvSpPr>
          <p:cNvPr id="5" name="Tijdelijke aanduiding voor inhoud 4"/>
          <p:cNvSpPr>
            <a:spLocks noGrp="1"/>
          </p:cNvSpPr>
          <p:nvPr>
            <p:ph idx="1"/>
          </p:nvPr>
        </p:nvSpPr>
        <p:spPr/>
        <p:txBody>
          <a:bodyPr/>
          <a:lstStyle/>
          <a:p>
            <a:pPr lvl="0"/>
            <a:endParaRPr lang="nl-NL" dirty="0"/>
          </a:p>
          <a:p>
            <a:endParaRPr lang="en-US" dirty="0"/>
          </a:p>
        </p:txBody>
      </p:sp>
    </p:spTree>
    <p:extLst>
      <p:ext uri="{BB962C8B-B14F-4D97-AF65-F5344CB8AC3E}">
        <p14:creationId xmlns:p14="http://schemas.microsoft.com/office/powerpoint/2010/main" val="20955093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0</TotalTime>
  <Words>812</Words>
  <Application>Microsoft Office PowerPoint</Application>
  <PresentationFormat>Bildschirmpräsentation (4:3)</PresentationFormat>
  <Paragraphs>241</Paragraphs>
  <Slides>22</Slides>
  <Notes>7</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22</vt:i4>
      </vt:variant>
    </vt:vector>
  </HeadingPairs>
  <TitlesOfParts>
    <vt:vector size="28" baseType="lpstr">
      <vt:lpstr>Arial</vt:lpstr>
      <vt:lpstr>Calibri</vt:lpstr>
      <vt:lpstr>Cambria</vt:lpstr>
      <vt:lpstr>Georgia</vt:lpstr>
      <vt:lpstr>Times New Roman</vt:lpstr>
      <vt:lpstr>Adjacency</vt:lpstr>
      <vt:lpstr>Erwartungswidrige Fokuspartikeln; Experimente zu eben, ausgerechnet, gerade und genau </vt:lpstr>
      <vt:lpstr>PowerPoint-Präsentation</vt:lpstr>
      <vt:lpstr>Einführung</vt:lpstr>
      <vt:lpstr>Einführung</vt:lpstr>
      <vt:lpstr>Einführung</vt:lpstr>
      <vt:lpstr>Einführung</vt:lpstr>
      <vt:lpstr>Einführung</vt:lpstr>
      <vt:lpstr>Einführung</vt:lpstr>
      <vt:lpstr>Einführung</vt:lpstr>
      <vt:lpstr>Warum dann dieses Experiment?</vt:lpstr>
      <vt:lpstr>PowerPoint-Präsentation</vt:lpstr>
      <vt:lpstr>PowerPoint-Präsentation</vt:lpstr>
      <vt:lpstr>Vorschlag für einen Namen:</vt:lpstr>
      <vt:lpstr>Vorschlag für einen Namen:</vt:lpstr>
      <vt:lpstr>Vorangehensweise</vt:lpstr>
      <vt:lpstr>Hypothese </vt:lpstr>
      <vt:lpstr>Hypothese </vt:lpstr>
      <vt:lpstr>Hypothese</vt:lpstr>
      <vt:lpstr>Hypothese</vt:lpstr>
      <vt:lpstr>Hypothese</vt:lpstr>
      <vt:lpstr>Auswahlexperiment</vt:lpstr>
      <vt:lpstr>Jetzt euere Antworten: </vt:lpstr>
    </vt:vector>
  </TitlesOfParts>
  <Company>Universiteit Leiden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Liempt, M.A. van</dc:creator>
  <cp:lastModifiedBy>SFB833-FS</cp:lastModifiedBy>
  <cp:revision>130</cp:revision>
  <dcterms:created xsi:type="dcterms:W3CDTF">2016-04-28T09:49:18Z</dcterms:created>
  <dcterms:modified xsi:type="dcterms:W3CDTF">2024-04-09T21:22:24Z</dcterms:modified>
</cp:coreProperties>
</file>