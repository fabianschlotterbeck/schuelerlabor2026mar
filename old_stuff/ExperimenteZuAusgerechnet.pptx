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4"/>
  </p:notesMasterIdLst>
  <p:sldIdLst>
    <p:sldId id="340" r:id="rId2"/>
    <p:sldId id="257" r:id="rId3"/>
    <p:sldId id="258" r:id="rId4"/>
    <p:sldId id="332" r:id="rId5"/>
    <p:sldId id="372" r:id="rId6"/>
    <p:sldId id="373" r:id="rId7"/>
    <p:sldId id="333" r:id="rId8"/>
    <p:sldId id="381" r:id="rId9"/>
    <p:sldId id="375" r:id="rId10"/>
    <p:sldId id="382" r:id="rId11"/>
    <p:sldId id="383" r:id="rId12"/>
    <p:sldId id="289" r:id="rId13"/>
    <p:sldId id="377" r:id="rId14"/>
    <p:sldId id="347" r:id="rId15"/>
    <p:sldId id="339" r:id="rId16"/>
    <p:sldId id="378" r:id="rId17"/>
    <p:sldId id="358" r:id="rId18"/>
    <p:sldId id="359" r:id="rId19"/>
    <p:sldId id="379" r:id="rId20"/>
    <p:sldId id="380" r:id="rId21"/>
    <p:sldId id="323" r:id="rId22"/>
    <p:sldId id="321" r:id="rId23"/>
  </p:sldIdLst>
  <p:sldSz cx="9144000" cy="6858000" type="screen4x3"/>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13" autoAdjust="0"/>
    <p:restoredTop sz="95763" autoAdjust="0"/>
  </p:normalViewPr>
  <p:slideViewPr>
    <p:cSldViewPr>
      <p:cViewPr varScale="1">
        <p:scale>
          <a:sx n="106" d="100"/>
          <a:sy n="106" d="100"/>
        </p:scale>
        <p:origin x="1776" y="10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C93D105-950A-45A6-BAE9-68F9EBA8F002}" type="datetimeFigureOut">
              <a:rPr lang="nl-NL" smtClean="0"/>
              <a:pPr/>
              <a:t>27-2-2023</a:t>
            </a:fld>
            <a:endParaRPr lang="nl-NL"/>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BC65EB6-A9BA-41EB-A83C-64C2AA57DD01}" type="slidenum">
              <a:rPr lang="nl-NL" smtClean="0"/>
              <a:pPr/>
              <a:t>‹Nr.›</a:t>
            </a:fld>
            <a:endParaRPr lang="nl-NL"/>
          </a:p>
        </p:txBody>
      </p:sp>
    </p:spTree>
    <p:extLst>
      <p:ext uri="{BB962C8B-B14F-4D97-AF65-F5344CB8AC3E}">
        <p14:creationId xmlns:p14="http://schemas.microsoft.com/office/powerpoint/2010/main" val="2150550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nl-NL" dirty="0"/>
              <a:t>“</a:t>
            </a:r>
            <a:r>
              <a:rPr lang="en-US" dirty="0">
                <a:effectLst/>
                <a:latin typeface="Times New Roman" panose="02020603050405020304" pitchFamily="18" charset="0"/>
              </a:rPr>
              <a:t>Common ground is not merely shared but reciprocal in a rather special way. If</a:t>
            </a:r>
            <a:br>
              <a:rPr lang="en-US" dirty="0"/>
            </a:br>
            <a:r>
              <a:rPr lang="en-US" dirty="0">
                <a:effectLst/>
                <a:latin typeface="Times New Roman" panose="02020603050405020304" pitchFamily="18" charset="0"/>
              </a:rPr>
              <a:t>belief is our preferred attitude and </a:t>
            </a:r>
            <a:r>
              <a:rPr lang="en-US" dirty="0">
                <a:effectLst/>
                <a:latin typeface="Arial" panose="020B0604020202020204" pitchFamily="34" charset="0"/>
              </a:rPr>
              <a:t>φ </a:t>
            </a:r>
            <a:r>
              <a:rPr lang="en-US" dirty="0">
                <a:effectLst/>
                <a:latin typeface="Times New Roman" panose="02020603050405020304" pitchFamily="18" charset="0"/>
              </a:rPr>
              <a:t>is common ground between x and y, then</a:t>
            </a:r>
            <a:br>
              <a:rPr lang="en-US" dirty="0"/>
            </a:br>
            <a:r>
              <a:rPr lang="en-US" dirty="0">
                <a:effectLst/>
                <a:latin typeface="Times New Roman" panose="02020603050405020304" pitchFamily="18" charset="0"/>
              </a:rPr>
              <a:t>x believes </a:t>
            </a:r>
            <a:r>
              <a:rPr lang="en-US" dirty="0">
                <a:effectLst/>
                <a:latin typeface="Arial" panose="020B0604020202020204" pitchFamily="34" charset="0"/>
              </a:rPr>
              <a:t>φ</a:t>
            </a:r>
            <a:r>
              <a:rPr lang="en-US" dirty="0">
                <a:effectLst/>
                <a:latin typeface="Times New Roman" panose="02020603050405020304" pitchFamily="18" charset="0"/>
              </a:rPr>
              <a:t>, y believes </a:t>
            </a:r>
            <a:r>
              <a:rPr lang="en-US" dirty="0">
                <a:effectLst/>
                <a:latin typeface="Arial" panose="020B0604020202020204" pitchFamily="34" charset="0"/>
              </a:rPr>
              <a:t>φ</a:t>
            </a:r>
            <a:r>
              <a:rPr lang="en-US" dirty="0">
                <a:effectLst/>
                <a:latin typeface="Times New Roman" panose="02020603050405020304" pitchFamily="18" charset="0"/>
              </a:rPr>
              <a:t>, x believes that y believes </a:t>
            </a:r>
            <a:r>
              <a:rPr lang="en-US" dirty="0">
                <a:effectLst/>
                <a:latin typeface="Arial" panose="020B0604020202020204" pitchFamily="34" charset="0"/>
              </a:rPr>
              <a:t>φ</a:t>
            </a:r>
            <a:r>
              <a:rPr lang="en-US" dirty="0">
                <a:effectLst/>
                <a:latin typeface="Times New Roman" panose="02020603050405020304" pitchFamily="18" charset="0"/>
              </a:rPr>
              <a:t>, y believes that x believes</a:t>
            </a:r>
            <a:br>
              <a:rPr lang="en-US" dirty="0"/>
            </a:br>
            <a:r>
              <a:rPr lang="en-US" dirty="0">
                <a:effectLst/>
                <a:latin typeface="Arial" panose="020B0604020202020204" pitchFamily="34" charset="0"/>
              </a:rPr>
              <a:t>φ</a:t>
            </a:r>
            <a:r>
              <a:rPr lang="en-US" dirty="0">
                <a:effectLst/>
                <a:latin typeface="Times New Roman" panose="02020603050405020304" pitchFamily="18" charset="0"/>
              </a:rPr>
              <a:t>, and so on.” Bart </a:t>
            </a:r>
            <a:r>
              <a:rPr lang="en-US" dirty="0" err="1">
                <a:effectLst/>
                <a:latin typeface="Times New Roman" panose="02020603050405020304" pitchFamily="18" charset="0"/>
              </a:rPr>
              <a:t>Geurts</a:t>
            </a:r>
            <a:r>
              <a:rPr lang="en-US" dirty="0">
                <a:effectLst/>
                <a:latin typeface="Times New Roman" panose="02020603050405020304" pitchFamily="18" charset="0"/>
              </a:rPr>
              <a:t> (Radboud) 2020</a:t>
            </a:r>
          </a:p>
          <a:p>
            <a:endParaRPr lang="de-DE" dirty="0"/>
          </a:p>
          <a:p>
            <a:r>
              <a:rPr lang="en-US" dirty="0">
                <a:effectLst/>
                <a:latin typeface="Times New Roman" panose="02020603050405020304" pitchFamily="18" charset="0"/>
              </a:rPr>
              <a:t>“Common ground is usually represented as information that is openly available</a:t>
            </a:r>
            <a:br>
              <a:rPr lang="en-US" dirty="0"/>
            </a:br>
            <a:r>
              <a:rPr lang="en-US" dirty="0">
                <a:effectLst/>
                <a:latin typeface="Times New Roman" panose="02020603050405020304" pitchFamily="18" charset="0"/>
              </a:rPr>
              <a:t>to all discourse participants, and </a:t>
            </a:r>
            <a:r>
              <a:rPr lang="en-US" dirty="0" err="1">
                <a:effectLst/>
                <a:latin typeface="Times New Roman" panose="02020603050405020304" pitchFamily="18" charset="0"/>
              </a:rPr>
              <a:t>analysed</a:t>
            </a:r>
            <a:r>
              <a:rPr lang="en-US" dirty="0">
                <a:effectLst/>
                <a:latin typeface="Times New Roman" panose="02020603050405020304" pitchFamily="18" charset="0"/>
              </a:rPr>
              <a:t> in terms of a distinctive configuration</a:t>
            </a:r>
            <a:br>
              <a:rPr lang="en-US" dirty="0"/>
            </a:br>
            <a:r>
              <a:rPr lang="en-US" dirty="0">
                <a:effectLst/>
                <a:latin typeface="Times New Roman" panose="02020603050405020304" pitchFamily="18" charset="0"/>
              </a:rPr>
              <a:t>of psychological states, notably belief, knowledge, or acceptance.” -- ‘Acceptance’ is Stalnaker’s (2014) term for a propositional attitude which is like belief, but weaker:</a:t>
            </a:r>
            <a:br>
              <a:rPr lang="en-US" dirty="0"/>
            </a:br>
            <a:r>
              <a:rPr lang="en-US" dirty="0">
                <a:effectLst/>
                <a:latin typeface="Times New Roman" panose="02020603050405020304" pitchFamily="18" charset="0"/>
              </a:rPr>
              <a:t>one can accept something for the sake of the argument, for example</a:t>
            </a:r>
          </a:p>
          <a:p>
            <a:endParaRPr lang="en-US" dirty="0">
              <a:effectLst/>
              <a:latin typeface="Times New Roman" panose="02020603050405020304" pitchFamily="18" charset="0"/>
            </a:endParaRPr>
          </a:p>
          <a:p>
            <a:r>
              <a:rPr lang="en-US" dirty="0">
                <a:effectLst/>
                <a:latin typeface="Times New Roman" panose="02020603050405020304" pitchFamily="18" charset="0"/>
              </a:rPr>
              <a:t>-Stalnaker 2014: </a:t>
            </a:r>
            <a:r>
              <a:rPr lang="de-DE" dirty="0">
                <a:effectLst/>
                <a:latin typeface="Arial" panose="020B0604020202020204" pitchFamily="34" charset="0"/>
              </a:rPr>
              <a:t>Der Common Ground ist das öffentliche gemeinsame Wissen</a:t>
            </a:r>
            <a:br>
              <a:rPr lang="de-DE" dirty="0"/>
            </a:br>
            <a:r>
              <a:rPr lang="de-DE" dirty="0">
                <a:effectLst/>
                <a:latin typeface="Arial" panose="020B0604020202020204" pitchFamily="34" charset="0"/>
              </a:rPr>
              <a:t>von Sprecher und Hörer.</a:t>
            </a:r>
            <a:br>
              <a:rPr lang="de-DE" dirty="0"/>
            </a:br>
            <a:r>
              <a:rPr lang="de-DE" dirty="0">
                <a:effectLst/>
                <a:latin typeface="Arial" panose="020B0604020202020204" pitchFamily="34" charset="0"/>
              </a:rPr>
              <a:t>-Common Ground = Menge aller möglichen Welten, die mit dem</a:t>
            </a:r>
            <a:br>
              <a:rPr lang="de-DE" dirty="0"/>
            </a:br>
            <a:r>
              <a:rPr lang="de-DE" dirty="0">
                <a:effectLst/>
                <a:latin typeface="Arial" panose="020B0604020202020204" pitchFamily="34" charset="0"/>
              </a:rPr>
              <a:t>gemeinsamen öffentlichen Wissen von Sprecher und Hörer</a:t>
            </a:r>
            <a:br>
              <a:rPr lang="de-DE" dirty="0"/>
            </a:br>
            <a:r>
              <a:rPr lang="de-DE" dirty="0">
                <a:effectLst/>
                <a:latin typeface="Arial" panose="020B0604020202020204" pitchFamily="34" charset="0"/>
              </a:rPr>
              <a:t>kompatibel sind</a:t>
            </a:r>
          </a:p>
          <a:p>
            <a:endParaRPr lang="de-DE" dirty="0">
              <a:effectLst/>
              <a:latin typeface="Arial" panose="020B0604020202020204" pitchFamily="34" charset="0"/>
            </a:endParaRPr>
          </a:p>
          <a:p>
            <a:r>
              <a:rPr lang="de-DE" dirty="0">
                <a:effectLst/>
                <a:latin typeface="Arial" panose="020B0604020202020204" pitchFamily="34" charset="0"/>
              </a:rPr>
              <a:t>---------------------</a:t>
            </a:r>
          </a:p>
          <a:p>
            <a:endParaRPr lang="de-DE" dirty="0">
              <a:effectLst/>
              <a:latin typeface="Arial" panose="020B0604020202020204" pitchFamily="34" charset="0"/>
            </a:endParaRPr>
          </a:p>
          <a:p>
            <a:r>
              <a:rPr lang="de-DE" dirty="0">
                <a:effectLst/>
                <a:latin typeface="Arial" panose="020B0604020202020204" pitchFamily="34" charset="0"/>
              </a:rPr>
              <a:t>Eine Diskursrelation ist eine Beziehung, die zwischen zwei</a:t>
            </a:r>
            <a:br>
              <a:rPr lang="de-DE" dirty="0"/>
            </a:br>
            <a:r>
              <a:rPr lang="de-DE" dirty="0">
                <a:effectLst/>
                <a:latin typeface="Arial" panose="020B0604020202020204" pitchFamily="34" charset="0"/>
              </a:rPr>
              <a:t>Äußerungen besteht, die kohärent verbunden sind. (oft nur implizit und nur mit dem Weltwissen ableitbar) häufig durch lexikalische Oberflächensignale expliziert (Konnektoren, </a:t>
            </a:r>
            <a:r>
              <a:rPr lang="de-DE" dirty="0" err="1">
                <a:effectLst/>
                <a:latin typeface="Arial" panose="020B0604020202020204" pitchFamily="34" charset="0"/>
              </a:rPr>
              <a:t>Satzverknüpfer</a:t>
            </a:r>
            <a:r>
              <a:rPr lang="de-DE" dirty="0">
                <a:effectLst/>
                <a:latin typeface="Arial" panose="020B0604020202020204" pitchFamily="34" charset="0"/>
              </a:rPr>
              <a:t>, Diskursmarker). </a:t>
            </a:r>
            <a:endParaRPr lang="de-DE" dirty="0"/>
          </a:p>
        </p:txBody>
      </p:sp>
      <p:sp>
        <p:nvSpPr>
          <p:cNvPr id="4" name="Foliennummernplatzhalter 3"/>
          <p:cNvSpPr>
            <a:spLocks noGrp="1"/>
          </p:cNvSpPr>
          <p:nvPr>
            <p:ph type="sldNum" sz="quarter" idx="5"/>
          </p:nvPr>
        </p:nvSpPr>
        <p:spPr/>
        <p:txBody>
          <a:bodyPr/>
          <a:lstStyle/>
          <a:p>
            <a:fld id="{3BC65EB6-A9BA-41EB-A83C-64C2AA57DD01}" type="slidenum">
              <a:rPr lang="nl-NL" smtClean="0"/>
              <a:pPr/>
              <a:t>5</a:t>
            </a:fld>
            <a:endParaRPr lang="nl-NL"/>
          </a:p>
        </p:txBody>
      </p:sp>
    </p:spTree>
    <p:extLst>
      <p:ext uri="{BB962C8B-B14F-4D97-AF65-F5344CB8AC3E}">
        <p14:creationId xmlns:p14="http://schemas.microsoft.com/office/powerpoint/2010/main" val="35122703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nl-NL" dirty="0"/>
              <a:t>Auswahlmenge: die Menge aller kontextuell relvanten Alternativen zum Bezugsausdruck (Dimroth 2014: 15).</a:t>
            </a:r>
            <a:endParaRPr lang="de-DE" dirty="0">
              <a:effectLst/>
              <a:latin typeface="Arial" panose="020B0604020202020204" pitchFamily="34" charset="0"/>
            </a:endParaRPr>
          </a:p>
        </p:txBody>
      </p:sp>
      <p:sp>
        <p:nvSpPr>
          <p:cNvPr id="4" name="Foliennummernplatzhalter 3"/>
          <p:cNvSpPr>
            <a:spLocks noGrp="1"/>
          </p:cNvSpPr>
          <p:nvPr>
            <p:ph type="sldNum" sz="quarter" idx="5"/>
          </p:nvPr>
        </p:nvSpPr>
        <p:spPr/>
        <p:txBody>
          <a:bodyPr/>
          <a:lstStyle/>
          <a:p>
            <a:fld id="{3BC65EB6-A9BA-41EB-A83C-64C2AA57DD01}" type="slidenum">
              <a:rPr lang="nl-NL" smtClean="0"/>
              <a:pPr/>
              <a:t>6</a:t>
            </a:fld>
            <a:endParaRPr lang="nl-NL"/>
          </a:p>
        </p:txBody>
      </p:sp>
    </p:spTree>
    <p:extLst>
      <p:ext uri="{BB962C8B-B14F-4D97-AF65-F5344CB8AC3E}">
        <p14:creationId xmlns:p14="http://schemas.microsoft.com/office/powerpoint/2010/main" val="16567108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nl-NL" dirty="0">
                <a:latin typeface="Georgia" panose="02040502050405020303" pitchFamily="18" charset="0"/>
              </a:rPr>
              <a:t>[...]sondern die Identität zweier Werte in zwei verschiedenen Propositionen zu assertieren (König, 1991c:33)</a:t>
            </a:r>
            <a:endParaRPr lang="de-DE" dirty="0"/>
          </a:p>
        </p:txBody>
      </p:sp>
      <p:sp>
        <p:nvSpPr>
          <p:cNvPr id="4" name="Foliennummernplatzhalter 3"/>
          <p:cNvSpPr>
            <a:spLocks noGrp="1"/>
          </p:cNvSpPr>
          <p:nvPr>
            <p:ph type="sldNum" sz="quarter" idx="5"/>
          </p:nvPr>
        </p:nvSpPr>
        <p:spPr/>
        <p:txBody>
          <a:bodyPr/>
          <a:lstStyle/>
          <a:p>
            <a:fld id="{3BC65EB6-A9BA-41EB-A83C-64C2AA57DD01}" type="slidenum">
              <a:rPr lang="nl-NL" smtClean="0"/>
              <a:pPr/>
              <a:t>9</a:t>
            </a:fld>
            <a:endParaRPr lang="nl-NL"/>
          </a:p>
        </p:txBody>
      </p:sp>
    </p:spTree>
    <p:extLst>
      <p:ext uri="{BB962C8B-B14F-4D97-AF65-F5344CB8AC3E}">
        <p14:creationId xmlns:p14="http://schemas.microsoft.com/office/powerpoint/2010/main" val="4001535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 “Hohe Erwartbarkeit benötigt einen gewissen Kontext. Ich habe mich bemüht, ohne </a:t>
            </a:r>
            <a:br>
              <a:rPr lang="nl-NL" dirty="0"/>
            </a:br>
            <a:r>
              <a:rPr lang="nl-NL" dirty="0"/>
              <a:t>das Hinzufügen von unnötige, irreführende Informationen, </a:t>
            </a:r>
            <a:br>
              <a:rPr lang="nl-NL" dirty="0"/>
            </a:br>
            <a:r>
              <a:rPr lang="nl-NL" dirty="0"/>
              <a:t>die Länge von H + M Kontexte eine ähnliche Länge zu geben”</a:t>
            </a:r>
            <a:endParaRPr lang="en-US" dirty="0"/>
          </a:p>
        </p:txBody>
      </p:sp>
      <p:sp>
        <p:nvSpPr>
          <p:cNvPr id="4" name="Slide Number Placeholder 3"/>
          <p:cNvSpPr>
            <a:spLocks noGrp="1"/>
          </p:cNvSpPr>
          <p:nvPr>
            <p:ph type="sldNum" sz="quarter" idx="5"/>
          </p:nvPr>
        </p:nvSpPr>
        <p:spPr/>
        <p:txBody>
          <a:bodyPr/>
          <a:lstStyle/>
          <a:p>
            <a:fld id="{3BC65EB6-A9BA-41EB-A83C-64C2AA57DD01}" type="slidenum">
              <a:rPr lang="nl-NL" smtClean="0"/>
              <a:pPr/>
              <a:t>14</a:t>
            </a:fld>
            <a:endParaRPr lang="nl-NL"/>
          </a:p>
        </p:txBody>
      </p:sp>
    </p:spTree>
    <p:extLst>
      <p:ext uri="{BB962C8B-B14F-4D97-AF65-F5344CB8AC3E}">
        <p14:creationId xmlns:p14="http://schemas.microsoft.com/office/powerpoint/2010/main" val="3505055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 “Hohe Erwartbarkeit benötigt einen gewissen Kontext. Ich habe mich bemüht, ohne </a:t>
            </a:r>
            <a:br>
              <a:rPr lang="nl-NL" dirty="0"/>
            </a:br>
            <a:r>
              <a:rPr lang="nl-NL" dirty="0"/>
              <a:t>das Hinzufügen von unnötige, irreführende Informationen, </a:t>
            </a:r>
            <a:br>
              <a:rPr lang="nl-NL" dirty="0"/>
            </a:br>
            <a:r>
              <a:rPr lang="nl-NL" dirty="0"/>
              <a:t>die Länge von H + M Kontexte eine ähnliche Länge zu geben”</a:t>
            </a:r>
            <a:endParaRPr lang="en-US" dirty="0"/>
          </a:p>
        </p:txBody>
      </p:sp>
      <p:sp>
        <p:nvSpPr>
          <p:cNvPr id="4" name="Slide Number Placeholder 3"/>
          <p:cNvSpPr>
            <a:spLocks noGrp="1"/>
          </p:cNvSpPr>
          <p:nvPr>
            <p:ph type="sldNum" sz="quarter" idx="5"/>
          </p:nvPr>
        </p:nvSpPr>
        <p:spPr/>
        <p:txBody>
          <a:bodyPr/>
          <a:lstStyle/>
          <a:p>
            <a:fld id="{3BC65EB6-A9BA-41EB-A83C-64C2AA57DD01}" type="slidenum">
              <a:rPr lang="nl-NL" smtClean="0"/>
              <a:pPr/>
              <a:t>15</a:t>
            </a:fld>
            <a:endParaRPr lang="nl-NL"/>
          </a:p>
        </p:txBody>
      </p:sp>
    </p:spTree>
    <p:extLst>
      <p:ext uri="{BB962C8B-B14F-4D97-AF65-F5344CB8AC3E}">
        <p14:creationId xmlns:p14="http://schemas.microsoft.com/office/powerpoint/2010/main" val="19147344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Erwartung Kontext basiert auf OH/ 0-bedingung.  Die Erwartungn von OH und RA sind ähnlich</a:t>
            </a:r>
            <a:endParaRPr lang="en-US" dirty="0"/>
          </a:p>
        </p:txBody>
      </p:sp>
      <p:sp>
        <p:nvSpPr>
          <p:cNvPr id="4" name="Slide Number Placeholder 3"/>
          <p:cNvSpPr>
            <a:spLocks noGrp="1"/>
          </p:cNvSpPr>
          <p:nvPr>
            <p:ph type="sldNum" sz="quarter" idx="5"/>
          </p:nvPr>
        </p:nvSpPr>
        <p:spPr/>
        <p:txBody>
          <a:bodyPr/>
          <a:lstStyle/>
          <a:p>
            <a:fld id="{3BC65EB6-A9BA-41EB-A83C-64C2AA57DD01}" type="slidenum">
              <a:rPr lang="nl-NL" smtClean="0"/>
              <a:pPr/>
              <a:t>16</a:t>
            </a:fld>
            <a:endParaRPr lang="nl-NL"/>
          </a:p>
        </p:txBody>
      </p:sp>
    </p:spTree>
    <p:extLst>
      <p:ext uri="{BB962C8B-B14F-4D97-AF65-F5344CB8AC3E}">
        <p14:creationId xmlns:p14="http://schemas.microsoft.com/office/powerpoint/2010/main" val="25004170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 “Hohe Erwartbarkeit benötigt einen gewissen Kontext. Ich habe mich bemüht, ohne </a:t>
            </a:r>
            <a:br>
              <a:rPr lang="nl-NL" dirty="0"/>
            </a:br>
            <a:r>
              <a:rPr lang="nl-NL" dirty="0"/>
              <a:t>das Hinzufügen von unnötige, irreführende Informationen, </a:t>
            </a:r>
            <a:br>
              <a:rPr lang="nl-NL" dirty="0"/>
            </a:br>
            <a:r>
              <a:rPr lang="nl-NL" dirty="0"/>
              <a:t>die Länge von H + M Kontexte eine ähnliche Länge zu geben”</a:t>
            </a:r>
            <a:endParaRPr lang="en-US" dirty="0"/>
          </a:p>
        </p:txBody>
      </p:sp>
      <p:sp>
        <p:nvSpPr>
          <p:cNvPr id="4" name="Slide Number Placeholder 3"/>
          <p:cNvSpPr>
            <a:spLocks noGrp="1"/>
          </p:cNvSpPr>
          <p:nvPr>
            <p:ph type="sldNum" sz="quarter" idx="5"/>
          </p:nvPr>
        </p:nvSpPr>
        <p:spPr/>
        <p:txBody>
          <a:bodyPr/>
          <a:lstStyle/>
          <a:p>
            <a:fld id="{3BC65EB6-A9BA-41EB-A83C-64C2AA57DD01}" type="slidenum">
              <a:rPr lang="nl-NL" smtClean="0"/>
              <a:pPr/>
              <a:t>17</a:t>
            </a:fld>
            <a:endParaRPr lang="nl-NL"/>
          </a:p>
        </p:txBody>
      </p:sp>
    </p:spTree>
    <p:extLst>
      <p:ext uri="{BB962C8B-B14F-4D97-AF65-F5344CB8AC3E}">
        <p14:creationId xmlns:p14="http://schemas.microsoft.com/office/powerpoint/2010/main" val="7961735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 “Hohe Erwartbarkeit benötigt einen gewissen Kontext. Ich habe mich bemüht, ohne </a:t>
            </a:r>
            <a:br>
              <a:rPr lang="nl-NL" dirty="0"/>
            </a:br>
            <a:r>
              <a:rPr lang="nl-NL" dirty="0"/>
              <a:t>das Hinzufügen von unnötige, irreführende Informationen, </a:t>
            </a:r>
            <a:br>
              <a:rPr lang="nl-NL" dirty="0"/>
            </a:br>
            <a:r>
              <a:rPr lang="nl-NL" dirty="0"/>
              <a:t>die Länge von H + M Kontexte eine ähnliche Länge zu geben”</a:t>
            </a:r>
            <a:endParaRPr lang="en-US" dirty="0"/>
          </a:p>
        </p:txBody>
      </p:sp>
      <p:sp>
        <p:nvSpPr>
          <p:cNvPr id="4" name="Slide Number Placeholder 3"/>
          <p:cNvSpPr>
            <a:spLocks noGrp="1"/>
          </p:cNvSpPr>
          <p:nvPr>
            <p:ph type="sldNum" sz="quarter" idx="5"/>
          </p:nvPr>
        </p:nvSpPr>
        <p:spPr/>
        <p:txBody>
          <a:bodyPr/>
          <a:lstStyle/>
          <a:p>
            <a:fld id="{3BC65EB6-A9BA-41EB-A83C-64C2AA57DD01}" type="slidenum">
              <a:rPr lang="nl-NL" smtClean="0"/>
              <a:pPr/>
              <a:t>18</a:t>
            </a:fld>
            <a:endParaRPr lang="nl-NL"/>
          </a:p>
        </p:txBody>
      </p:sp>
    </p:spTree>
    <p:extLst>
      <p:ext uri="{BB962C8B-B14F-4D97-AF65-F5344CB8AC3E}">
        <p14:creationId xmlns:p14="http://schemas.microsoft.com/office/powerpoint/2010/main" val="29271067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 “Hohe Erwartbarkeit benötigt einen gewissen Kontext. Ich habe mich bemüht, ohne </a:t>
            </a:r>
            <a:br>
              <a:rPr lang="nl-NL" dirty="0"/>
            </a:br>
            <a:r>
              <a:rPr lang="nl-NL" dirty="0"/>
              <a:t>das Hinzufügen von unnötige, irreführende Informationen, </a:t>
            </a:r>
            <a:br>
              <a:rPr lang="nl-NL" dirty="0"/>
            </a:br>
            <a:r>
              <a:rPr lang="nl-NL" dirty="0"/>
              <a:t>die Länge von H + M Kontexte eine ähnliche Länge zu geben”</a:t>
            </a:r>
            <a:endParaRPr lang="en-US" dirty="0"/>
          </a:p>
        </p:txBody>
      </p:sp>
      <p:sp>
        <p:nvSpPr>
          <p:cNvPr id="4" name="Slide Number Placeholder 3"/>
          <p:cNvSpPr>
            <a:spLocks noGrp="1"/>
          </p:cNvSpPr>
          <p:nvPr>
            <p:ph type="sldNum" sz="quarter" idx="5"/>
          </p:nvPr>
        </p:nvSpPr>
        <p:spPr/>
        <p:txBody>
          <a:bodyPr/>
          <a:lstStyle/>
          <a:p>
            <a:fld id="{3BC65EB6-A9BA-41EB-A83C-64C2AA57DD01}" type="slidenum">
              <a:rPr lang="nl-NL" smtClean="0"/>
              <a:pPr/>
              <a:t>19</a:t>
            </a:fld>
            <a:endParaRPr lang="nl-NL"/>
          </a:p>
        </p:txBody>
      </p:sp>
    </p:spTree>
    <p:extLst>
      <p:ext uri="{BB962C8B-B14F-4D97-AF65-F5344CB8AC3E}">
        <p14:creationId xmlns:p14="http://schemas.microsoft.com/office/powerpoint/2010/main" val="2377533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BAD8212-347D-4C89-AC81-C568C60FCCAC}" type="datetimeFigureOut">
              <a:rPr lang="nl-NL" smtClean="0"/>
              <a:pPr/>
              <a:t>27-2-2023</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F578AD4A-62BF-44EE-BE4B-647617E9574D}" type="slidenum">
              <a:rPr lang="nl-NL" smtClean="0"/>
              <a:pPr/>
              <a:t>‹Nr.›</a:t>
            </a:fld>
            <a:endParaRPr lang="nl-N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AD8212-347D-4C89-AC81-C568C60FCCAC}" type="datetimeFigureOut">
              <a:rPr lang="nl-NL" smtClean="0"/>
              <a:pPr/>
              <a:t>27-2-2023</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F578AD4A-62BF-44EE-BE4B-647617E9574D}" type="slidenum">
              <a:rPr lang="nl-NL" smtClean="0"/>
              <a:pPr/>
              <a:t>‹Nr.›</a:t>
            </a:fld>
            <a:endParaRPr lang="nl-N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AD8212-347D-4C89-AC81-C568C60FCCAC}" type="datetimeFigureOut">
              <a:rPr lang="nl-NL" smtClean="0"/>
              <a:pPr/>
              <a:t>27-2-2023</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F578AD4A-62BF-44EE-BE4B-647617E9574D}" type="slidenum">
              <a:rPr lang="nl-NL" smtClean="0"/>
              <a:pPr/>
              <a:t>‹Nr.›</a:t>
            </a:fld>
            <a:endParaRPr lang="nl-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BAD8212-347D-4C89-AC81-C568C60FCCAC}" type="datetimeFigureOut">
              <a:rPr lang="nl-NL" smtClean="0"/>
              <a:pPr/>
              <a:t>27-2-2023</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F578AD4A-62BF-44EE-BE4B-647617E9574D}" type="slidenum">
              <a:rPr lang="nl-NL" smtClean="0"/>
              <a:pPr/>
              <a:t>‹Nr.›</a:t>
            </a:fld>
            <a:endParaRPr lang="nl-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BAD8212-347D-4C89-AC81-C568C60FCCAC}" type="datetimeFigureOut">
              <a:rPr lang="nl-NL" smtClean="0"/>
              <a:pPr/>
              <a:t>27-2-2023</a:t>
            </a:fld>
            <a:endParaRPr lang="nl-NL"/>
          </a:p>
        </p:txBody>
      </p:sp>
      <p:sp>
        <p:nvSpPr>
          <p:cNvPr id="8" name="Footer Placeholder 7"/>
          <p:cNvSpPr>
            <a:spLocks noGrp="1"/>
          </p:cNvSpPr>
          <p:nvPr>
            <p:ph type="ftr" sz="quarter" idx="11"/>
          </p:nvPr>
        </p:nvSpPr>
        <p:spPr/>
        <p:txBody>
          <a:bodyPr/>
          <a:lstStyle/>
          <a:p>
            <a:endParaRPr lang="nl-NL"/>
          </a:p>
        </p:txBody>
      </p:sp>
      <p:sp>
        <p:nvSpPr>
          <p:cNvPr id="9" name="Slide Number Placeholder 8"/>
          <p:cNvSpPr>
            <a:spLocks noGrp="1"/>
          </p:cNvSpPr>
          <p:nvPr>
            <p:ph type="sldNum" sz="quarter" idx="12"/>
          </p:nvPr>
        </p:nvSpPr>
        <p:spPr/>
        <p:txBody>
          <a:bodyPr/>
          <a:lstStyle/>
          <a:p>
            <a:fld id="{F578AD4A-62BF-44EE-BE4B-647617E9574D}" type="slidenum">
              <a:rPr lang="nl-NL" smtClean="0"/>
              <a:pPr/>
              <a:t>‹Nr.›</a:t>
            </a:fld>
            <a:endParaRPr lang="nl-N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BAD8212-347D-4C89-AC81-C568C60FCCAC}" type="datetimeFigureOut">
              <a:rPr lang="nl-NL" smtClean="0"/>
              <a:pPr/>
              <a:t>27-2-2023</a:t>
            </a:fld>
            <a:endParaRPr lang="nl-NL"/>
          </a:p>
        </p:txBody>
      </p:sp>
      <p:sp>
        <p:nvSpPr>
          <p:cNvPr id="4" name="Footer Placeholder 3"/>
          <p:cNvSpPr>
            <a:spLocks noGrp="1"/>
          </p:cNvSpPr>
          <p:nvPr>
            <p:ph type="ftr" sz="quarter" idx="11"/>
          </p:nvPr>
        </p:nvSpPr>
        <p:spPr/>
        <p:txBody>
          <a:bodyPr/>
          <a:lstStyle/>
          <a:p>
            <a:endParaRPr lang="nl-NL"/>
          </a:p>
        </p:txBody>
      </p:sp>
      <p:sp>
        <p:nvSpPr>
          <p:cNvPr id="5" name="Slide Number Placeholder 4"/>
          <p:cNvSpPr>
            <a:spLocks noGrp="1"/>
          </p:cNvSpPr>
          <p:nvPr>
            <p:ph type="sldNum" sz="quarter" idx="12"/>
          </p:nvPr>
        </p:nvSpPr>
        <p:spPr/>
        <p:txBody>
          <a:bodyPr/>
          <a:lstStyle/>
          <a:p>
            <a:fld id="{F578AD4A-62BF-44EE-BE4B-647617E9574D}" type="slidenum">
              <a:rPr lang="nl-NL" smtClean="0"/>
              <a:pPr/>
              <a:t>‹Nr.›</a:t>
            </a:fld>
            <a:endParaRPr lang="nl-N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AD8212-347D-4C89-AC81-C568C60FCCAC}" type="datetimeFigureOut">
              <a:rPr lang="nl-NL" smtClean="0"/>
              <a:pPr/>
              <a:t>27-2-2023</a:t>
            </a:fld>
            <a:endParaRPr lang="nl-NL"/>
          </a:p>
        </p:txBody>
      </p:sp>
      <p:sp>
        <p:nvSpPr>
          <p:cNvPr id="3" name="Footer Placeholder 2"/>
          <p:cNvSpPr>
            <a:spLocks noGrp="1"/>
          </p:cNvSpPr>
          <p:nvPr>
            <p:ph type="ftr" sz="quarter" idx="11"/>
          </p:nvPr>
        </p:nvSpPr>
        <p:spPr/>
        <p:txBody>
          <a:bodyPr/>
          <a:lstStyle/>
          <a:p>
            <a:endParaRPr lang="nl-NL"/>
          </a:p>
        </p:txBody>
      </p:sp>
      <p:sp>
        <p:nvSpPr>
          <p:cNvPr id="4" name="Slide Number Placeholder 3"/>
          <p:cNvSpPr>
            <a:spLocks noGrp="1"/>
          </p:cNvSpPr>
          <p:nvPr>
            <p:ph type="sldNum" sz="quarter" idx="12"/>
          </p:nvPr>
        </p:nvSpPr>
        <p:spPr/>
        <p:txBody>
          <a:bodyPr/>
          <a:lstStyle/>
          <a:p>
            <a:fld id="{F578AD4A-62BF-44EE-BE4B-647617E9574D}" type="slidenum">
              <a:rPr lang="nl-NL" smtClean="0"/>
              <a:pPr/>
              <a:t>‹Nr.›</a:t>
            </a:fld>
            <a:endParaRPr lang="nl-N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AD8212-347D-4C89-AC81-C568C60FCCAC}" type="datetimeFigureOut">
              <a:rPr lang="nl-NL" smtClean="0"/>
              <a:pPr/>
              <a:t>27-2-2023</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F578AD4A-62BF-44EE-BE4B-647617E9574D}" type="slidenum">
              <a:rPr lang="nl-NL" smtClean="0"/>
              <a:pPr/>
              <a:t>‹Nr.›</a:t>
            </a:fld>
            <a:endParaRPr lang="nl-NL"/>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DBAD8212-347D-4C89-AC81-C568C60FCCAC}" type="datetimeFigureOut">
              <a:rPr lang="nl-NL" smtClean="0"/>
              <a:pPr/>
              <a:t>27-2-2023</a:t>
            </a:fld>
            <a:endParaRPr lang="nl-NL"/>
          </a:p>
        </p:txBody>
      </p:sp>
      <p:sp>
        <p:nvSpPr>
          <p:cNvPr id="9" name="Slide Number Placeholder 8"/>
          <p:cNvSpPr>
            <a:spLocks noGrp="1"/>
          </p:cNvSpPr>
          <p:nvPr>
            <p:ph type="sldNum" sz="quarter" idx="11"/>
          </p:nvPr>
        </p:nvSpPr>
        <p:spPr/>
        <p:txBody>
          <a:bodyPr/>
          <a:lstStyle/>
          <a:p>
            <a:fld id="{F578AD4A-62BF-44EE-BE4B-647617E9574D}" type="slidenum">
              <a:rPr lang="nl-NL" smtClean="0"/>
              <a:pPr/>
              <a:t>‹Nr.›</a:t>
            </a:fld>
            <a:endParaRPr lang="nl-NL"/>
          </a:p>
        </p:txBody>
      </p:sp>
      <p:sp>
        <p:nvSpPr>
          <p:cNvPr id="10" name="Footer Placeholder 9"/>
          <p:cNvSpPr>
            <a:spLocks noGrp="1"/>
          </p:cNvSpPr>
          <p:nvPr>
            <p:ph type="ftr" sz="quarter" idx="12"/>
          </p:nvPr>
        </p:nvSpPr>
        <p:spPr/>
        <p:txBody>
          <a:bodyPr/>
          <a:lstStyle/>
          <a:p>
            <a:endParaRPr lang="nl-N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AD8212-347D-4C89-AC81-C568C60FCCAC}" type="datetimeFigureOut">
              <a:rPr lang="nl-NL" smtClean="0"/>
              <a:pPr/>
              <a:t>27-2-2023</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F578AD4A-62BF-44EE-BE4B-647617E9574D}" type="slidenum">
              <a:rPr lang="nl-NL" smtClean="0"/>
              <a:pPr/>
              <a:t>‹Nr.›</a:t>
            </a:fld>
            <a:endParaRPr lang="nl-N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AD8212-347D-4C89-AC81-C568C60FCCAC}" type="datetimeFigureOut">
              <a:rPr lang="nl-NL" smtClean="0"/>
              <a:pPr/>
              <a:t>27-2-2023</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F578AD4A-62BF-44EE-BE4B-647617E9574D}" type="slidenum">
              <a:rPr lang="nl-NL" smtClean="0"/>
              <a:pPr/>
              <a:t>‹Nr.›</a:t>
            </a:fld>
            <a:endParaRPr lang="nl-N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F578AD4A-62BF-44EE-BE4B-647617E9574D}" type="slidenum">
              <a:rPr lang="nl-NL" smtClean="0"/>
              <a:pPr/>
              <a:t>‹Nr.›</a:t>
            </a:fld>
            <a:endParaRPr lang="nl-NL"/>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nl-NL"/>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DBAD8212-347D-4C89-AC81-C568C60FCCAC}" type="datetimeFigureOut">
              <a:rPr lang="nl-NL" smtClean="0"/>
              <a:pPr/>
              <a:t>27-2-2023</a:t>
            </a:fld>
            <a:endParaRPr lang="nl-NL"/>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hyperlink" Target="https://www.google.nl/url?sa=i&amp;rct=j&amp;q=&amp;esrc=s&amp;source=images&amp;cd=&amp;cad=rja&amp;uact=8&amp;ved=0ahUKEwifgNrW7-_UAhUkJJoKHbT5AMwQjRwIBw&amp;url=http://www.mathematik.uni-marburg.de/~agricola/Hopf2017/&amp;psig=AFQjCNE3GwAloMo7u0IQF4Tol9VTXUaHZA&amp;ust=1499266016477973"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1520" y="2060848"/>
            <a:ext cx="9144000" cy="2304256"/>
          </a:xfrm>
        </p:spPr>
        <p:txBody>
          <a:bodyPr/>
          <a:lstStyle/>
          <a:p>
            <a:r>
              <a:rPr lang="de-DE" sz="3600" b="1" dirty="0">
                <a:latin typeface="Georgia" panose="02040502050405020303" pitchFamily="18" charset="0"/>
              </a:rPr>
              <a:t>Erwartungswidrige Fokuspartikeln; </a:t>
            </a:r>
            <a:r>
              <a:rPr lang="de-DE" sz="1600" b="1" dirty="0">
                <a:effectLst/>
                <a:latin typeface="Georgia" panose="02040502050405020303" pitchFamily="18" charset="0"/>
                <a:ea typeface="Calibri" panose="020F0502020204030204" pitchFamily="34" charset="0"/>
              </a:rPr>
              <a:t>Experimente zu </a:t>
            </a:r>
            <a:r>
              <a:rPr lang="de-DE" sz="1600" b="1" i="1" dirty="0">
                <a:effectLst/>
                <a:latin typeface="Georgia" panose="02040502050405020303" pitchFamily="18" charset="0"/>
                <a:ea typeface="Calibri" panose="020F0502020204030204" pitchFamily="34" charset="0"/>
              </a:rPr>
              <a:t>eben, ausgerechnet, gerade </a:t>
            </a:r>
            <a:r>
              <a:rPr lang="de-DE" sz="1600" b="1" dirty="0">
                <a:effectLst/>
                <a:latin typeface="Georgia" panose="02040502050405020303" pitchFamily="18" charset="0"/>
                <a:ea typeface="Calibri" panose="020F0502020204030204" pitchFamily="34" charset="0"/>
              </a:rPr>
              <a:t>und </a:t>
            </a:r>
            <a:r>
              <a:rPr lang="de-DE" sz="1600" b="1" i="1" dirty="0">
                <a:effectLst/>
                <a:latin typeface="Georgia" panose="02040502050405020303" pitchFamily="18" charset="0"/>
                <a:ea typeface="Calibri" panose="020F0502020204030204" pitchFamily="34" charset="0"/>
              </a:rPr>
              <a:t>genau</a:t>
            </a:r>
            <a:br>
              <a:rPr lang="de-DE" sz="1800" dirty="0">
                <a:effectLst/>
                <a:latin typeface="Times New Roman" panose="02020603050405020304" pitchFamily="18" charset="0"/>
                <a:ea typeface="Calibri" panose="020F0502020204030204" pitchFamily="34" charset="0"/>
              </a:rPr>
            </a:br>
            <a:endParaRPr lang="nl-NL" sz="3600" b="1" dirty="0">
              <a:latin typeface="Georgia" panose="02040502050405020303" pitchFamily="18" charset="0"/>
            </a:endParaRPr>
          </a:p>
        </p:txBody>
      </p:sp>
      <p:sp>
        <p:nvSpPr>
          <p:cNvPr id="4" name="TextBox 3"/>
          <p:cNvSpPr txBox="1"/>
          <p:nvPr/>
        </p:nvSpPr>
        <p:spPr>
          <a:xfrm>
            <a:off x="5580112" y="6119336"/>
            <a:ext cx="4032448" cy="954107"/>
          </a:xfrm>
          <a:prstGeom prst="rect">
            <a:avLst/>
          </a:prstGeom>
          <a:noFill/>
        </p:spPr>
        <p:txBody>
          <a:bodyPr wrap="square" rtlCol="0">
            <a:spAutoFit/>
          </a:bodyPr>
          <a:lstStyle/>
          <a:p>
            <a:r>
              <a:rPr lang="en-US" sz="1400" dirty="0">
                <a:solidFill>
                  <a:schemeClr val="tx1">
                    <a:lumMod val="75000"/>
                    <a:lumOff val="25000"/>
                  </a:schemeClr>
                </a:solidFill>
                <a:latin typeface="Georgia" panose="02040502050405020303" pitchFamily="18" charset="0"/>
              </a:rPr>
              <a:t>Margarethe Annedore van Liempt</a:t>
            </a:r>
            <a:br>
              <a:rPr lang="en-US" sz="1400" dirty="0">
                <a:solidFill>
                  <a:schemeClr val="tx1">
                    <a:lumMod val="75000"/>
                    <a:lumOff val="25000"/>
                  </a:schemeClr>
                </a:solidFill>
                <a:latin typeface="Georgia" panose="02040502050405020303" pitchFamily="18" charset="0"/>
              </a:rPr>
            </a:br>
            <a:r>
              <a:rPr lang="en-US" sz="1400" dirty="0">
                <a:solidFill>
                  <a:schemeClr val="tx1">
                    <a:lumMod val="75000"/>
                    <a:lumOff val="25000"/>
                  </a:schemeClr>
                </a:solidFill>
                <a:latin typeface="Georgia" panose="02040502050405020303" pitchFamily="18" charset="0"/>
              </a:rPr>
              <a:t>Eberhard </a:t>
            </a:r>
            <a:r>
              <a:rPr lang="en-US" sz="1400" dirty="0" err="1">
                <a:solidFill>
                  <a:schemeClr val="tx1">
                    <a:lumMod val="75000"/>
                    <a:lumOff val="25000"/>
                  </a:schemeClr>
                </a:solidFill>
                <a:latin typeface="Georgia" panose="02040502050405020303" pitchFamily="18" charset="0"/>
              </a:rPr>
              <a:t>Karls</a:t>
            </a:r>
            <a:r>
              <a:rPr lang="en-US" sz="1400" dirty="0">
                <a:solidFill>
                  <a:schemeClr val="tx1">
                    <a:lumMod val="75000"/>
                    <a:lumOff val="25000"/>
                  </a:schemeClr>
                </a:solidFill>
                <a:latin typeface="Georgia" panose="02040502050405020303" pitchFamily="18" charset="0"/>
              </a:rPr>
              <a:t> </a:t>
            </a:r>
            <a:br>
              <a:rPr lang="en-US" sz="1400" dirty="0">
                <a:solidFill>
                  <a:schemeClr val="tx1">
                    <a:lumMod val="75000"/>
                    <a:lumOff val="25000"/>
                  </a:schemeClr>
                </a:solidFill>
                <a:latin typeface="Georgia" panose="02040502050405020303" pitchFamily="18" charset="0"/>
              </a:rPr>
            </a:br>
            <a:r>
              <a:rPr lang="en-US" sz="1400" dirty="0">
                <a:solidFill>
                  <a:schemeClr val="tx1">
                    <a:lumMod val="75000"/>
                    <a:lumOff val="25000"/>
                  </a:schemeClr>
                </a:solidFill>
                <a:latin typeface="Georgia" panose="02040502050405020303" pitchFamily="18" charset="0"/>
              </a:rPr>
              <a:t>Universität Tübingen </a:t>
            </a:r>
          </a:p>
          <a:p>
            <a:endParaRPr lang="nl-NL" sz="1400" dirty="0">
              <a:solidFill>
                <a:schemeClr val="tx1">
                  <a:lumMod val="75000"/>
                  <a:lumOff val="25000"/>
                </a:schemeClr>
              </a:solidFill>
              <a:latin typeface="Georgia" panose="02040502050405020303" pitchFamily="18" charset="0"/>
            </a:endParaRPr>
          </a:p>
        </p:txBody>
      </p:sp>
      <p:sp>
        <p:nvSpPr>
          <p:cNvPr id="15362" name="AutoShape 2" descr="Afbeeldingsresultaat voor uni marburg">
            <a:hlinkClick r:id="rId2"/>
          </p:cNvPr>
          <p:cNvSpPr>
            <a:spLocks noChangeAspect="1" noChangeArrowheads="1"/>
          </p:cNvSpPr>
          <p:nvPr/>
        </p:nvSpPr>
        <p:spPr bwMode="auto">
          <a:xfrm>
            <a:off x="53975" y="-609600"/>
            <a:ext cx="3571875" cy="12763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64" name="AutoShape 4" descr="Afbeeldingsresultaat voor uni marburg">
            <a:hlinkClick r:id="rId2"/>
          </p:cNvPr>
          <p:cNvSpPr>
            <a:spLocks noChangeAspect="1" noChangeArrowheads="1"/>
          </p:cNvSpPr>
          <p:nvPr/>
        </p:nvSpPr>
        <p:spPr bwMode="auto">
          <a:xfrm>
            <a:off x="53975" y="-609600"/>
            <a:ext cx="3571875" cy="12763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66" name="AutoShape 6" descr="Afbeeldingsresultaat voor uni marburg">
            <a:hlinkClick r:id="rId2"/>
          </p:cNvPr>
          <p:cNvSpPr>
            <a:spLocks noChangeAspect="1" noChangeArrowheads="1"/>
          </p:cNvSpPr>
          <p:nvPr/>
        </p:nvSpPr>
        <p:spPr bwMode="auto">
          <a:xfrm>
            <a:off x="53975" y="-609600"/>
            <a:ext cx="3571875" cy="12763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68" name="AutoShape 8" descr="Afbeeldingsresultaat voor uni marburg">
            <a:hlinkClick r:id="rId2"/>
          </p:cNvPr>
          <p:cNvSpPr>
            <a:spLocks noChangeAspect="1" noChangeArrowheads="1"/>
          </p:cNvSpPr>
          <p:nvPr/>
        </p:nvSpPr>
        <p:spPr bwMode="auto">
          <a:xfrm>
            <a:off x="1331640" y="260648"/>
            <a:ext cx="3571875" cy="12763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70" name="AutoShape 10" descr="Afbeeldingsresultaat voor uni marburg">
            <a:hlinkClick r:id="rId2"/>
          </p:cNvPr>
          <p:cNvSpPr>
            <a:spLocks noChangeAspect="1" noChangeArrowheads="1"/>
          </p:cNvSpPr>
          <p:nvPr/>
        </p:nvSpPr>
        <p:spPr bwMode="auto">
          <a:xfrm>
            <a:off x="53975" y="-609600"/>
            <a:ext cx="3571875" cy="12763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72" name="AutoShape 12" descr="Afbeeldingsresultaat voor uni marburg">
            <a:hlinkClick r:id="rId2"/>
          </p:cNvPr>
          <p:cNvSpPr>
            <a:spLocks noChangeAspect="1" noChangeArrowheads="1"/>
          </p:cNvSpPr>
          <p:nvPr/>
        </p:nvSpPr>
        <p:spPr bwMode="auto">
          <a:xfrm>
            <a:off x="53975" y="-609600"/>
            <a:ext cx="3571875" cy="12763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5" name="Grafik 4" descr="Ein Bild, das Text enthält.&#10;&#10;Automatisch generierte Beschreibung">
            <a:extLst>
              <a:ext uri="{FF2B5EF4-FFF2-40B4-BE49-F238E27FC236}">
                <a16:creationId xmlns:a16="http://schemas.microsoft.com/office/drawing/2014/main" id="{041F54C9-8862-D9A1-C2BD-E8ECCE776E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95736" y="1052736"/>
            <a:ext cx="4903515" cy="1259149"/>
          </a:xfrm>
          <a:prstGeom prst="rect">
            <a:avLst/>
          </a:prstGeom>
        </p:spPr>
      </p:pic>
    </p:spTree>
    <p:extLst>
      <p:ext uri="{BB962C8B-B14F-4D97-AF65-F5344CB8AC3E}">
        <p14:creationId xmlns:p14="http://schemas.microsoft.com/office/powerpoint/2010/main" val="853035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763688"/>
            <a:ext cx="7620000" cy="4800600"/>
          </a:xfrm>
        </p:spPr>
        <p:txBody>
          <a:bodyPr>
            <a:normAutofit/>
          </a:bodyPr>
          <a:lstStyle/>
          <a:p>
            <a:r>
              <a:rPr lang="nl-NL" dirty="0" err="1">
                <a:latin typeface="Georgia" panose="02040502050405020303" pitchFamily="18" charset="0"/>
              </a:rPr>
              <a:t>Einführung</a:t>
            </a:r>
            <a:endParaRPr lang="nl-NL" dirty="0">
              <a:latin typeface="Georgia" panose="02040502050405020303" pitchFamily="18" charset="0"/>
            </a:endParaRPr>
          </a:p>
          <a:p>
            <a:endParaRPr lang="nl-NL" dirty="0">
              <a:latin typeface="Georgia" panose="02040502050405020303" pitchFamily="18" charset="0"/>
            </a:endParaRPr>
          </a:p>
          <a:p>
            <a:r>
              <a:rPr lang="nl-NL" dirty="0">
                <a:latin typeface="Georgia" panose="02040502050405020303" pitchFamily="18" charset="0"/>
              </a:rPr>
              <a:t>Vorschlag</a:t>
            </a:r>
          </a:p>
          <a:p>
            <a:endParaRPr lang="nl-NL" dirty="0">
              <a:latin typeface="Georgia" panose="02040502050405020303" pitchFamily="18" charset="0"/>
            </a:endParaRPr>
          </a:p>
          <a:p>
            <a:r>
              <a:rPr lang="nl-NL" dirty="0">
                <a:latin typeface="Georgia" panose="02040502050405020303" pitchFamily="18" charset="0"/>
              </a:rPr>
              <a:t>Hypothese</a:t>
            </a:r>
          </a:p>
          <a:p>
            <a:endParaRPr lang="nl-NL" dirty="0">
              <a:latin typeface="Georgia" panose="02040502050405020303" pitchFamily="18" charset="0"/>
            </a:endParaRPr>
          </a:p>
          <a:p>
            <a:r>
              <a:rPr lang="nl-NL" dirty="0">
                <a:latin typeface="Georgia" panose="02040502050405020303" pitchFamily="18" charset="0"/>
              </a:rPr>
              <a:t>Experimente</a:t>
            </a:r>
          </a:p>
          <a:p>
            <a:endParaRPr lang="nl-NL"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p:txBody>
      </p:sp>
      <p:sp>
        <p:nvSpPr>
          <p:cNvPr id="5" name="Title 1"/>
          <p:cNvSpPr txBox="1">
            <a:spLocks/>
          </p:cNvSpPr>
          <p:nvPr/>
        </p:nvSpPr>
        <p:spPr>
          <a:xfrm>
            <a:off x="497837" y="620688"/>
            <a:ext cx="7620000" cy="1143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r>
              <a:rPr lang="en-US" dirty="0" err="1">
                <a:latin typeface="Georgia" panose="02040502050405020303" pitchFamily="18" charset="0"/>
              </a:rPr>
              <a:t>Inhaltsangabe</a:t>
            </a:r>
            <a:endParaRPr lang="nl-NL" dirty="0">
              <a:latin typeface="Georgia" panose="02040502050405020303" pitchFamily="18" charset="0"/>
            </a:endParaRPr>
          </a:p>
        </p:txBody>
      </p:sp>
    </p:spTree>
    <p:extLst>
      <p:ext uri="{BB962C8B-B14F-4D97-AF65-F5344CB8AC3E}">
        <p14:creationId xmlns:p14="http://schemas.microsoft.com/office/powerpoint/2010/main" val="1485775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Einführung</a:t>
            </a:r>
            <a:endParaRPr lang="nl-NL" dirty="0">
              <a:latin typeface="Georgia" panose="02040502050405020303" pitchFamily="18" charset="0"/>
            </a:endParaRPr>
          </a:p>
        </p:txBody>
      </p:sp>
      <p:sp>
        <p:nvSpPr>
          <p:cNvPr id="3" name="Content Placeholder 2"/>
          <p:cNvSpPr>
            <a:spLocks noGrp="1"/>
          </p:cNvSpPr>
          <p:nvPr>
            <p:ph idx="1"/>
          </p:nvPr>
        </p:nvSpPr>
        <p:spPr>
          <a:xfrm>
            <a:off x="497837" y="1787277"/>
            <a:ext cx="7620000" cy="4800600"/>
          </a:xfrm>
        </p:spPr>
        <p:txBody>
          <a:bodyPr/>
          <a:lstStyle/>
          <a:p>
            <a:endParaRPr lang="en-US"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a:p>
            <a:pPr>
              <a:buNone/>
            </a:pPr>
            <a:endParaRPr lang="nl-NL" dirty="0">
              <a:latin typeface="Georgia" panose="02040502050405020303" pitchFamily="18" charset="0"/>
            </a:endParaRPr>
          </a:p>
          <a:p>
            <a:endParaRPr lang="nl-NL" dirty="0">
              <a:latin typeface="Georgia" panose="02040502050405020303" pitchFamily="18" charset="0"/>
            </a:endParaRPr>
          </a:p>
          <a:p>
            <a:pPr>
              <a:buNone/>
            </a:pPr>
            <a:endParaRPr lang="nl-NL" dirty="0">
              <a:latin typeface="Georgia" panose="02040502050405020303" pitchFamily="18" charset="0"/>
            </a:endParaRPr>
          </a:p>
          <a:p>
            <a:endParaRPr lang="nl-NL" dirty="0">
              <a:latin typeface="Georgia" panose="02040502050405020303" pitchFamily="18" charset="0"/>
            </a:endParaRPr>
          </a:p>
        </p:txBody>
      </p:sp>
      <p:sp>
        <p:nvSpPr>
          <p:cNvPr id="8" name="Content Placeholder 2">
            <a:extLst>
              <a:ext uri="{FF2B5EF4-FFF2-40B4-BE49-F238E27FC236}">
                <a16:creationId xmlns:a16="http://schemas.microsoft.com/office/drawing/2014/main" id="{2825FD2F-6484-741A-66B4-7EB0AA783294}"/>
              </a:ext>
            </a:extLst>
          </p:cNvPr>
          <p:cNvSpPr txBox="1">
            <a:spLocks/>
          </p:cNvSpPr>
          <p:nvPr/>
        </p:nvSpPr>
        <p:spPr>
          <a:xfrm>
            <a:off x="497837" y="2057400"/>
            <a:ext cx="7620000" cy="4800600"/>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r>
              <a:rPr lang="nl-NL" b="1" dirty="0">
                <a:latin typeface="Georgia" panose="02040502050405020303" pitchFamily="18" charset="0"/>
              </a:rPr>
              <a:t>Fokuspartikeln</a:t>
            </a:r>
            <a:r>
              <a:rPr lang="nl-NL" dirty="0">
                <a:latin typeface="Georgia" panose="02040502050405020303" pitchFamily="18" charset="0"/>
              </a:rPr>
              <a:t>.</a:t>
            </a:r>
          </a:p>
          <a:p>
            <a:endParaRPr lang="nl-NL" b="1" dirty="0">
              <a:latin typeface="Georgia" panose="02040502050405020303" pitchFamily="18" charset="0"/>
            </a:endParaRPr>
          </a:p>
          <a:p>
            <a:r>
              <a:rPr lang="nl-NL" dirty="0">
                <a:latin typeface="Georgia" panose="02040502050405020303" pitchFamily="18" charset="0"/>
              </a:rPr>
              <a:t>Bekannte Gruppen: restriktive, additive und (hybride) skalare Fokuspartikeln. </a:t>
            </a:r>
          </a:p>
          <a:p>
            <a:endParaRPr lang="nl-NL" dirty="0">
              <a:latin typeface="Georgia" panose="02040502050405020303" pitchFamily="18" charset="0"/>
            </a:endParaRPr>
          </a:p>
          <a:p>
            <a:pPr lvl="1"/>
            <a:r>
              <a:rPr lang="de-DE" sz="1600" i="1" dirty="0">
                <a:latin typeface="Georgia" panose="02040502050405020303" pitchFamily="18" charset="0"/>
              </a:rPr>
              <a:t>allein, auch, auch nur, </a:t>
            </a:r>
            <a:r>
              <a:rPr lang="de-DE" sz="1600" i="1" dirty="0">
                <a:highlight>
                  <a:srgbClr val="FFFF00"/>
                </a:highlight>
                <a:latin typeface="Georgia" panose="02040502050405020303" pitchFamily="18" charset="0"/>
              </a:rPr>
              <a:t>ausgerechnet</a:t>
            </a:r>
            <a:r>
              <a:rPr lang="de-DE" sz="1600" i="1" dirty="0">
                <a:latin typeface="Georgia" panose="02040502050405020303" pitchFamily="18" charset="0"/>
              </a:rPr>
              <a:t>, ausschließlich, bereits, besonders, bloß, einzig, </a:t>
            </a:r>
            <a:r>
              <a:rPr lang="de-DE" sz="1600" i="1" dirty="0">
                <a:highlight>
                  <a:srgbClr val="FFFF00"/>
                </a:highlight>
                <a:latin typeface="Georgia" panose="02040502050405020303" pitchFamily="18" charset="0"/>
              </a:rPr>
              <a:t>eben</a:t>
            </a:r>
            <a:r>
              <a:rPr lang="de-DE" sz="1600" i="1" dirty="0">
                <a:latin typeface="Georgia" panose="02040502050405020303" pitchFamily="18" charset="0"/>
              </a:rPr>
              <a:t>, ebenfalls, erst, gar, </a:t>
            </a:r>
            <a:r>
              <a:rPr lang="de-DE" sz="1600" i="1" dirty="0">
                <a:highlight>
                  <a:srgbClr val="FFFF00"/>
                </a:highlight>
                <a:latin typeface="Georgia" panose="02040502050405020303" pitchFamily="18" charset="0"/>
              </a:rPr>
              <a:t>genau</a:t>
            </a:r>
            <a:r>
              <a:rPr lang="de-DE" sz="1600" i="1" dirty="0">
                <a:latin typeface="Georgia" panose="02040502050405020303" pitchFamily="18" charset="0"/>
              </a:rPr>
              <a:t>, geschweige denn, </a:t>
            </a:r>
            <a:r>
              <a:rPr lang="de-DE" sz="1600" i="1" dirty="0">
                <a:highlight>
                  <a:srgbClr val="FFFF00"/>
                </a:highlight>
                <a:latin typeface="Georgia" panose="02040502050405020303" pitchFamily="18" charset="0"/>
              </a:rPr>
              <a:t>gerade</a:t>
            </a:r>
            <a:r>
              <a:rPr lang="de-DE" sz="1600" i="1" dirty="0">
                <a:latin typeface="Georgia" panose="02040502050405020303" pitchFamily="18" charset="0"/>
              </a:rPr>
              <a:t>, gleich, gleichfalls, insbesondere, lediglich, (nicht) einmal, noch, nur, schon, selbst, sogar, vor allem, wenigstens, zumal, zumindest. </a:t>
            </a:r>
          </a:p>
          <a:p>
            <a:pPr marL="411480" lvl="1" indent="0">
              <a:buNone/>
            </a:pPr>
            <a:r>
              <a:rPr lang="de-DE" sz="1600" i="1" dirty="0">
                <a:latin typeface="Georgia" panose="02040502050405020303" pitchFamily="18" charset="0"/>
              </a:rPr>
              <a:t>     </a:t>
            </a:r>
            <a:r>
              <a:rPr lang="nl-NL" sz="1400" dirty="0">
                <a:latin typeface="Georgia" panose="02040502050405020303" pitchFamily="18" charset="0"/>
              </a:rPr>
              <a:t>(König 1991a: 10)</a:t>
            </a:r>
          </a:p>
          <a:p>
            <a:pPr lvl="1"/>
            <a:endParaRPr lang="nl-NL" sz="1600" i="1"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p:txBody>
      </p:sp>
      <p:graphicFrame>
        <p:nvGraphicFramePr>
          <p:cNvPr id="4" name="Tabelle 4">
            <a:extLst>
              <a:ext uri="{FF2B5EF4-FFF2-40B4-BE49-F238E27FC236}">
                <a16:creationId xmlns:a16="http://schemas.microsoft.com/office/drawing/2014/main" id="{6427022B-5D64-871D-B7DA-089146A51C4D}"/>
              </a:ext>
            </a:extLst>
          </p:cNvPr>
          <p:cNvGraphicFramePr>
            <a:graphicFrameLocks noGrp="1"/>
          </p:cNvGraphicFramePr>
          <p:nvPr>
            <p:extLst>
              <p:ext uri="{D42A27DB-BD31-4B8C-83A1-F6EECF244321}">
                <p14:modId xmlns:p14="http://schemas.microsoft.com/office/powerpoint/2010/main" val="4253010042"/>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570910268"/>
                    </a:ext>
                  </a:extLst>
                </a:gridCol>
                <a:gridCol w="2286000">
                  <a:extLst>
                    <a:ext uri="{9D8B030D-6E8A-4147-A177-3AD203B41FA5}">
                      <a16:colId xmlns:a16="http://schemas.microsoft.com/office/drawing/2014/main" val="2767606074"/>
                    </a:ext>
                  </a:extLst>
                </a:gridCol>
                <a:gridCol w="2286000">
                  <a:extLst>
                    <a:ext uri="{9D8B030D-6E8A-4147-A177-3AD203B41FA5}">
                      <a16:colId xmlns:a16="http://schemas.microsoft.com/office/drawing/2014/main" val="3625186058"/>
                    </a:ext>
                  </a:extLst>
                </a:gridCol>
                <a:gridCol w="2286000">
                  <a:extLst>
                    <a:ext uri="{9D8B030D-6E8A-4147-A177-3AD203B41FA5}">
                      <a16:colId xmlns:a16="http://schemas.microsoft.com/office/drawing/2014/main" val="3975910008"/>
                    </a:ext>
                  </a:extLst>
                </a:gridCol>
              </a:tblGrid>
              <a:tr h="350565">
                <a:tc>
                  <a:txBody>
                    <a:bodyPr/>
                    <a:lstStyle/>
                    <a:p>
                      <a:r>
                        <a:rPr lang="nl-NL" dirty="0">
                          <a:solidFill>
                            <a:schemeClr val="bg1"/>
                          </a:solidFill>
                        </a:rPr>
                        <a:t>Einführung</a:t>
                      </a:r>
                      <a:endParaRPr lang="de-DE" dirty="0">
                        <a:solidFill>
                          <a:schemeClr val="bg1"/>
                        </a:solidFill>
                      </a:endParaRPr>
                    </a:p>
                  </a:txBody>
                  <a:tcPr/>
                </a:tc>
                <a:tc>
                  <a:txBody>
                    <a:bodyPr/>
                    <a:lstStyle/>
                    <a:p>
                      <a:r>
                        <a:rPr lang="nl-NL" dirty="0">
                          <a:solidFill>
                            <a:schemeClr val="tx1">
                              <a:lumMod val="75000"/>
                              <a:lumOff val="25000"/>
                            </a:schemeClr>
                          </a:solidFill>
                        </a:rPr>
                        <a:t>Vorschlag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Hypothese</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a16="http://schemas.microsoft.com/office/drawing/2014/main" val="3071743559"/>
                  </a:ext>
                </a:extLst>
              </a:tr>
            </a:tbl>
          </a:graphicData>
        </a:graphic>
      </p:graphicFrame>
    </p:spTree>
    <p:extLst>
      <p:ext uri="{BB962C8B-B14F-4D97-AF65-F5344CB8AC3E}">
        <p14:creationId xmlns:p14="http://schemas.microsoft.com/office/powerpoint/2010/main" val="4005500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Einführung</a:t>
            </a:r>
            <a:endParaRPr lang="nl-NL" dirty="0">
              <a:latin typeface="Georgia" panose="02040502050405020303" pitchFamily="18" charset="0"/>
            </a:endParaRPr>
          </a:p>
        </p:txBody>
      </p:sp>
      <p:sp>
        <p:nvSpPr>
          <p:cNvPr id="8" name="Content Placeholder 2">
            <a:extLst>
              <a:ext uri="{FF2B5EF4-FFF2-40B4-BE49-F238E27FC236}">
                <a16:creationId xmlns:a16="http://schemas.microsoft.com/office/drawing/2014/main" id="{2825FD2F-6484-741A-66B4-7EB0AA783294}"/>
              </a:ext>
            </a:extLst>
          </p:cNvPr>
          <p:cNvSpPr txBox="1">
            <a:spLocks/>
          </p:cNvSpPr>
          <p:nvPr/>
        </p:nvSpPr>
        <p:spPr>
          <a:xfrm>
            <a:off x="497837" y="2057400"/>
            <a:ext cx="7620000" cy="4800600"/>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r>
              <a:rPr lang="de-DE" dirty="0">
                <a:latin typeface="Georgia" panose="02040502050405020303" pitchFamily="18" charset="0"/>
              </a:rPr>
              <a:t>„Partikeln, die die Funktion haben, bestimmte Elemente eines Satzes hervorzuheben. Zusammen mit deren Bezugsausdruck (worauf der Fokus gelegt wird) bilden sie den Informationskern des Satzes. Das Weglassen der Fokuspartikel verändert nicht die grammatische Richtigkeit des Satzes, kann und soll aber die Bedeutung des Satzes verändern.“</a:t>
            </a:r>
          </a:p>
          <a:p>
            <a:pPr lvl="6"/>
            <a:r>
              <a:rPr lang="de-DE" dirty="0">
                <a:latin typeface="Georgia" panose="02040502050405020303" pitchFamily="18" charset="0"/>
              </a:rPr>
              <a:t>Inspiriert von der Definition von Dimroth (2004: 14-15)</a:t>
            </a:r>
          </a:p>
          <a:p>
            <a:pPr marL="114300" indent="0">
              <a:buNone/>
            </a:pPr>
            <a:endParaRPr lang="de-DE" dirty="0">
              <a:latin typeface="Georgia" panose="02040502050405020303" pitchFamily="18" charset="0"/>
            </a:endParaRPr>
          </a:p>
          <a:p>
            <a:endParaRPr lang="nl-NL" dirty="0">
              <a:latin typeface="Georgia" panose="02040502050405020303" pitchFamily="18" charset="0"/>
            </a:endParaRPr>
          </a:p>
          <a:p>
            <a:pPr lvl="1"/>
            <a:endParaRPr lang="nl-NL" sz="1600" i="1"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p:txBody>
      </p:sp>
      <p:graphicFrame>
        <p:nvGraphicFramePr>
          <p:cNvPr id="4" name="Tabelle 4">
            <a:extLst>
              <a:ext uri="{FF2B5EF4-FFF2-40B4-BE49-F238E27FC236}">
                <a16:creationId xmlns:a16="http://schemas.microsoft.com/office/drawing/2014/main" id="{B71A1041-093A-113F-326E-D9729E7610F9}"/>
              </a:ext>
            </a:extLst>
          </p:cNvPr>
          <p:cNvGraphicFramePr>
            <a:graphicFrameLocks noGrp="1"/>
          </p:cNvGraphicFramePr>
          <p:nvPr>
            <p:extLst>
              <p:ext uri="{D42A27DB-BD31-4B8C-83A1-F6EECF244321}">
                <p14:modId xmlns:p14="http://schemas.microsoft.com/office/powerpoint/2010/main" val="3013657257"/>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570910268"/>
                    </a:ext>
                  </a:extLst>
                </a:gridCol>
                <a:gridCol w="2286000">
                  <a:extLst>
                    <a:ext uri="{9D8B030D-6E8A-4147-A177-3AD203B41FA5}">
                      <a16:colId xmlns:a16="http://schemas.microsoft.com/office/drawing/2014/main" val="2767606074"/>
                    </a:ext>
                  </a:extLst>
                </a:gridCol>
                <a:gridCol w="2286000">
                  <a:extLst>
                    <a:ext uri="{9D8B030D-6E8A-4147-A177-3AD203B41FA5}">
                      <a16:colId xmlns:a16="http://schemas.microsoft.com/office/drawing/2014/main" val="3625186058"/>
                    </a:ext>
                  </a:extLst>
                </a:gridCol>
                <a:gridCol w="2286000">
                  <a:extLst>
                    <a:ext uri="{9D8B030D-6E8A-4147-A177-3AD203B41FA5}">
                      <a16:colId xmlns:a16="http://schemas.microsoft.com/office/drawing/2014/main" val="3975910008"/>
                    </a:ext>
                  </a:extLst>
                </a:gridCol>
              </a:tblGrid>
              <a:tr h="350565">
                <a:tc>
                  <a:txBody>
                    <a:bodyPr/>
                    <a:lstStyle/>
                    <a:p>
                      <a:r>
                        <a:rPr lang="nl-NL" dirty="0">
                          <a:solidFill>
                            <a:schemeClr val="bg1"/>
                          </a:solidFill>
                        </a:rPr>
                        <a:t>Einführung</a:t>
                      </a:r>
                      <a:endParaRPr lang="de-DE" dirty="0">
                        <a:solidFill>
                          <a:schemeClr val="bg1"/>
                        </a:solidFill>
                      </a:endParaRPr>
                    </a:p>
                  </a:txBody>
                  <a:tcPr/>
                </a:tc>
                <a:tc>
                  <a:txBody>
                    <a:bodyPr/>
                    <a:lstStyle/>
                    <a:p>
                      <a:r>
                        <a:rPr lang="nl-NL" dirty="0">
                          <a:solidFill>
                            <a:schemeClr val="tx1">
                              <a:lumMod val="75000"/>
                              <a:lumOff val="25000"/>
                            </a:schemeClr>
                          </a:solidFill>
                        </a:rPr>
                        <a:t>Vorschlag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Hypothese</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a16="http://schemas.microsoft.com/office/drawing/2014/main" val="3071743559"/>
                  </a:ext>
                </a:extLst>
              </a:tr>
            </a:tbl>
          </a:graphicData>
        </a:graphic>
      </p:graphicFrame>
    </p:spTree>
    <p:extLst>
      <p:ext uri="{BB962C8B-B14F-4D97-AF65-F5344CB8AC3E}">
        <p14:creationId xmlns:p14="http://schemas.microsoft.com/office/powerpoint/2010/main" val="1026030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Einführung</a:t>
            </a:r>
            <a:endParaRPr lang="nl-NL" dirty="0">
              <a:latin typeface="Georgia" panose="02040502050405020303" pitchFamily="18" charset="0"/>
            </a:endParaRPr>
          </a:p>
        </p:txBody>
      </p:sp>
      <p:sp>
        <p:nvSpPr>
          <p:cNvPr id="3" name="Content Placeholder 2"/>
          <p:cNvSpPr>
            <a:spLocks noGrp="1"/>
          </p:cNvSpPr>
          <p:nvPr>
            <p:ph idx="1"/>
          </p:nvPr>
        </p:nvSpPr>
        <p:spPr>
          <a:xfrm>
            <a:off x="497837" y="1787277"/>
            <a:ext cx="7620000" cy="4800600"/>
          </a:xfrm>
        </p:spPr>
        <p:txBody>
          <a:bodyPr/>
          <a:lstStyle/>
          <a:p>
            <a:endParaRPr lang="en-US" dirty="0">
              <a:latin typeface="Georgia" panose="02040502050405020303" pitchFamily="18" charset="0"/>
            </a:endParaRPr>
          </a:p>
          <a:p>
            <a:endParaRPr lang="nl-NL" sz="2400" dirty="0">
              <a:highlight>
                <a:srgbClr val="FFFF00"/>
              </a:highlight>
              <a:latin typeface="Georgia" panose="02040502050405020303" pitchFamily="18" charset="0"/>
            </a:endParaRPr>
          </a:p>
          <a:p>
            <a:endParaRPr lang="nl-NL" sz="2400" dirty="0">
              <a:highlight>
                <a:srgbClr val="FFFF00"/>
              </a:highlight>
              <a:latin typeface="Georgia" panose="02040502050405020303" pitchFamily="18" charset="0"/>
            </a:endParaRPr>
          </a:p>
          <a:p>
            <a:endParaRPr lang="nl-NL" dirty="0">
              <a:latin typeface="Georgia" panose="02040502050405020303" pitchFamily="18" charset="0"/>
            </a:endParaRPr>
          </a:p>
          <a:p>
            <a:pPr marL="114300" indent="0">
              <a:buNone/>
            </a:pPr>
            <a:endParaRPr lang="nl-NL"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a:p>
            <a:pPr>
              <a:buNone/>
            </a:pPr>
            <a:endParaRPr lang="nl-NL" dirty="0">
              <a:latin typeface="Georgia" panose="02040502050405020303" pitchFamily="18" charset="0"/>
            </a:endParaRPr>
          </a:p>
          <a:p>
            <a:endParaRPr lang="nl-NL" dirty="0">
              <a:latin typeface="Georgia" panose="02040502050405020303" pitchFamily="18" charset="0"/>
            </a:endParaRPr>
          </a:p>
          <a:p>
            <a:pPr>
              <a:buNone/>
            </a:pPr>
            <a:endParaRPr lang="nl-NL" dirty="0">
              <a:latin typeface="Georgia" panose="02040502050405020303" pitchFamily="18" charset="0"/>
            </a:endParaRPr>
          </a:p>
          <a:p>
            <a:endParaRPr lang="nl-NL" dirty="0">
              <a:latin typeface="Georgia" panose="02040502050405020303" pitchFamily="18" charset="0"/>
            </a:endParaRPr>
          </a:p>
        </p:txBody>
      </p:sp>
      <p:sp>
        <p:nvSpPr>
          <p:cNvPr id="8" name="Content Placeholder 2">
            <a:extLst>
              <a:ext uri="{FF2B5EF4-FFF2-40B4-BE49-F238E27FC236}">
                <a16:creationId xmlns:a16="http://schemas.microsoft.com/office/drawing/2014/main" id="{2825FD2F-6484-741A-66B4-7EB0AA783294}"/>
              </a:ext>
            </a:extLst>
          </p:cNvPr>
          <p:cNvSpPr txBox="1">
            <a:spLocks/>
          </p:cNvSpPr>
          <p:nvPr/>
        </p:nvSpPr>
        <p:spPr>
          <a:xfrm>
            <a:off x="497837" y="2057400"/>
            <a:ext cx="7620000" cy="4800600"/>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lvl="1"/>
            <a:endParaRPr lang="nl-NL" sz="1600" i="1" dirty="0">
              <a:latin typeface="Georgia" panose="02040502050405020303" pitchFamily="18" charset="0"/>
            </a:endParaRPr>
          </a:p>
          <a:p>
            <a:endParaRPr lang="nl-NL" i="1" dirty="0">
              <a:latin typeface="Georgia" panose="02040502050405020303" pitchFamily="18" charset="0"/>
            </a:endParaRPr>
          </a:p>
          <a:p>
            <a:endParaRPr lang="nl-NL" i="1" dirty="0">
              <a:latin typeface="Georgia" panose="02040502050405020303" pitchFamily="18" charset="0"/>
            </a:endParaRPr>
          </a:p>
          <a:p>
            <a:endParaRPr lang="nl-NL" i="1" dirty="0">
              <a:latin typeface="Georgia" panose="02040502050405020303" pitchFamily="18" charset="0"/>
            </a:endParaRPr>
          </a:p>
          <a:p>
            <a:r>
              <a:rPr lang="nl-NL" i="1" dirty="0">
                <a:latin typeface="Georgia" panose="02040502050405020303" pitchFamily="18" charset="0"/>
              </a:rPr>
              <a:t>Nur </a:t>
            </a:r>
            <a:r>
              <a:rPr lang="nl-NL" dirty="0">
                <a:latin typeface="Georgia" panose="02040502050405020303" pitchFamily="18" charset="0"/>
              </a:rPr>
              <a:t>[Emma] hält einen Vortrag über Fokuspartikeln.</a:t>
            </a:r>
          </a:p>
          <a:p>
            <a:endParaRPr lang="nl-NL" dirty="0">
              <a:latin typeface="Georgia" panose="02040502050405020303" pitchFamily="18" charset="0"/>
            </a:endParaRPr>
          </a:p>
          <a:p>
            <a:endParaRPr lang="nl-NL" dirty="0">
              <a:latin typeface="Georgia" panose="02040502050405020303" pitchFamily="18" charset="0"/>
            </a:endParaRPr>
          </a:p>
        </p:txBody>
      </p:sp>
      <p:graphicFrame>
        <p:nvGraphicFramePr>
          <p:cNvPr id="5" name="Tabelle 4">
            <a:extLst>
              <a:ext uri="{FF2B5EF4-FFF2-40B4-BE49-F238E27FC236}">
                <a16:creationId xmlns:a16="http://schemas.microsoft.com/office/drawing/2014/main" id="{D011134B-28F2-0E53-FDF3-B2E8E5E68640}"/>
              </a:ext>
            </a:extLst>
          </p:cNvPr>
          <p:cNvGraphicFramePr>
            <a:graphicFrameLocks noGrp="1"/>
          </p:cNvGraphicFramePr>
          <p:nvPr>
            <p:extLst>
              <p:ext uri="{D42A27DB-BD31-4B8C-83A1-F6EECF244321}">
                <p14:modId xmlns:p14="http://schemas.microsoft.com/office/powerpoint/2010/main" val="31623090"/>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570910268"/>
                    </a:ext>
                  </a:extLst>
                </a:gridCol>
                <a:gridCol w="2286000">
                  <a:extLst>
                    <a:ext uri="{9D8B030D-6E8A-4147-A177-3AD203B41FA5}">
                      <a16:colId xmlns:a16="http://schemas.microsoft.com/office/drawing/2014/main" val="2767606074"/>
                    </a:ext>
                  </a:extLst>
                </a:gridCol>
                <a:gridCol w="2286000">
                  <a:extLst>
                    <a:ext uri="{9D8B030D-6E8A-4147-A177-3AD203B41FA5}">
                      <a16:colId xmlns:a16="http://schemas.microsoft.com/office/drawing/2014/main" val="3625186058"/>
                    </a:ext>
                  </a:extLst>
                </a:gridCol>
                <a:gridCol w="2286000">
                  <a:extLst>
                    <a:ext uri="{9D8B030D-6E8A-4147-A177-3AD203B41FA5}">
                      <a16:colId xmlns:a16="http://schemas.microsoft.com/office/drawing/2014/main" val="3975910008"/>
                    </a:ext>
                  </a:extLst>
                </a:gridCol>
              </a:tblGrid>
              <a:tr h="350565">
                <a:tc>
                  <a:txBody>
                    <a:bodyPr/>
                    <a:lstStyle/>
                    <a:p>
                      <a:r>
                        <a:rPr lang="nl-NL" dirty="0">
                          <a:solidFill>
                            <a:schemeClr val="bg1"/>
                          </a:solidFill>
                        </a:rPr>
                        <a:t>Einführung</a:t>
                      </a:r>
                      <a:endParaRPr lang="de-DE" dirty="0">
                        <a:solidFill>
                          <a:schemeClr val="bg1"/>
                        </a:solidFill>
                      </a:endParaRPr>
                    </a:p>
                  </a:txBody>
                  <a:tcPr/>
                </a:tc>
                <a:tc>
                  <a:txBody>
                    <a:bodyPr/>
                    <a:lstStyle/>
                    <a:p>
                      <a:r>
                        <a:rPr lang="nl-NL" dirty="0">
                          <a:solidFill>
                            <a:schemeClr val="tx1">
                              <a:lumMod val="75000"/>
                              <a:lumOff val="25000"/>
                            </a:schemeClr>
                          </a:solidFill>
                        </a:rPr>
                        <a:t>Vorschlag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Hypothese</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a16="http://schemas.microsoft.com/office/drawing/2014/main" val="3071743559"/>
                  </a:ext>
                </a:extLst>
              </a:tr>
            </a:tbl>
          </a:graphicData>
        </a:graphic>
      </p:graphicFrame>
    </p:spTree>
    <p:extLst>
      <p:ext uri="{BB962C8B-B14F-4D97-AF65-F5344CB8AC3E}">
        <p14:creationId xmlns:p14="http://schemas.microsoft.com/office/powerpoint/2010/main" val="3866537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Einführung</a:t>
            </a:r>
            <a:endParaRPr lang="nl-NL" dirty="0">
              <a:latin typeface="Georgia" panose="02040502050405020303" pitchFamily="18" charset="0"/>
            </a:endParaRPr>
          </a:p>
        </p:txBody>
      </p:sp>
      <p:sp>
        <p:nvSpPr>
          <p:cNvPr id="3" name="Content Placeholder 2"/>
          <p:cNvSpPr>
            <a:spLocks noGrp="1"/>
          </p:cNvSpPr>
          <p:nvPr>
            <p:ph idx="1"/>
          </p:nvPr>
        </p:nvSpPr>
        <p:spPr>
          <a:xfrm>
            <a:off x="497837" y="1787277"/>
            <a:ext cx="7620000" cy="4800600"/>
          </a:xfrm>
        </p:spPr>
        <p:txBody>
          <a:bodyPr/>
          <a:lstStyle/>
          <a:p>
            <a:endParaRPr lang="en-US" dirty="0">
              <a:latin typeface="Georgia" panose="02040502050405020303" pitchFamily="18" charset="0"/>
            </a:endParaRPr>
          </a:p>
          <a:p>
            <a:endParaRPr lang="nl-NL" sz="2400" dirty="0">
              <a:highlight>
                <a:srgbClr val="FFFF00"/>
              </a:highlight>
              <a:latin typeface="Georgia" panose="02040502050405020303" pitchFamily="18" charset="0"/>
            </a:endParaRPr>
          </a:p>
          <a:p>
            <a:endParaRPr lang="nl-NL" sz="2400" dirty="0">
              <a:highlight>
                <a:srgbClr val="FFFF00"/>
              </a:highlight>
              <a:latin typeface="Georgia" panose="02040502050405020303" pitchFamily="18" charset="0"/>
            </a:endParaRPr>
          </a:p>
          <a:p>
            <a:endParaRPr lang="nl-NL" dirty="0">
              <a:latin typeface="Georgia" panose="02040502050405020303" pitchFamily="18" charset="0"/>
            </a:endParaRPr>
          </a:p>
          <a:p>
            <a:pPr marL="114300" indent="0">
              <a:buNone/>
            </a:pPr>
            <a:endParaRPr lang="nl-NL"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a:p>
            <a:pPr>
              <a:buNone/>
            </a:pPr>
            <a:endParaRPr lang="nl-NL" dirty="0">
              <a:latin typeface="Georgia" panose="02040502050405020303" pitchFamily="18" charset="0"/>
            </a:endParaRPr>
          </a:p>
          <a:p>
            <a:endParaRPr lang="nl-NL" dirty="0">
              <a:latin typeface="Georgia" panose="02040502050405020303" pitchFamily="18" charset="0"/>
            </a:endParaRPr>
          </a:p>
          <a:p>
            <a:pPr>
              <a:buNone/>
            </a:pPr>
            <a:endParaRPr lang="nl-NL" dirty="0">
              <a:latin typeface="Georgia" panose="02040502050405020303" pitchFamily="18" charset="0"/>
            </a:endParaRPr>
          </a:p>
          <a:p>
            <a:endParaRPr lang="nl-NL" dirty="0">
              <a:latin typeface="Georgia" panose="02040502050405020303" pitchFamily="18" charset="0"/>
            </a:endParaRPr>
          </a:p>
        </p:txBody>
      </p:sp>
      <p:sp>
        <p:nvSpPr>
          <p:cNvPr id="8" name="Content Placeholder 2">
            <a:extLst>
              <a:ext uri="{FF2B5EF4-FFF2-40B4-BE49-F238E27FC236}">
                <a16:creationId xmlns:a16="http://schemas.microsoft.com/office/drawing/2014/main" id="{2825FD2F-6484-741A-66B4-7EB0AA783294}"/>
              </a:ext>
            </a:extLst>
          </p:cNvPr>
          <p:cNvSpPr txBox="1">
            <a:spLocks/>
          </p:cNvSpPr>
          <p:nvPr/>
        </p:nvSpPr>
        <p:spPr>
          <a:xfrm>
            <a:off x="497837" y="2057400"/>
            <a:ext cx="7620000" cy="4800600"/>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lvl="1"/>
            <a:endParaRPr lang="nl-NL" sz="1600" i="1" dirty="0">
              <a:latin typeface="Georgia" panose="02040502050405020303" pitchFamily="18" charset="0"/>
            </a:endParaRPr>
          </a:p>
          <a:p>
            <a:endParaRPr lang="nl-NL" i="1" dirty="0">
              <a:latin typeface="Georgia" panose="02040502050405020303" pitchFamily="18" charset="0"/>
            </a:endParaRPr>
          </a:p>
          <a:p>
            <a:pPr marL="411480" lvl="1" indent="0">
              <a:buNone/>
            </a:pPr>
            <a:endParaRPr lang="nl-NL" i="1" dirty="0">
              <a:latin typeface="Georgia" panose="02040502050405020303" pitchFamily="18" charset="0"/>
            </a:endParaRPr>
          </a:p>
          <a:p>
            <a:pPr marL="411480" lvl="1" indent="0">
              <a:buNone/>
            </a:pPr>
            <a:r>
              <a:rPr lang="nl-NL" i="1" dirty="0">
                <a:latin typeface="Georgia" panose="02040502050405020303" pitchFamily="18" charset="0"/>
              </a:rPr>
              <a:t>	</a:t>
            </a:r>
            <a:r>
              <a:rPr lang="nl-NL" sz="2200" dirty="0">
                <a:solidFill>
                  <a:srgbClr val="00B0F0"/>
                </a:solidFill>
                <a:latin typeface="Georgia" panose="02040502050405020303" pitchFamily="18" charset="0"/>
              </a:rPr>
              <a:t>[Max]</a:t>
            </a:r>
          </a:p>
          <a:p>
            <a:r>
              <a:rPr lang="nl-NL" i="1" dirty="0">
                <a:latin typeface="Georgia" panose="02040502050405020303" pitchFamily="18" charset="0"/>
              </a:rPr>
              <a:t>Nur </a:t>
            </a:r>
            <a:r>
              <a:rPr lang="nl-NL" dirty="0">
                <a:latin typeface="Georgia" panose="02040502050405020303" pitchFamily="18" charset="0"/>
              </a:rPr>
              <a:t>[Emma] hält einen Vortrag über Fokuspartikeln.</a:t>
            </a:r>
          </a:p>
          <a:p>
            <a:pPr marL="114300" indent="0">
              <a:buNone/>
            </a:pPr>
            <a:r>
              <a:rPr lang="nl-NL" dirty="0">
                <a:latin typeface="Georgia" panose="02040502050405020303" pitchFamily="18" charset="0"/>
              </a:rPr>
              <a:t>	</a:t>
            </a:r>
            <a:r>
              <a:rPr lang="nl-NL" sz="2200" dirty="0">
                <a:solidFill>
                  <a:srgbClr val="FF0000"/>
                </a:solidFill>
                <a:latin typeface="Georgia" panose="02040502050405020303" pitchFamily="18" charset="0"/>
              </a:rPr>
              <a:t>[Anna]</a:t>
            </a:r>
          </a:p>
          <a:p>
            <a:pPr marL="114300" indent="0">
              <a:buNone/>
            </a:pPr>
            <a:endParaRPr lang="nl-NL" dirty="0">
              <a:latin typeface="Georgia" panose="02040502050405020303" pitchFamily="18" charset="0"/>
            </a:endParaRPr>
          </a:p>
          <a:p>
            <a:endParaRPr lang="nl-NL" dirty="0">
              <a:latin typeface="Georgia" panose="02040502050405020303" pitchFamily="18" charset="0"/>
            </a:endParaRPr>
          </a:p>
        </p:txBody>
      </p:sp>
      <p:graphicFrame>
        <p:nvGraphicFramePr>
          <p:cNvPr id="5" name="Tabelle 4">
            <a:extLst>
              <a:ext uri="{FF2B5EF4-FFF2-40B4-BE49-F238E27FC236}">
                <a16:creationId xmlns:a16="http://schemas.microsoft.com/office/drawing/2014/main" id="{83D08C28-1079-41F7-8C09-D8ADE9FE7D32}"/>
              </a:ext>
            </a:extLst>
          </p:cNvPr>
          <p:cNvGraphicFramePr>
            <a:graphicFrameLocks noGrp="1"/>
          </p:cNvGraphicFramePr>
          <p:nvPr>
            <p:extLst>
              <p:ext uri="{D42A27DB-BD31-4B8C-83A1-F6EECF244321}">
                <p14:modId xmlns:p14="http://schemas.microsoft.com/office/powerpoint/2010/main" val="889018107"/>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570910268"/>
                    </a:ext>
                  </a:extLst>
                </a:gridCol>
                <a:gridCol w="2286000">
                  <a:extLst>
                    <a:ext uri="{9D8B030D-6E8A-4147-A177-3AD203B41FA5}">
                      <a16:colId xmlns:a16="http://schemas.microsoft.com/office/drawing/2014/main" val="2767606074"/>
                    </a:ext>
                  </a:extLst>
                </a:gridCol>
                <a:gridCol w="2286000">
                  <a:extLst>
                    <a:ext uri="{9D8B030D-6E8A-4147-A177-3AD203B41FA5}">
                      <a16:colId xmlns:a16="http://schemas.microsoft.com/office/drawing/2014/main" val="3625186058"/>
                    </a:ext>
                  </a:extLst>
                </a:gridCol>
                <a:gridCol w="2286000">
                  <a:extLst>
                    <a:ext uri="{9D8B030D-6E8A-4147-A177-3AD203B41FA5}">
                      <a16:colId xmlns:a16="http://schemas.microsoft.com/office/drawing/2014/main" val="3975910008"/>
                    </a:ext>
                  </a:extLst>
                </a:gridCol>
              </a:tblGrid>
              <a:tr h="350565">
                <a:tc>
                  <a:txBody>
                    <a:bodyPr/>
                    <a:lstStyle/>
                    <a:p>
                      <a:r>
                        <a:rPr lang="nl-NL" dirty="0">
                          <a:solidFill>
                            <a:schemeClr val="bg1"/>
                          </a:solidFill>
                        </a:rPr>
                        <a:t>Einführung</a:t>
                      </a:r>
                      <a:endParaRPr lang="de-DE" dirty="0">
                        <a:solidFill>
                          <a:schemeClr val="bg1"/>
                        </a:solidFill>
                      </a:endParaRPr>
                    </a:p>
                  </a:txBody>
                  <a:tcPr/>
                </a:tc>
                <a:tc>
                  <a:txBody>
                    <a:bodyPr/>
                    <a:lstStyle/>
                    <a:p>
                      <a:r>
                        <a:rPr lang="nl-NL" dirty="0">
                          <a:solidFill>
                            <a:schemeClr val="tx1">
                              <a:lumMod val="75000"/>
                              <a:lumOff val="25000"/>
                            </a:schemeClr>
                          </a:solidFill>
                        </a:rPr>
                        <a:t>Vorschlag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Hypothese</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a16="http://schemas.microsoft.com/office/drawing/2014/main" val="3071743559"/>
                  </a:ext>
                </a:extLst>
              </a:tr>
            </a:tbl>
          </a:graphicData>
        </a:graphic>
      </p:graphicFrame>
    </p:spTree>
    <p:extLst>
      <p:ext uri="{BB962C8B-B14F-4D97-AF65-F5344CB8AC3E}">
        <p14:creationId xmlns:p14="http://schemas.microsoft.com/office/powerpoint/2010/main" val="1083769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Einführung</a:t>
            </a:r>
            <a:endParaRPr lang="nl-NL" dirty="0">
              <a:latin typeface="Georgia" panose="02040502050405020303" pitchFamily="18" charset="0"/>
            </a:endParaRPr>
          </a:p>
        </p:txBody>
      </p:sp>
      <p:sp>
        <p:nvSpPr>
          <p:cNvPr id="8" name="Content Placeholder 2">
            <a:extLst>
              <a:ext uri="{FF2B5EF4-FFF2-40B4-BE49-F238E27FC236}">
                <a16:creationId xmlns:a16="http://schemas.microsoft.com/office/drawing/2014/main" id="{2825FD2F-6484-741A-66B4-7EB0AA783294}"/>
              </a:ext>
            </a:extLst>
          </p:cNvPr>
          <p:cNvSpPr txBox="1">
            <a:spLocks/>
          </p:cNvSpPr>
          <p:nvPr/>
        </p:nvSpPr>
        <p:spPr>
          <a:xfrm>
            <a:off x="497837" y="2057400"/>
            <a:ext cx="7620000" cy="4800600"/>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r>
              <a:rPr lang="de-DE" b="1" dirty="0">
                <a:latin typeface="Georgia" panose="02040502050405020303" pitchFamily="18" charset="0"/>
              </a:rPr>
              <a:t>Restriktive</a:t>
            </a:r>
            <a:r>
              <a:rPr lang="de-DE" dirty="0">
                <a:latin typeface="Georgia" panose="02040502050405020303" pitchFamily="18" charset="0"/>
              </a:rPr>
              <a:t> Fokuspartikeln (</a:t>
            </a:r>
            <a:r>
              <a:rPr lang="de-DE" i="1" dirty="0">
                <a:latin typeface="Georgia" panose="02040502050405020303" pitchFamily="18" charset="0"/>
              </a:rPr>
              <a:t>allein, nur </a:t>
            </a:r>
            <a:r>
              <a:rPr lang="de-DE" dirty="0">
                <a:latin typeface="Georgia" panose="02040502050405020303" pitchFamily="18" charset="0"/>
              </a:rPr>
              <a:t>und </a:t>
            </a:r>
            <a:r>
              <a:rPr lang="de-DE" i="1" dirty="0">
                <a:latin typeface="Georgia" panose="02040502050405020303" pitchFamily="18" charset="0"/>
              </a:rPr>
              <a:t>ausschließlich</a:t>
            </a:r>
            <a:r>
              <a:rPr lang="de-DE" dirty="0">
                <a:latin typeface="Georgia" panose="02040502050405020303" pitchFamily="18" charset="0"/>
              </a:rPr>
              <a:t>):</a:t>
            </a:r>
          </a:p>
          <a:p>
            <a:endParaRPr lang="de-DE" dirty="0">
              <a:latin typeface="Georgia" panose="02040502050405020303" pitchFamily="18" charset="0"/>
            </a:endParaRPr>
          </a:p>
          <a:p>
            <a:r>
              <a:rPr lang="nl-NL" i="1" dirty="0">
                <a:latin typeface="Georgia" panose="02040502050405020303" pitchFamily="18" charset="0"/>
              </a:rPr>
              <a:t>Nur </a:t>
            </a:r>
            <a:r>
              <a:rPr lang="nl-NL" dirty="0">
                <a:latin typeface="Georgia" panose="02040502050405020303" pitchFamily="18" charset="0"/>
              </a:rPr>
              <a:t>[Emma] hält einen Vortrag über Fokuspartikeln.</a:t>
            </a:r>
          </a:p>
          <a:p>
            <a:endParaRPr lang="de-DE" i="1" dirty="0">
              <a:latin typeface="Georgia" panose="02040502050405020303" pitchFamily="18" charset="0"/>
            </a:endParaRPr>
          </a:p>
          <a:p>
            <a:endParaRPr lang="de-DE" i="1" dirty="0">
              <a:latin typeface="Georgia" panose="02040502050405020303" pitchFamily="18" charset="0"/>
            </a:endParaRPr>
          </a:p>
          <a:p>
            <a:endParaRPr lang="de-DE" i="1" dirty="0">
              <a:latin typeface="Georgia" panose="02040502050405020303" pitchFamily="18" charset="0"/>
            </a:endParaRPr>
          </a:p>
          <a:p>
            <a:pPr marL="114300" indent="0">
              <a:buNone/>
            </a:pPr>
            <a:endParaRPr lang="de-DE" dirty="0">
              <a:latin typeface="Georgia" panose="02040502050405020303" pitchFamily="18" charset="0"/>
            </a:endParaRPr>
          </a:p>
          <a:p>
            <a:endParaRPr lang="nl-NL" dirty="0">
              <a:latin typeface="Georgia" panose="02040502050405020303" pitchFamily="18" charset="0"/>
            </a:endParaRPr>
          </a:p>
          <a:p>
            <a:pPr lvl="1"/>
            <a:endParaRPr lang="nl-NL" sz="1600" i="1"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p:txBody>
      </p:sp>
      <p:graphicFrame>
        <p:nvGraphicFramePr>
          <p:cNvPr id="4" name="Tabelle 4">
            <a:extLst>
              <a:ext uri="{FF2B5EF4-FFF2-40B4-BE49-F238E27FC236}">
                <a16:creationId xmlns:a16="http://schemas.microsoft.com/office/drawing/2014/main" id="{3C225358-6075-766D-BA3B-1CDF89567931}"/>
              </a:ext>
            </a:extLst>
          </p:cNvPr>
          <p:cNvGraphicFramePr>
            <a:graphicFrameLocks noGrp="1"/>
          </p:cNvGraphicFramePr>
          <p:nvPr>
            <p:extLst>
              <p:ext uri="{D42A27DB-BD31-4B8C-83A1-F6EECF244321}">
                <p14:modId xmlns:p14="http://schemas.microsoft.com/office/powerpoint/2010/main" val="1451783077"/>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570910268"/>
                    </a:ext>
                  </a:extLst>
                </a:gridCol>
                <a:gridCol w="2286000">
                  <a:extLst>
                    <a:ext uri="{9D8B030D-6E8A-4147-A177-3AD203B41FA5}">
                      <a16:colId xmlns:a16="http://schemas.microsoft.com/office/drawing/2014/main" val="2767606074"/>
                    </a:ext>
                  </a:extLst>
                </a:gridCol>
                <a:gridCol w="2286000">
                  <a:extLst>
                    <a:ext uri="{9D8B030D-6E8A-4147-A177-3AD203B41FA5}">
                      <a16:colId xmlns:a16="http://schemas.microsoft.com/office/drawing/2014/main" val="3625186058"/>
                    </a:ext>
                  </a:extLst>
                </a:gridCol>
                <a:gridCol w="2286000">
                  <a:extLst>
                    <a:ext uri="{9D8B030D-6E8A-4147-A177-3AD203B41FA5}">
                      <a16:colId xmlns:a16="http://schemas.microsoft.com/office/drawing/2014/main" val="3975910008"/>
                    </a:ext>
                  </a:extLst>
                </a:gridCol>
              </a:tblGrid>
              <a:tr h="350565">
                <a:tc>
                  <a:txBody>
                    <a:bodyPr/>
                    <a:lstStyle/>
                    <a:p>
                      <a:r>
                        <a:rPr lang="nl-NL" dirty="0">
                          <a:solidFill>
                            <a:schemeClr val="bg1"/>
                          </a:solidFill>
                        </a:rPr>
                        <a:t>Einführung</a:t>
                      </a:r>
                      <a:endParaRPr lang="de-DE" dirty="0">
                        <a:solidFill>
                          <a:schemeClr val="bg1"/>
                        </a:solidFill>
                      </a:endParaRPr>
                    </a:p>
                  </a:txBody>
                  <a:tcPr/>
                </a:tc>
                <a:tc>
                  <a:txBody>
                    <a:bodyPr/>
                    <a:lstStyle/>
                    <a:p>
                      <a:r>
                        <a:rPr lang="nl-NL" dirty="0">
                          <a:solidFill>
                            <a:schemeClr val="tx1">
                              <a:lumMod val="75000"/>
                              <a:lumOff val="25000"/>
                            </a:schemeClr>
                          </a:solidFill>
                        </a:rPr>
                        <a:t>Vorschlag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Hypothese</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a16="http://schemas.microsoft.com/office/drawing/2014/main" val="3071743559"/>
                  </a:ext>
                </a:extLst>
              </a:tr>
            </a:tbl>
          </a:graphicData>
        </a:graphic>
      </p:graphicFrame>
    </p:spTree>
    <p:extLst>
      <p:ext uri="{BB962C8B-B14F-4D97-AF65-F5344CB8AC3E}">
        <p14:creationId xmlns:p14="http://schemas.microsoft.com/office/powerpoint/2010/main" val="2983655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Einführung</a:t>
            </a:r>
            <a:endParaRPr lang="nl-NL" dirty="0">
              <a:latin typeface="Georgia" panose="02040502050405020303" pitchFamily="18" charset="0"/>
            </a:endParaRPr>
          </a:p>
        </p:txBody>
      </p:sp>
      <p:sp>
        <p:nvSpPr>
          <p:cNvPr id="8" name="Content Placeholder 2">
            <a:extLst>
              <a:ext uri="{FF2B5EF4-FFF2-40B4-BE49-F238E27FC236}">
                <a16:creationId xmlns:a16="http://schemas.microsoft.com/office/drawing/2014/main" id="{2825FD2F-6484-741A-66B4-7EB0AA783294}"/>
              </a:ext>
            </a:extLst>
          </p:cNvPr>
          <p:cNvSpPr txBox="1">
            <a:spLocks/>
          </p:cNvSpPr>
          <p:nvPr/>
        </p:nvSpPr>
        <p:spPr>
          <a:xfrm>
            <a:off x="497837" y="2057400"/>
            <a:ext cx="7620000" cy="4800600"/>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r>
              <a:rPr lang="de-DE" b="1" dirty="0">
                <a:solidFill>
                  <a:schemeClr val="bg2">
                    <a:lumMod val="60000"/>
                    <a:lumOff val="40000"/>
                  </a:schemeClr>
                </a:solidFill>
                <a:latin typeface="Georgia" panose="02040502050405020303" pitchFamily="18" charset="0"/>
              </a:rPr>
              <a:t>Restriktive</a:t>
            </a:r>
            <a:r>
              <a:rPr lang="de-DE" dirty="0">
                <a:solidFill>
                  <a:schemeClr val="bg2">
                    <a:lumMod val="60000"/>
                    <a:lumOff val="40000"/>
                  </a:schemeClr>
                </a:solidFill>
                <a:latin typeface="Georgia" panose="02040502050405020303" pitchFamily="18" charset="0"/>
              </a:rPr>
              <a:t> Fokuspartikeln (</a:t>
            </a:r>
            <a:r>
              <a:rPr lang="de-DE" i="1" dirty="0">
                <a:solidFill>
                  <a:schemeClr val="bg2">
                    <a:lumMod val="60000"/>
                    <a:lumOff val="40000"/>
                  </a:schemeClr>
                </a:solidFill>
                <a:latin typeface="Georgia" panose="02040502050405020303" pitchFamily="18" charset="0"/>
              </a:rPr>
              <a:t>allein, nur </a:t>
            </a:r>
            <a:r>
              <a:rPr lang="de-DE" dirty="0">
                <a:solidFill>
                  <a:schemeClr val="bg2">
                    <a:lumMod val="60000"/>
                    <a:lumOff val="40000"/>
                  </a:schemeClr>
                </a:solidFill>
                <a:latin typeface="Georgia" panose="02040502050405020303" pitchFamily="18" charset="0"/>
              </a:rPr>
              <a:t>und </a:t>
            </a:r>
            <a:r>
              <a:rPr lang="de-DE" i="1" dirty="0">
                <a:solidFill>
                  <a:schemeClr val="bg2">
                    <a:lumMod val="60000"/>
                    <a:lumOff val="40000"/>
                  </a:schemeClr>
                </a:solidFill>
                <a:latin typeface="Georgia" panose="02040502050405020303" pitchFamily="18" charset="0"/>
              </a:rPr>
              <a:t>ausschließlich</a:t>
            </a:r>
            <a:r>
              <a:rPr lang="de-DE" dirty="0">
                <a:solidFill>
                  <a:schemeClr val="bg2">
                    <a:lumMod val="60000"/>
                    <a:lumOff val="40000"/>
                  </a:schemeClr>
                </a:solidFill>
                <a:latin typeface="Georgia" panose="02040502050405020303" pitchFamily="18" charset="0"/>
              </a:rPr>
              <a:t>):</a:t>
            </a:r>
          </a:p>
          <a:p>
            <a:endParaRPr lang="de-DE" dirty="0">
              <a:solidFill>
                <a:schemeClr val="bg2">
                  <a:lumMod val="60000"/>
                  <a:lumOff val="40000"/>
                </a:schemeClr>
              </a:solidFill>
              <a:latin typeface="Georgia" panose="02040502050405020303" pitchFamily="18" charset="0"/>
            </a:endParaRPr>
          </a:p>
          <a:p>
            <a:r>
              <a:rPr lang="nl-NL" i="1" dirty="0">
                <a:solidFill>
                  <a:schemeClr val="bg2">
                    <a:lumMod val="60000"/>
                    <a:lumOff val="40000"/>
                  </a:schemeClr>
                </a:solidFill>
                <a:latin typeface="Georgia" panose="02040502050405020303" pitchFamily="18" charset="0"/>
              </a:rPr>
              <a:t>Nur </a:t>
            </a:r>
            <a:r>
              <a:rPr lang="nl-NL" dirty="0">
                <a:solidFill>
                  <a:schemeClr val="bg2">
                    <a:lumMod val="60000"/>
                    <a:lumOff val="40000"/>
                  </a:schemeClr>
                </a:solidFill>
                <a:latin typeface="Georgia" panose="02040502050405020303" pitchFamily="18" charset="0"/>
              </a:rPr>
              <a:t>[Emma] hält einen Vortrag über Fokuspartikeln.</a:t>
            </a:r>
          </a:p>
          <a:p>
            <a:endParaRPr lang="de-DE" i="1" dirty="0">
              <a:latin typeface="Georgia" panose="02040502050405020303" pitchFamily="18" charset="0"/>
            </a:endParaRPr>
          </a:p>
          <a:p>
            <a:r>
              <a:rPr lang="de-DE" b="1" dirty="0">
                <a:latin typeface="Georgia" panose="02040502050405020303" pitchFamily="18" charset="0"/>
              </a:rPr>
              <a:t>Additive</a:t>
            </a:r>
            <a:r>
              <a:rPr lang="de-DE" dirty="0">
                <a:latin typeface="Georgia" panose="02040502050405020303" pitchFamily="18" charset="0"/>
              </a:rPr>
              <a:t> Fokuspartikeln (</a:t>
            </a:r>
            <a:r>
              <a:rPr lang="de-DE" i="1" dirty="0">
                <a:latin typeface="Georgia" panose="02040502050405020303" pitchFamily="18" charset="0"/>
              </a:rPr>
              <a:t>auch, ebenfalls</a:t>
            </a:r>
            <a:r>
              <a:rPr lang="de-DE" dirty="0">
                <a:latin typeface="Georgia" panose="02040502050405020303" pitchFamily="18" charset="0"/>
              </a:rPr>
              <a:t>):</a:t>
            </a:r>
          </a:p>
          <a:p>
            <a:endParaRPr lang="de-DE" i="1" dirty="0">
              <a:latin typeface="Georgia" panose="02040502050405020303" pitchFamily="18" charset="0"/>
            </a:endParaRPr>
          </a:p>
          <a:p>
            <a:r>
              <a:rPr lang="nl-NL" i="1" dirty="0">
                <a:latin typeface="Georgia" panose="02040502050405020303" pitchFamily="18" charset="0"/>
              </a:rPr>
              <a:t>Auch </a:t>
            </a:r>
            <a:r>
              <a:rPr lang="nl-NL" dirty="0">
                <a:latin typeface="Georgia" panose="02040502050405020303" pitchFamily="18" charset="0"/>
              </a:rPr>
              <a:t>[Emma] hält einen Vortrag über Fokuspartikeln.</a:t>
            </a:r>
          </a:p>
          <a:p>
            <a:endParaRPr lang="de-DE" i="1" dirty="0">
              <a:latin typeface="Georgia" panose="02040502050405020303" pitchFamily="18" charset="0"/>
            </a:endParaRPr>
          </a:p>
          <a:p>
            <a:endParaRPr lang="de-DE" i="1" dirty="0">
              <a:latin typeface="Georgia" panose="02040502050405020303" pitchFamily="18" charset="0"/>
            </a:endParaRPr>
          </a:p>
          <a:p>
            <a:pPr marL="114300" indent="0">
              <a:buNone/>
            </a:pPr>
            <a:endParaRPr lang="de-DE" dirty="0">
              <a:latin typeface="Georgia" panose="02040502050405020303" pitchFamily="18" charset="0"/>
            </a:endParaRPr>
          </a:p>
          <a:p>
            <a:endParaRPr lang="nl-NL" dirty="0">
              <a:latin typeface="Georgia" panose="02040502050405020303" pitchFamily="18" charset="0"/>
            </a:endParaRPr>
          </a:p>
          <a:p>
            <a:pPr lvl="1"/>
            <a:endParaRPr lang="nl-NL" sz="1600" i="1"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p:txBody>
      </p:sp>
      <p:graphicFrame>
        <p:nvGraphicFramePr>
          <p:cNvPr id="3" name="Tabelle 4">
            <a:extLst>
              <a:ext uri="{FF2B5EF4-FFF2-40B4-BE49-F238E27FC236}">
                <a16:creationId xmlns:a16="http://schemas.microsoft.com/office/drawing/2014/main" id="{A4A12761-DE8D-04F3-9430-7338A0633742}"/>
              </a:ext>
            </a:extLst>
          </p:cNvPr>
          <p:cNvGraphicFramePr>
            <a:graphicFrameLocks noGrp="1"/>
          </p:cNvGraphicFramePr>
          <p:nvPr>
            <p:extLst>
              <p:ext uri="{D42A27DB-BD31-4B8C-83A1-F6EECF244321}">
                <p14:modId xmlns:p14="http://schemas.microsoft.com/office/powerpoint/2010/main" val="2296696209"/>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570910268"/>
                    </a:ext>
                  </a:extLst>
                </a:gridCol>
                <a:gridCol w="2286000">
                  <a:extLst>
                    <a:ext uri="{9D8B030D-6E8A-4147-A177-3AD203B41FA5}">
                      <a16:colId xmlns:a16="http://schemas.microsoft.com/office/drawing/2014/main" val="2767606074"/>
                    </a:ext>
                  </a:extLst>
                </a:gridCol>
                <a:gridCol w="2286000">
                  <a:extLst>
                    <a:ext uri="{9D8B030D-6E8A-4147-A177-3AD203B41FA5}">
                      <a16:colId xmlns:a16="http://schemas.microsoft.com/office/drawing/2014/main" val="3625186058"/>
                    </a:ext>
                  </a:extLst>
                </a:gridCol>
                <a:gridCol w="2286000">
                  <a:extLst>
                    <a:ext uri="{9D8B030D-6E8A-4147-A177-3AD203B41FA5}">
                      <a16:colId xmlns:a16="http://schemas.microsoft.com/office/drawing/2014/main" val="3975910008"/>
                    </a:ext>
                  </a:extLst>
                </a:gridCol>
              </a:tblGrid>
              <a:tr h="350565">
                <a:tc>
                  <a:txBody>
                    <a:bodyPr/>
                    <a:lstStyle/>
                    <a:p>
                      <a:r>
                        <a:rPr lang="nl-NL" dirty="0">
                          <a:solidFill>
                            <a:schemeClr val="bg1"/>
                          </a:solidFill>
                        </a:rPr>
                        <a:t>Einführung</a:t>
                      </a:r>
                      <a:endParaRPr lang="de-DE" dirty="0">
                        <a:solidFill>
                          <a:schemeClr val="bg1"/>
                        </a:solidFill>
                      </a:endParaRPr>
                    </a:p>
                  </a:txBody>
                  <a:tcPr/>
                </a:tc>
                <a:tc>
                  <a:txBody>
                    <a:bodyPr/>
                    <a:lstStyle/>
                    <a:p>
                      <a:r>
                        <a:rPr lang="nl-NL" dirty="0">
                          <a:solidFill>
                            <a:schemeClr val="tx1">
                              <a:lumMod val="75000"/>
                              <a:lumOff val="25000"/>
                            </a:schemeClr>
                          </a:solidFill>
                        </a:rPr>
                        <a:t>Vorschlag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Hypothese</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a16="http://schemas.microsoft.com/office/drawing/2014/main" val="3071743559"/>
                  </a:ext>
                </a:extLst>
              </a:tr>
            </a:tbl>
          </a:graphicData>
        </a:graphic>
      </p:graphicFrame>
    </p:spTree>
    <p:extLst>
      <p:ext uri="{BB962C8B-B14F-4D97-AF65-F5344CB8AC3E}">
        <p14:creationId xmlns:p14="http://schemas.microsoft.com/office/powerpoint/2010/main" val="2440760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395536"/>
            <a:ext cx="7620000" cy="1368152"/>
          </a:xfrm>
        </p:spPr>
        <p:txBody>
          <a:bodyPr/>
          <a:lstStyle/>
          <a:p>
            <a:r>
              <a:rPr lang="en-US" dirty="0" err="1">
                <a:latin typeface="Georgia" panose="02040502050405020303" pitchFamily="18" charset="0"/>
              </a:rPr>
              <a:t>Warum</a:t>
            </a:r>
            <a:r>
              <a:rPr lang="en-US" dirty="0">
                <a:latin typeface="Georgia" panose="02040502050405020303" pitchFamily="18" charset="0"/>
              </a:rPr>
              <a:t> </a:t>
            </a:r>
            <a:r>
              <a:rPr lang="en-US" dirty="0" err="1">
                <a:latin typeface="Georgia" panose="02040502050405020303" pitchFamily="18" charset="0"/>
              </a:rPr>
              <a:t>dann</a:t>
            </a:r>
            <a:r>
              <a:rPr lang="en-US" dirty="0">
                <a:latin typeface="Georgia" panose="02040502050405020303" pitchFamily="18" charset="0"/>
              </a:rPr>
              <a:t> dieses Experiment?</a:t>
            </a:r>
            <a:endParaRPr lang="nl-NL" dirty="0">
              <a:latin typeface="Georgia" panose="02040502050405020303" pitchFamily="18" charset="0"/>
            </a:endParaRPr>
          </a:p>
        </p:txBody>
      </p:sp>
      <p:sp>
        <p:nvSpPr>
          <p:cNvPr id="6" name="Tijdelijke aanduiding voor inhoud 5"/>
          <p:cNvSpPr>
            <a:spLocks noGrp="1"/>
          </p:cNvSpPr>
          <p:nvPr>
            <p:ph idx="1"/>
          </p:nvPr>
        </p:nvSpPr>
        <p:spPr>
          <a:xfrm>
            <a:off x="513426" y="1960852"/>
            <a:ext cx="7344816" cy="2936296"/>
          </a:xfrm>
        </p:spPr>
        <p:txBody>
          <a:bodyPr>
            <a:noAutofit/>
          </a:bodyPr>
          <a:lstStyle/>
          <a:p>
            <a:r>
              <a:rPr lang="nl-NL" dirty="0">
                <a:latin typeface="Georgia" panose="02040502050405020303" pitchFamily="18" charset="0"/>
              </a:rPr>
              <a:t>“[...], daß es auch Fokuspartikeln gibt, </a:t>
            </a:r>
            <a:r>
              <a:rPr lang="nl-NL" b="1" dirty="0">
                <a:latin typeface="Georgia" panose="02040502050405020303" pitchFamily="18" charset="0"/>
              </a:rPr>
              <a:t>die sich nicht klar zu einer der beiden Gruppen zuordnen lassen.</a:t>
            </a:r>
            <a:r>
              <a:rPr lang="nl-NL" dirty="0">
                <a:latin typeface="Georgia" panose="02040502050405020303" pitchFamily="18" charset="0"/>
              </a:rPr>
              <a:t> Es sind die Partikeln wie z.B. </a:t>
            </a:r>
            <a:r>
              <a:rPr lang="nl-NL" i="1" dirty="0">
                <a:highlight>
                  <a:srgbClr val="FFFF00"/>
                </a:highlight>
                <a:latin typeface="Georgia" panose="02040502050405020303" pitchFamily="18" charset="0"/>
              </a:rPr>
              <a:t>eben, genau, gerade</a:t>
            </a:r>
            <a:r>
              <a:rPr lang="nl-NL" i="1" dirty="0">
                <a:latin typeface="Georgia" panose="02040502050405020303" pitchFamily="18" charset="0"/>
              </a:rPr>
              <a:t>, </a:t>
            </a:r>
            <a:r>
              <a:rPr lang="nl-NL" dirty="0">
                <a:latin typeface="Georgia" panose="02040502050405020303" pitchFamily="18" charset="0"/>
              </a:rPr>
              <a:t>deren Funktion nicht darin besteht, relevante Alternativen für die Besetzung der Variablen in der Satzfunktion ein- oder auszuschließen [...].” </a:t>
            </a:r>
          </a:p>
          <a:p>
            <a:pPr marL="114300" indent="0">
              <a:buNone/>
            </a:pPr>
            <a:r>
              <a:rPr lang="nl-NL" dirty="0">
                <a:latin typeface="Georgia" panose="02040502050405020303" pitchFamily="18" charset="0"/>
              </a:rPr>
              <a:t>					Dimroth 2004: 25</a:t>
            </a:r>
          </a:p>
          <a:p>
            <a:endParaRPr lang="nl-NL" dirty="0">
              <a:latin typeface="Georgia" panose="02040502050405020303" pitchFamily="18" charset="0"/>
            </a:endParaRPr>
          </a:p>
          <a:p>
            <a:endParaRPr lang="nl-NL" dirty="0">
              <a:latin typeface="Georgia" panose="02040502050405020303" pitchFamily="18" charset="0"/>
            </a:endParaRPr>
          </a:p>
          <a:p>
            <a:pPr marL="114300" indent="0">
              <a:buNone/>
            </a:pPr>
            <a:r>
              <a:rPr lang="nl-NL" dirty="0">
                <a:latin typeface="Georgia" panose="02040502050405020303" pitchFamily="18" charset="0"/>
              </a:rPr>
              <a:t>	</a:t>
            </a:r>
          </a:p>
          <a:p>
            <a:pPr lvl="3"/>
            <a:endParaRPr lang="de-DE" dirty="0">
              <a:latin typeface="Georgia" panose="02040502050405020303" pitchFamily="18" charset="0"/>
            </a:endParaRPr>
          </a:p>
        </p:txBody>
      </p:sp>
      <p:graphicFrame>
        <p:nvGraphicFramePr>
          <p:cNvPr id="4" name="Tabelle 4">
            <a:extLst>
              <a:ext uri="{FF2B5EF4-FFF2-40B4-BE49-F238E27FC236}">
                <a16:creationId xmlns:a16="http://schemas.microsoft.com/office/drawing/2014/main" id="{72935B22-852D-A8A6-555D-49897E7A28E6}"/>
              </a:ext>
            </a:extLst>
          </p:cNvPr>
          <p:cNvGraphicFramePr>
            <a:graphicFrameLocks noGrp="1"/>
          </p:cNvGraphicFramePr>
          <p:nvPr>
            <p:extLst>
              <p:ext uri="{D42A27DB-BD31-4B8C-83A1-F6EECF244321}">
                <p14:modId xmlns:p14="http://schemas.microsoft.com/office/powerpoint/2010/main" val="3521916289"/>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570910268"/>
                    </a:ext>
                  </a:extLst>
                </a:gridCol>
                <a:gridCol w="2286000">
                  <a:extLst>
                    <a:ext uri="{9D8B030D-6E8A-4147-A177-3AD203B41FA5}">
                      <a16:colId xmlns:a16="http://schemas.microsoft.com/office/drawing/2014/main" val="2767606074"/>
                    </a:ext>
                  </a:extLst>
                </a:gridCol>
                <a:gridCol w="2286000">
                  <a:extLst>
                    <a:ext uri="{9D8B030D-6E8A-4147-A177-3AD203B41FA5}">
                      <a16:colId xmlns:a16="http://schemas.microsoft.com/office/drawing/2014/main" val="3625186058"/>
                    </a:ext>
                  </a:extLst>
                </a:gridCol>
                <a:gridCol w="2286000">
                  <a:extLst>
                    <a:ext uri="{9D8B030D-6E8A-4147-A177-3AD203B41FA5}">
                      <a16:colId xmlns:a16="http://schemas.microsoft.com/office/drawing/2014/main" val="3975910008"/>
                    </a:ext>
                  </a:extLst>
                </a:gridCol>
              </a:tblGrid>
              <a:tr h="350565">
                <a:tc>
                  <a:txBody>
                    <a:bodyPr/>
                    <a:lstStyle/>
                    <a:p>
                      <a:r>
                        <a:rPr lang="nl-NL" dirty="0">
                          <a:solidFill>
                            <a:schemeClr val="tx1">
                              <a:lumMod val="75000"/>
                              <a:lumOff val="25000"/>
                            </a:schemeClr>
                          </a:solidFill>
                        </a:rPr>
                        <a:t>Einführung</a:t>
                      </a:r>
                      <a:endParaRPr lang="de-DE" dirty="0">
                        <a:solidFill>
                          <a:schemeClr val="tx1">
                            <a:lumMod val="75000"/>
                            <a:lumOff val="25000"/>
                          </a:schemeClr>
                        </a:solidFill>
                      </a:endParaRPr>
                    </a:p>
                  </a:txBody>
                  <a:tcPr/>
                </a:tc>
                <a:tc>
                  <a:txBody>
                    <a:bodyPr/>
                    <a:lstStyle/>
                    <a:p>
                      <a:r>
                        <a:rPr lang="nl-NL" dirty="0">
                          <a:solidFill>
                            <a:schemeClr val="bg1"/>
                          </a:solidFill>
                        </a:rPr>
                        <a:t>Vorschlag</a:t>
                      </a:r>
                      <a:endParaRPr lang="de-DE" dirty="0">
                        <a:solidFill>
                          <a:schemeClr val="bg1"/>
                        </a:solidFill>
                      </a:endParaRPr>
                    </a:p>
                  </a:txBody>
                  <a:tcPr/>
                </a:tc>
                <a:tc>
                  <a:txBody>
                    <a:bodyPr/>
                    <a:lstStyle/>
                    <a:p>
                      <a:r>
                        <a:rPr lang="nl-NL" dirty="0">
                          <a:solidFill>
                            <a:schemeClr val="tx1">
                              <a:lumMod val="75000"/>
                              <a:lumOff val="25000"/>
                            </a:schemeClr>
                          </a:solidFill>
                        </a:rPr>
                        <a:t>Hypothese</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a16="http://schemas.microsoft.com/office/drawing/2014/main" val="3071743559"/>
                  </a:ext>
                </a:extLst>
              </a:tr>
            </a:tbl>
          </a:graphicData>
        </a:graphic>
      </p:graphicFrame>
    </p:spTree>
    <p:extLst>
      <p:ext uri="{BB962C8B-B14F-4D97-AF65-F5344CB8AC3E}">
        <p14:creationId xmlns:p14="http://schemas.microsoft.com/office/powerpoint/2010/main" val="3541477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50E78B4-E46A-6286-22F4-4D86E09F4710}"/>
              </a:ext>
            </a:extLst>
          </p:cNvPr>
          <p:cNvSpPr>
            <a:spLocks noGrp="1"/>
          </p:cNvSpPr>
          <p:nvPr>
            <p:ph type="title"/>
          </p:nvPr>
        </p:nvSpPr>
        <p:spPr/>
        <p:txBody>
          <a:bodyPr/>
          <a:lstStyle/>
          <a:p>
            <a:endParaRPr lang="de-DE"/>
          </a:p>
        </p:txBody>
      </p:sp>
      <p:pic>
        <p:nvPicPr>
          <p:cNvPr id="5" name="Inhaltsplatzhalter 4" descr="Ein Bild, das Text enthält.&#10;&#10;Automatisch generierte Beschreibung">
            <a:extLst>
              <a:ext uri="{FF2B5EF4-FFF2-40B4-BE49-F238E27FC236}">
                <a16:creationId xmlns:a16="http://schemas.microsoft.com/office/drawing/2014/main" id="{78448E9B-CFD3-8C82-296B-B3A7D964AFF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5536" y="265000"/>
            <a:ext cx="6397768" cy="4051920"/>
          </a:xfrm>
        </p:spPr>
      </p:pic>
    </p:spTree>
    <p:extLst>
      <p:ext uri="{BB962C8B-B14F-4D97-AF65-F5344CB8AC3E}">
        <p14:creationId xmlns:p14="http://schemas.microsoft.com/office/powerpoint/2010/main" val="3437144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50E78B4-E46A-6286-22F4-4D86E09F4710}"/>
              </a:ext>
            </a:extLst>
          </p:cNvPr>
          <p:cNvSpPr>
            <a:spLocks noGrp="1"/>
          </p:cNvSpPr>
          <p:nvPr>
            <p:ph type="title"/>
          </p:nvPr>
        </p:nvSpPr>
        <p:spPr/>
        <p:txBody>
          <a:bodyPr/>
          <a:lstStyle/>
          <a:p>
            <a:endParaRPr lang="de-DE"/>
          </a:p>
        </p:txBody>
      </p:sp>
      <p:pic>
        <p:nvPicPr>
          <p:cNvPr id="5" name="Inhaltsplatzhalter 4" descr="Ein Bild, das Text enthält.&#10;&#10;Automatisch generierte Beschreibung">
            <a:extLst>
              <a:ext uri="{FF2B5EF4-FFF2-40B4-BE49-F238E27FC236}">
                <a16:creationId xmlns:a16="http://schemas.microsoft.com/office/drawing/2014/main" id="{78448E9B-CFD3-8C82-296B-B3A7D964AFF2}"/>
              </a:ext>
            </a:extLst>
          </p:cNvPr>
          <p:cNvPicPr>
            <a:picLocks noGrp="1" noChangeAspect="1"/>
          </p:cNvPicPr>
          <p:nvPr>
            <p:ph idx="1"/>
          </p:nvPr>
        </p:nvPicPr>
        <p:blipFill>
          <a:blip r:embed="rId2">
            <a:alphaModFix amt="50000"/>
            <a:extLst>
              <a:ext uri="{28A0092B-C50C-407E-A947-70E740481C1C}">
                <a14:useLocalDpi xmlns:a14="http://schemas.microsoft.com/office/drawing/2010/main" val="0"/>
              </a:ext>
            </a:extLst>
          </a:blip>
          <a:stretch>
            <a:fillRect/>
          </a:stretch>
        </p:blipFill>
        <p:spPr>
          <a:xfrm>
            <a:off x="395536" y="265000"/>
            <a:ext cx="6397768" cy="4051920"/>
          </a:xfrm>
        </p:spPr>
      </p:pic>
      <p:pic>
        <p:nvPicPr>
          <p:cNvPr id="4" name="Grafik 3" descr="Ein Bild, das Text enthält.&#10;&#10;Automatisch generierte Beschreibung">
            <a:extLst>
              <a:ext uri="{FF2B5EF4-FFF2-40B4-BE49-F238E27FC236}">
                <a16:creationId xmlns:a16="http://schemas.microsoft.com/office/drawing/2014/main" id="{15C20085-3943-2566-378C-F9381C7190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6021" y="1421167"/>
            <a:ext cx="7722443" cy="5162195"/>
          </a:xfrm>
          <a:prstGeom prst="rect">
            <a:avLst/>
          </a:prstGeom>
        </p:spPr>
      </p:pic>
    </p:spTree>
    <p:extLst>
      <p:ext uri="{BB962C8B-B14F-4D97-AF65-F5344CB8AC3E}">
        <p14:creationId xmlns:p14="http://schemas.microsoft.com/office/powerpoint/2010/main" val="2442473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476672"/>
            <a:ext cx="7620000" cy="1143000"/>
          </a:xfrm>
        </p:spPr>
        <p:txBody>
          <a:bodyPr/>
          <a:lstStyle/>
          <a:p>
            <a:r>
              <a:rPr lang="en-US" dirty="0" err="1">
                <a:latin typeface="Georgia" panose="02040502050405020303" pitchFamily="18" charset="0"/>
              </a:rPr>
              <a:t>Vorschlag</a:t>
            </a:r>
            <a:r>
              <a:rPr lang="en-US" dirty="0">
                <a:latin typeface="Georgia" panose="02040502050405020303" pitchFamily="18" charset="0"/>
              </a:rPr>
              <a:t> für </a:t>
            </a:r>
            <a:r>
              <a:rPr lang="en-US" dirty="0" err="1">
                <a:latin typeface="Georgia" panose="02040502050405020303" pitchFamily="18" charset="0"/>
              </a:rPr>
              <a:t>einen</a:t>
            </a:r>
            <a:r>
              <a:rPr lang="en-US" dirty="0">
                <a:latin typeface="Georgia" panose="02040502050405020303" pitchFamily="18" charset="0"/>
              </a:rPr>
              <a:t> </a:t>
            </a:r>
            <a:r>
              <a:rPr lang="en-US" dirty="0" err="1">
                <a:latin typeface="Georgia" panose="02040502050405020303" pitchFamily="18" charset="0"/>
              </a:rPr>
              <a:t>Namen</a:t>
            </a:r>
            <a:r>
              <a:rPr lang="en-US" dirty="0">
                <a:latin typeface="Georgia" panose="02040502050405020303" pitchFamily="18" charset="0"/>
              </a:rPr>
              <a:t>:</a:t>
            </a:r>
            <a:endParaRPr lang="nl-NL" dirty="0">
              <a:latin typeface="Georgia" panose="02040502050405020303" pitchFamily="18" charset="0"/>
            </a:endParaRPr>
          </a:p>
        </p:txBody>
      </p:sp>
      <p:sp>
        <p:nvSpPr>
          <p:cNvPr id="6" name="Tijdelijke aanduiding voor inhoud 5"/>
          <p:cNvSpPr>
            <a:spLocks noGrp="1"/>
          </p:cNvSpPr>
          <p:nvPr>
            <p:ph idx="1"/>
          </p:nvPr>
        </p:nvSpPr>
        <p:spPr>
          <a:xfrm>
            <a:off x="635429" y="2564904"/>
            <a:ext cx="7344816" cy="1368152"/>
          </a:xfrm>
        </p:spPr>
        <p:txBody>
          <a:bodyPr>
            <a:noAutofit/>
          </a:bodyPr>
          <a:lstStyle/>
          <a:p>
            <a:r>
              <a:rPr lang="de-DE" b="1" dirty="0">
                <a:latin typeface="Georgia" panose="02040502050405020303" pitchFamily="18" charset="0"/>
              </a:rPr>
              <a:t>Erwartungswidrige Fokuspartikeln </a:t>
            </a:r>
            <a:r>
              <a:rPr lang="de-DE" dirty="0">
                <a:latin typeface="Georgia" panose="02040502050405020303" pitchFamily="18" charset="0"/>
              </a:rPr>
              <a:t>(</a:t>
            </a:r>
            <a:r>
              <a:rPr lang="de-DE" i="1" dirty="0">
                <a:latin typeface="Georgia" panose="02040502050405020303" pitchFamily="18" charset="0"/>
              </a:rPr>
              <a:t>ausgerechnet, genau, gerade </a:t>
            </a:r>
            <a:r>
              <a:rPr lang="de-DE" dirty="0">
                <a:latin typeface="Georgia" panose="02040502050405020303" pitchFamily="18" charset="0"/>
              </a:rPr>
              <a:t>&amp; </a:t>
            </a:r>
            <a:r>
              <a:rPr lang="de-DE" i="1" dirty="0">
                <a:latin typeface="Georgia" panose="02040502050405020303" pitchFamily="18" charset="0"/>
              </a:rPr>
              <a:t>eben</a:t>
            </a:r>
            <a:r>
              <a:rPr lang="de-DE" dirty="0">
                <a:latin typeface="Georgia" panose="02040502050405020303" pitchFamily="18" charset="0"/>
              </a:rPr>
              <a:t>).</a:t>
            </a:r>
            <a:endParaRPr lang="de-DE" i="1" dirty="0">
              <a:latin typeface="Georgia" panose="02040502050405020303" pitchFamily="18" charset="0"/>
            </a:endParaRPr>
          </a:p>
          <a:p>
            <a:endParaRPr lang="en-US" sz="2800" dirty="0">
              <a:latin typeface="Georgia" pitchFamily="18" charset="0"/>
            </a:endParaRPr>
          </a:p>
        </p:txBody>
      </p:sp>
      <p:graphicFrame>
        <p:nvGraphicFramePr>
          <p:cNvPr id="4" name="Tabelle 4">
            <a:extLst>
              <a:ext uri="{FF2B5EF4-FFF2-40B4-BE49-F238E27FC236}">
                <a16:creationId xmlns:a16="http://schemas.microsoft.com/office/drawing/2014/main" id="{D676B6BF-061A-E432-EECA-8A1B1D85028E}"/>
              </a:ext>
            </a:extLst>
          </p:cNvPr>
          <p:cNvGraphicFramePr>
            <a:graphicFrameLocks noGrp="1"/>
          </p:cNvGraphicFramePr>
          <p:nvPr>
            <p:extLst>
              <p:ext uri="{D42A27DB-BD31-4B8C-83A1-F6EECF244321}">
                <p14:modId xmlns:p14="http://schemas.microsoft.com/office/powerpoint/2010/main" val="805422786"/>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570910268"/>
                    </a:ext>
                  </a:extLst>
                </a:gridCol>
                <a:gridCol w="2286000">
                  <a:extLst>
                    <a:ext uri="{9D8B030D-6E8A-4147-A177-3AD203B41FA5}">
                      <a16:colId xmlns:a16="http://schemas.microsoft.com/office/drawing/2014/main" val="2767606074"/>
                    </a:ext>
                  </a:extLst>
                </a:gridCol>
                <a:gridCol w="2286000">
                  <a:extLst>
                    <a:ext uri="{9D8B030D-6E8A-4147-A177-3AD203B41FA5}">
                      <a16:colId xmlns:a16="http://schemas.microsoft.com/office/drawing/2014/main" val="3625186058"/>
                    </a:ext>
                  </a:extLst>
                </a:gridCol>
                <a:gridCol w="2286000">
                  <a:extLst>
                    <a:ext uri="{9D8B030D-6E8A-4147-A177-3AD203B41FA5}">
                      <a16:colId xmlns:a16="http://schemas.microsoft.com/office/drawing/2014/main" val="3975910008"/>
                    </a:ext>
                  </a:extLst>
                </a:gridCol>
              </a:tblGrid>
              <a:tr h="350565">
                <a:tc>
                  <a:txBody>
                    <a:bodyPr/>
                    <a:lstStyle/>
                    <a:p>
                      <a:r>
                        <a:rPr lang="nl-NL" dirty="0">
                          <a:solidFill>
                            <a:schemeClr val="tx1">
                              <a:lumMod val="75000"/>
                              <a:lumOff val="25000"/>
                            </a:schemeClr>
                          </a:solidFill>
                        </a:rPr>
                        <a:t>Einführung</a:t>
                      </a:r>
                      <a:endParaRPr lang="de-DE" dirty="0">
                        <a:solidFill>
                          <a:schemeClr val="tx1">
                            <a:lumMod val="75000"/>
                            <a:lumOff val="25000"/>
                          </a:schemeClr>
                        </a:solidFill>
                      </a:endParaRPr>
                    </a:p>
                  </a:txBody>
                  <a:tcPr/>
                </a:tc>
                <a:tc>
                  <a:txBody>
                    <a:bodyPr/>
                    <a:lstStyle/>
                    <a:p>
                      <a:r>
                        <a:rPr lang="nl-NL" dirty="0">
                          <a:solidFill>
                            <a:schemeClr val="bg1"/>
                          </a:solidFill>
                        </a:rPr>
                        <a:t>Vorschlag</a:t>
                      </a:r>
                      <a:endParaRPr lang="de-DE" dirty="0">
                        <a:solidFill>
                          <a:schemeClr val="bg1"/>
                        </a:solidFill>
                      </a:endParaRPr>
                    </a:p>
                  </a:txBody>
                  <a:tcPr/>
                </a:tc>
                <a:tc>
                  <a:txBody>
                    <a:bodyPr/>
                    <a:lstStyle/>
                    <a:p>
                      <a:r>
                        <a:rPr lang="nl-NL" dirty="0">
                          <a:solidFill>
                            <a:schemeClr val="tx1">
                              <a:lumMod val="75000"/>
                              <a:lumOff val="25000"/>
                            </a:schemeClr>
                          </a:solidFill>
                        </a:rPr>
                        <a:t>Hypothese</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a16="http://schemas.microsoft.com/office/drawing/2014/main" val="3071743559"/>
                  </a:ext>
                </a:extLst>
              </a:tr>
            </a:tbl>
          </a:graphicData>
        </a:graphic>
      </p:graphicFrame>
    </p:spTree>
    <p:extLst>
      <p:ext uri="{BB962C8B-B14F-4D97-AF65-F5344CB8AC3E}">
        <p14:creationId xmlns:p14="http://schemas.microsoft.com/office/powerpoint/2010/main" val="40055008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476672"/>
            <a:ext cx="7620000" cy="1143000"/>
          </a:xfrm>
        </p:spPr>
        <p:txBody>
          <a:bodyPr/>
          <a:lstStyle/>
          <a:p>
            <a:r>
              <a:rPr lang="en-US" dirty="0" err="1">
                <a:latin typeface="Georgia" panose="02040502050405020303" pitchFamily="18" charset="0"/>
              </a:rPr>
              <a:t>Vorschlag</a:t>
            </a:r>
            <a:r>
              <a:rPr lang="en-US" dirty="0">
                <a:latin typeface="Georgia" panose="02040502050405020303" pitchFamily="18" charset="0"/>
              </a:rPr>
              <a:t> für </a:t>
            </a:r>
            <a:r>
              <a:rPr lang="en-US" dirty="0" err="1">
                <a:latin typeface="Georgia" panose="02040502050405020303" pitchFamily="18" charset="0"/>
              </a:rPr>
              <a:t>einen</a:t>
            </a:r>
            <a:r>
              <a:rPr lang="en-US" dirty="0">
                <a:latin typeface="Georgia" panose="02040502050405020303" pitchFamily="18" charset="0"/>
              </a:rPr>
              <a:t> </a:t>
            </a:r>
            <a:r>
              <a:rPr lang="en-US" dirty="0" err="1">
                <a:latin typeface="Georgia" panose="02040502050405020303" pitchFamily="18" charset="0"/>
              </a:rPr>
              <a:t>Namen</a:t>
            </a:r>
            <a:r>
              <a:rPr lang="en-US" dirty="0">
                <a:latin typeface="Georgia" panose="02040502050405020303" pitchFamily="18" charset="0"/>
              </a:rPr>
              <a:t>:</a:t>
            </a:r>
            <a:endParaRPr lang="nl-NL" dirty="0">
              <a:latin typeface="Georgia" panose="02040502050405020303" pitchFamily="18" charset="0"/>
            </a:endParaRPr>
          </a:p>
        </p:txBody>
      </p:sp>
      <p:sp>
        <p:nvSpPr>
          <p:cNvPr id="6" name="Tijdelijke aanduiding voor inhoud 5"/>
          <p:cNvSpPr>
            <a:spLocks noGrp="1"/>
          </p:cNvSpPr>
          <p:nvPr>
            <p:ph idx="1"/>
          </p:nvPr>
        </p:nvSpPr>
        <p:spPr>
          <a:xfrm>
            <a:off x="635429" y="2564904"/>
            <a:ext cx="7344816" cy="1368152"/>
          </a:xfrm>
        </p:spPr>
        <p:txBody>
          <a:bodyPr>
            <a:noAutofit/>
          </a:bodyPr>
          <a:lstStyle/>
          <a:p>
            <a:r>
              <a:rPr lang="de-DE" b="1" dirty="0">
                <a:latin typeface="Georgia" panose="02040502050405020303" pitchFamily="18" charset="0"/>
              </a:rPr>
              <a:t>Erwartungswidrige Fokuspartikeln </a:t>
            </a:r>
            <a:r>
              <a:rPr lang="de-DE" dirty="0">
                <a:latin typeface="Georgia" panose="02040502050405020303" pitchFamily="18" charset="0"/>
              </a:rPr>
              <a:t>(</a:t>
            </a:r>
            <a:r>
              <a:rPr lang="de-DE" i="1" dirty="0">
                <a:latin typeface="Georgia" panose="02040502050405020303" pitchFamily="18" charset="0"/>
              </a:rPr>
              <a:t>ausgerechnet, genau, gerade </a:t>
            </a:r>
            <a:r>
              <a:rPr lang="de-DE" dirty="0">
                <a:latin typeface="Georgia" panose="02040502050405020303" pitchFamily="18" charset="0"/>
              </a:rPr>
              <a:t>&amp; </a:t>
            </a:r>
            <a:r>
              <a:rPr lang="de-DE" i="1" dirty="0">
                <a:latin typeface="Georgia" panose="02040502050405020303" pitchFamily="18" charset="0"/>
              </a:rPr>
              <a:t>eben</a:t>
            </a:r>
            <a:r>
              <a:rPr lang="de-DE" dirty="0">
                <a:latin typeface="Georgia" panose="02040502050405020303" pitchFamily="18" charset="0"/>
              </a:rPr>
              <a:t>).</a:t>
            </a:r>
            <a:endParaRPr lang="de-DE" i="1" dirty="0">
              <a:latin typeface="Georgia" panose="02040502050405020303" pitchFamily="18" charset="0"/>
            </a:endParaRPr>
          </a:p>
          <a:p>
            <a:endParaRPr lang="en-US" sz="2800" dirty="0">
              <a:latin typeface="Georgia" pitchFamily="18" charset="0"/>
            </a:endParaRPr>
          </a:p>
        </p:txBody>
      </p:sp>
      <p:sp>
        <p:nvSpPr>
          <p:cNvPr id="4" name="Textfeld 3">
            <a:extLst>
              <a:ext uri="{FF2B5EF4-FFF2-40B4-BE49-F238E27FC236}">
                <a16:creationId xmlns:a16="http://schemas.microsoft.com/office/drawing/2014/main" id="{F9CEBE87-9DF9-892C-560B-DCFBF3FAAA32}"/>
              </a:ext>
            </a:extLst>
          </p:cNvPr>
          <p:cNvSpPr txBox="1"/>
          <p:nvPr/>
        </p:nvSpPr>
        <p:spPr>
          <a:xfrm>
            <a:off x="2021837" y="4365104"/>
            <a:ext cx="4572000" cy="1477328"/>
          </a:xfrm>
          <a:prstGeom prst="rect">
            <a:avLst/>
          </a:prstGeom>
          <a:noFill/>
        </p:spPr>
        <p:txBody>
          <a:bodyPr wrap="square">
            <a:spAutoFit/>
          </a:bodyPr>
          <a:lstStyle/>
          <a:p>
            <a:r>
              <a:rPr lang="de-DE" sz="1800" i="1" dirty="0">
                <a:latin typeface="Georgia" panose="02040502050405020303" pitchFamily="18" charset="0"/>
              </a:rPr>
              <a:t>„Die erwartungswidrigen Fokuspartikeln heben die Unwahrscheinlichkeit des Bezugsausdrucks in Relation zu allen möglichen Alternativen hervor, indem er als (sehr) unerwartet bestimmt wird.“ </a:t>
            </a:r>
            <a:endParaRPr lang="en-US" sz="2400" dirty="0">
              <a:latin typeface="Georgia" pitchFamily="18" charset="0"/>
            </a:endParaRPr>
          </a:p>
        </p:txBody>
      </p:sp>
      <p:sp>
        <p:nvSpPr>
          <p:cNvPr id="5" name="Pfeil: nach unten 4">
            <a:extLst>
              <a:ext uri="{FF2B5EF4-FFF2-40B4-BE49-F238E27FC236}">
                <a16:creationId xmlns:a16="http://schemas.microsoft.com/office/drawing/2014/main" id="{14988FC9-63DD-6106-4275-FE655532A918}"/>
              </a:ext>
            </a:extLst>
          </p:cNvPr>
          <p:cNvSpPr/>
          <p:nvPr/>
        </p:nvSpPr>
        <p:spPr>
          <a:xfrm>
            <a:off x="3995936" y="3429000"/>
            <a:ext cx="144016" cy="64807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aphicFrame>
        <p:nvGraphicFramePr>
          <p:cNvPr id="7" name="Tabelle 4">
            <a:extLst>
              <a:ext uri="{FF2B5EF4-FFF2-40B4-BE49-F238E27FC236}">
                <a16:creationId xmlns:a16="http://schemas.microsoft.com/office/drawing/2014/main" id="{FA27428F-230F-7783-5376-A7862789E487}"/>
              </a:ext>
            </a:extLst>
          </p:cNvPr>
          <p:cNvGraphicFramePr>
            <a:graphicFrameLocks noGrp="1"/>
          </p:cNvGraphicFramePr>
          <p:nvPr>
            <p:extLst>
              <p:ext uri="{D42A27DB-BD31-4B8C-83A1-F6EECF244321}">
                <p14:modId xmlns:p14="http://schemas.microsoft.com/office/powerpoint/2010/main" val="644378867"/>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570910268"/>
                    </a:ext>
                  </a:extLst>
                </a:gridCol>
                <a:gridCol w="2286000">
                  <a:extLst>
                    <a:ext uri="{9D8B030D-6E8A-4147-A177-3AD203B41FA5}">
                      <a16:colId xmlns:a16="http://schemas.microsoft.com/office/drawing/2014/main" val="2767606074"/>
                    </a:ext>
                  </a:extLst>
                </a:gridCol>
                <a:gridCol w="2286000">
                  <a:extLst>
                    <a:ext uri="{9D8B030D-6E8A-4147-A177-3AD203B41FA5}">
                      <a16:colId xmlns:a16="http://schemas.microsoft.com/office/drawing/2014/main" val="3625186058"/>
                    </a:ext>
                  </a:extLst>
                </a:gridCol>
                <a:gridCol w="2286000">
                  <a:extLst>
                    <a:ext uri="{9D8B030D-6E8A-4147-A177-3AD203B41FA5}">
                      <a16:colId xmlns:a16="http://schemas.microsoft.com/office/drawing/2014/main" val="3975910008"/>
                    </a:ext>
                  </a:extLst>
                </a:gridCol>
              </a:tblGrid>
              <a:tr h="350565">
                <a:tc>
                  <a:txBody>
                    <a:bodyPr/>
                    <a:lstStyle/>
                    <a:p>
                      <a:r>
                        <a:rPr lang="nl-NL" dirty="0">
                          <a:solidFill>
                            <a:schemeClr val="tx1">
                              <a:lumMod val="75000"/>
                              <a:lumOff val="25000"/>
                            </a:schemeClr>
                          </a:solidFill>
                        </a:rPr>
                        <a:t>Einführung</a:t>
                      </a:r>
                      <a:endParaRPr lang="de-DE" dirty="0">
                        <a:solidFill>
                          <a:schemeClr val="tx1">
                            <a:lumMod val="75000"/>
                            <a:lumOff val="25000"/>
                          </a:schemeClr>
                        </a:solidFill>
                      </a:endParaRPr>
                    </a:p>
                  </a:txBody>
                  <a:tcPr/>
                </a:tc>
                <a:tc>
                  <a:txBody>
                    <a:bodyPr/>
                    <a:lstStyle/>
                    <a:p>
                      <a:r>
                        <a:rPr lang="nl-NL" dirty="0">
                          <a:solidFill>
                            <a:schemeClr val="bg1"/>
                          </a:solidFill>
                        </a:rPr>
                        <a:t>Vorschlag</a:t>
                      </a:r>
                      <a:endParaRPr lang="de-DE" dirty="0">
                        <a:solidFill>
                          <a:schemeClr val="bg1"/>
                        </a:solidFill>
                      </a:endParaRPr>
                    </a:p>
                  </a:txBody>
                  <a:tcPr/>
                </a:tc>
                <a:tc>
                  <a:txBody>
                    <a:bodyPr/>
                    <a:lstStyle/>
                    <a:p>
                      <a:r>
                        <a:rPr lang="nl-NL" dirty="0">
                          <a:solidFill>
                            <a:schemeClr val="tx1">
                              <a:lumMod val="75000"/>
                              <a:lumOff val="25000"/>
                            </a:schemeClr>
                          </a:solidFill>
                        </a:rPr>
                        <a:t>Hypothese</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a16="http://schemas.microsoft.com/office/drawing/2014/main" val="3071743559"/>
                  </a:ext>
                </a:extLst>
              </a:tr>
            </a:tbl>
          </a:graphicData>
        </a:graphic>
      </p:graphicFrame>
    </p:spTree>
    <p:extLst>
      <p:ext uri="{BB962C8B-B14F-4D97-AF65-F5344CB8AC3E}">
        <p14:creationId xmlns:p14="http://schemas.microsoft.com/office/powerpoint/2010/main" val="2128634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Vorangehensweise</a:t>
            </a:r>
            <a:endParaRPr lang="nl-NL" dirty="0">
              <a:latin typeface="Georgia" panose="02040502050405020303" pitchFamily="18" charset="0"/>
            </a:endParaRPr>
          </a:p>
        </p:txBody>
      </p:sp>
      <p:sp>
        <p:nvSpPr>
          <p:cNvPr id="10" name="Tijdelijke aanduiding voor inhoud 8"/>
          <p:cNvSpPr>
            <a:spLocks noGrp="1"/>
          </p:cNvSpPr>
          <p:nvPr>
            <p:ph idx="1"/>
          </p:nvPr>
        </p:nvSpPr>
        <p:spPr>
          <a:xfrm>
            <a:off x="475005" y="1763688"/>
            <a:ext cx="7620000" cy="4800600"/>
          </a:xfrm>
        </p:spPr>
        <p:txBody>
          <a:bodyPr>
            <a:normAutofit/>
          </a:bodyPr>
          <a:lstStyle/>
          <a:p>
            <a:endParaRPr lang="nl-NL" dirty="0"/>
          </a:p>
          <a:p>
            <a:r>
              <a:rPr lang="nl-NL" dirty="0">
                <a:latin typeface="Georgia" panose="02040502050405020303" pitchFamily="18" charset="0"/>
              </a:rPr>
              <a:t>Pre-Test (30 Items) </a:t>
            </a:r>
          </a:p>
          <a:p>
            <a:endParaRPr lang="nl-NL" dirty="0">
              <a:latin typeface="Georgia" panose="02040502050405020303" pitchFamily="18" charset="0"/>
            </a:endParaRPr>
          </a:p>
          <a:p>
            <a:r>
              <a:rPr lang="nl-NL" dirty="0">
                <a:latin typeface="Georgia" panose="02040502050405020303" pitchFamily="18" charset="0"/>
              </a:rPr>
              <a:t>Pre-Test </a:t>
            </a:r>
            <a:r>
              <a:rPr lang="nl-NL" i="1" dirty="0">
                <a:latin typeface="Georgia" panose="02040502050405020303" pitchFamily="18" charset="0"/>
              </a:rPr>
              <a:t>Runde 2 </a:t>
            </a:r>
            <a:r>
              <a:rPr lang="nl-NL" dirty="0">
                <a:latin typeface="Georgia" panose="02040502050405020303" pitchFamily="18" charset="0"/>
              </a:rPr>
              <a:t>(36 Items)</a:t>
            </a:r>
          </a:p>
          <a:p>
            <a:endParaRPr lang="nl-NL" dirty="0">
              <a:latin typeface="Georgia" panose="02040502050405020303" pitchFamily="18" charset="0"/>
            </a:endParaRPr>
          </a:p>
          <a:p>
            <a:r>
              <a:rPr lang="nl-NL" dirty="0">
                <a:highlight>
                  <a:srgbClr val="FFFF00"/>
                </a:highlight>
                <a:latin typeface="Georgia" panose="02040502050405020303" pitchFamily="18" charset="0"/>
              </a:rPr>
              <a:t>Auswahlexperiment </a:t>
            </a:r>
          </a:p>
          <a:p>
            <a:endParaRPr lang="nl-NL" dirty="0">
              <a:latin typeface="Georgia" panose="02040502050405020303" pitchFamily="18" charset="0"/>
            </a:endParaRPr>
          </a:p>
          <a:p>
            <a:endParaRPr lang="nl-NL" dirty="0">
              <a:latin typeface="Georgia" panose="02040502050405020303" pitchFamily="18" charset="0"/>
            </a:endParaRPr>
          </a:p>
        </p:txBody>
      </p:sp>
      <p:graphicFrame>
        <p:nvGraphicFramePr>
          <p:cNvPr id="4" name="Tabelle 4">
            <a:extLst>
              <a:ext uri="{FF2B5EF4-FFF2-40B4-BE49-F238E27FC236}">
                <a16:creationId xmlns:a16="http://schemas.microsoft.com/office/drawing/2014/main" id="{5D12CD8B-42C8-2DB2-4B8D-4AEC23DD07FF}"/>
              </a:ext>
            </a:extLst>
          </p:cNvPr>
          <p:cNvGraphicFramePr>
            <a:graphicFrameLocks noGrp="1"/>
          </p:cNvGraphicFramePr>
          <p:nvPr>
            <p:extLst>
              <p:ext uri="{D42A27DB-BD31-4B8C-83A1-F6EECF244321}">
                <p14:modId xmlns:p14="http://schemas.microsoft.com/office/powerpoint/2010/main" val="3695226463"/>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570910268"/>
                    </a:ext>
                  </a:extLst>
                </a:gridCol>
                <a:gridCol w="2286000">
                  <a:extLst>
                    <a:ext uri="{9D8B030D-6E8A-4147-A177-3AD203B41FA5}">
                      <a16:colId xmlns:a16="http://schemas.microsoft.com/office/drawing/2014/main" val="2767606074"/>
                    </a:ext>
                  </a:extLst>
                </a:gridCol>
                <a:gridCol w="2286000">
                  <a:extLst>
                    <a:ext uri="{9D8B030D-6E8A-4147-A177-3AD203B41FA5}">
                      <a16:colId xmlns:a16="http://schemas.microsoft.com/office/drawing/2014/main" val="3625186058"/>
                    </a:ext>
                  </a:extLst>
                </a:gridCol>
                <a:gridCol w="2286000">
                  <a:extLst>
                    <a:ext uri="{9D8B030D-6E8A-4147-A177-3AD203B41FA5}">
                      <a16:colId xmlns:a16="http://schemas.microsoft.com/office/drawing/2014/main" val="3975910008"/>
                    </a:ext>
                  </a:extLst>
                </a:gridCol>
              </a:tblGrid>
              <a:tr h="350565">
                <a:tc>
                  <a:txBody>
                    <a:bodyPr/>
                    <a:lstStyle/>
                    <a:p>
                      <a:r>
                        <a:rPr lang="nl-NL" dirty="0">
                          <a:solidFill>
                            <a:schemeClr val="tx1">
                              <a:lumMod val="75000"/>
                              <a:lumOff val="25000"/>
                            </a:schemeClr>
                          </a:solidFill>
                        </a:rPr>
                        <a:t>Einführung</a:t>
                      </a:r>
                      <a:endParaRPr lang="de-DE" dirty="0">
                        <a:solidFill>
                          <a:schemeClr val="tx1">
                            <a:lumMod val="75000"/>
                            <a:lumOff val="25000"/>
                          </a:schemeClr>
                        </a:solidFill>
                      </a:endParaRPr>
                    </a:p>
                  </a:txBody>
                  <a:tcPr/>
                </a:tc>
                <a:tc>
                  <a:txBody>
                    <a:bodyPr/>
                    <a:lstStyle/>
                    <a:p>
                      <a:r>
                        <a:rPr lang="nl-NL" dirty="0">
                          <a:solidFill>
                            <a:schemeClr val="bg1"/>
                          </a:solidFill>
                        </a:rPr>
                        <a:t>Vorschlag</a:t>
                      </a:r>
                      <a:endParaRPr lang="de-DE" dirty="0">
                        <a:solidFill>
                          <a:schemeClr val="bg1"/>
                        </a:solidFill>
                      </a:endParaRPr>
                    </a:p>
                  </a:txBody>
                  <a:tcPr/>
                </a:tc>
                <a:tc>
                  <a:txBody>
                    <a:bodyPr/>
                    <a:lstStyle/>
                    <a:p>
                      <a:r>
                        <a:rPr lang="nl-NL" dirty="0">
                          <a:solidFill>
                            <a:schemeClr val="tx1">
                              <a:lumMod val="75000"/>
                              <a:lumOff val="25000"/>
                            </a:schemeClr>
                          </a:solidFill>
                        </a:rPr>
                        <a:t>Hypothese</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a16="http://schemas.microsoft.com/office/drawing/2014/main" val="3071743559"/>
                  </a:ext>
                </a:extLst>
              </a:tr>
            </a:tbl>
          </a:graphicData>
        </a:graphic>
      </p:graphicFrame>
    </p:spTree>
    <p:extLst>
      <p:ext uri="{BB962C8B-B14F-4D97-AF65-F5344CB8AC3E}">
        <p14:creationId xmlns:p14="http://schemas.microsoft.com/office/powerpoint/2010/main" val="1573574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Hypothese</a:t>
            </a:r>
            <a:r>
              <a:rPr lang="en-US" dirty="0">
                <a:latin typeface="Georgia" panose="02040502050405020303" pitchFamily="18" charset="0"/>
              </a:rPr>
              <a:t> </a:t>
            </a:r>
            <a:endParaRPr lang="nl-NL" dirty="0">
              <a:latin typeface="Georgia" panose="02040502050405020303" pitchFamily="18" charset="0"/>
            </a:endParaRPr>
          </a:p>
        </p:txBody>
      </p:sp>
      <p:sp>
        <p:nvSpPr>
          <p:cNvPr id="10" name="Tijdelijke aanduiding voor inhoud 8"/>
          <p:cNvSpPr>
            <a:spLocks noGrp="1"/>
          </p:cNvSpPr>
          <p:nvPr>
            <p:ph idx="1"/>
          </p:nvPr>
        </p:nvSpPr>
        <p:spPr>
          <a:xfrm>
            <a:off x="457200" y="1600200"/>
            <a:ext cx="7620000" cy="4800600"/>
          </a:xfrm>
        </p:spPr>
        <p:txBody>
          <a:bodyPr/>
          <a:lstStyle/>
          <a:p>
            <a:endParaRPr lang="nl-NL" dirty="0">
              <a:latin typeface="Georgia" panose="02040502050405020303" pitchFamily="18" charset="0"/>
            </a:endParaRPr>
          </a:p>
          <a:p>
            <a:r>
              <a:rPr lang="nl-NL" dirty="0">
                <a:latin typeface="Georgia" panose="02040502050405020303" pitchFamily="18" charset="0"/>
              </a:rPr>
              <a:t>6 Bedingungen: 2 Kontexte x 3 Partikeln (OH/RA/EW)</a:t>
            </a:r>
          </a:p>
          <a:p>
            <a:pPr marL="411480" lvl="1" indent="0">
              <a:buNone/>
            </a:pPr>
            <a:endParaRPr lang="nl-NL" dirty="0">
              <a:latin typeface="Georgia" panose="02040502050405020303" pitchFamily="18" charset="0"/>
            </a:endParaRPr>
          </a:p>
          <a:p>
            <a:pPr marL="411480" lvl="1" indent="0">
              <a:buNone/>
            </a:pPr>
            <a:endParaRPr lang="nl-NL" dirty="0">
              <a:latin typeface="Georgia" panose="02040502050405020303" pitchFamily="18" charset="0"/>
            </a:endParaRPr>
          </a:p>
          <a:p>
            <a:pPr lvl="1"/>
            <a:endParaRPr lang="nl-NL" dirty="0">
              <a:latin typeface="Georgia" panose="02040502050405020303" pitchFamily="18" charset="0"/>
            </a:endParaRPr>
          </a:p>
          <a:p>
            <a:r>
              <a:rPr lang="nl-NL" dirty="0">
                <a:latin typeface="Georgia" panose="02040502050405020303" pitchFamily="18" charset="0"/>
              </a:rPr>
              <a:t> </a:t>
            </a:r>
          </a:p>
          <a:p>
            <a:endParaRPr lang="nl-NL" dirty="0">
              <a:latin typeface="Georgia" panose="02040502050405020303" pitchFamily="18" charset="0"/>
            </a:endParaRPr>
          </a:p>
          <a:p>
            <a:endParaRPr lang="nl-NL" dirty="0">
              <a:latin typeface="Georgia" panose="02040502050405020303" pitchFamily="18" charset="0"/>
            </a:endParaRPr>
          </a:p>
        </p:txBody>
      </p:sp>
      <p:pic>
        <p:nvPicPr>
          <p:cNvPr id="4" name="Grafik 3">
            <a:extLst>
              <a:ext uri="{FF2B5EF4-FFF2-40B4-BE49-F238E27FC236}">
                <a16:creationId xmlns:a16="http://schemas.microsoft.com/office/drawing/2014/main" id="{7C9779FC-8516-53C0-5DAC-F4D39FA38462}"/>
              </a:ext>
            </a:extLst>
          </p:cNvPr>
          <p:cNvPicPr>
            <a:picLocks noChangeAspect="1"/>
          </p:cNvPicPr>
          <p:nvPr/>
        </p:nvPicPr>
        <p:blipFill>
          <a:blip r:embed="rId3"/>
          <a:stretch>
            <a:fillRect/>
          </a:stretch>
        </p:blipFill>
        <p:spPr>
          <a:xfrm>
            <a:off x="251520" y="2996952"/>
            <a:ext cx="7516274" cy="157184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graphicFrame>
        <p:nvGraphicFramePr>
          <p:cNvPr id="5" name="Tabelle 4">
            <a:extLst>
              <a:ext uri="{FF2B5EF4-FFF2-40B4-BE49-F238E27FC236}">
                <a16:creationId xmlns:a16="http://schemas.microsoft.com/office/drawing/2014/main" id="{C4F3D194-59E7-CBA1-3A20-2D9AA4FBE041}"/>
              </a:ext>
            </a:extLst>
          </p:cNvPr>
          <p:cNvGraphicFramePr>
            <a:graphicFrameLocks noGrp="1"/>
          </p:cNvGraphicFramePr>
          <p:nvPr>
            <p:extLst>
              <p:ext uri="{D42A27DB-BD31-4B8C-83A1-F6EECF244321}">
                <p14:modId xmlns:p14="http://schemas.microsoft.com/office/powerpoint/2010/main" val="1003010774"/>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570910268"/>
                    </a:ext>
                  </a:extLst>
                </a:gridCol>
                <a:gridCol w="2286000">
                  <a:extLst>
                    <a:ext uri="{9D8B030D-6E8A-4147-A177-3AD203B41FA5}">
                      <a16:colId xmlns:a16="http://schemas.microsoft.com/office/drawing/2014/main" val="2767606074"/>
                    </a:ext>
                  </a:extLst>
                </a:gridCol>
                <a:gridCol w="2286000">
                  <a:extLst>
                    <a:ext uri="{9D8B030D-6E8A-4147-A177-3AD203B41FA5}">
                      <a16:colId xmlns:a16="http://schemas.microsoft.com/office/drawing/2014/main" val="3625186058"/>
                    </a:ext>
                  </a:extLst>
                </a:gridCol>
                <a:gridCol w="2286000">
                  <a:extLst>
                    <a:ext uri="{9D8B030D-6E8A-4147-A177-3AD203B41FA5}">
                      <a16:colId xmlns:a16="http://schemas.microsoft.com/office/drawing/2014/main" val="3975910008"/>
                    </a:ext>
                  </a:extLst>
                </a:gridCol>
              </a:tblGrid>
              <a:tr h="350565">
                <a:tc>
                  <a:txBody>
                    <a:bodyPr/>
                    <a:lstStyle/>
                    <a:p>
                      <a:r>
                        <a:rPr lang="nl-NL" dirty="0">
                          <a:solidFill>
                            <a:schemeClr val="tx1">
                              <a:lumMod val="75000"/>
                              <a:lumOff val="25000"/>
                            </a:schemeClr>
                          </a:solidFill>
                        </a:rPr>
                        <a:t>Einführung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Vorschlag</a:t>
                      </a:r>
                      <a:endParaRPr lang="de-DE" dirty="0">
                        <a:solidFill>
                          <a:schemeClr val="tx1">
                            <a:lumMod val="75000"/>
                            <a:lumOff val="25000"/>
                          </a:schemeClr>
                        </a:solidFill>
                      </a:endParaRPr>
                    </a:p>
                  </a:txBody>
                  <a:tcPr/>
                </a:tc>
                <a:tc>
                  <a:txBody>
                    <a:bodyPr/>
                    <a:lstStyle/>
                    <a:p>
                      <a:r>
                        <a:rPr lang="nl-NL" dirty="0">
                          <a:solidFill>
                            <a:schemeClr val="bg1"/>
                          </a:solidFill>
                        </a:rPr>
                        <a:t>Hypothese</a:t>
                      </a:r>
                      <a:endParaRPr lang="de-DE" dirty="0">
                        <a:solidFill>
                          <a:schemeClr val="bg1"/>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a16="http://schemas.microsoft.com/office/drawing/2014/main" val="3071743559"/>
                  </a:ext>
                </a:extLst>
              </a:tr>
            </a:tbl>
          </a:graphicData>
        </a:graphic>
      </p:graphicFrame>
    </p:spTree>
    <p:extLst>
      <p:ext uri="{BB962C8B-B14F-4D97-AF65-F5344CB8AC3E}">
        <p14:creationId xmlns:p14="http://schemas.microsoft.com/office/powerpoint/2010/main" val="28594406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Hypothese</a:t>
            </a:r>
            <a:r>
              <a:rPr lang="en-US" dirty="0">
                <a:latin typeface="Georgia" panose="02040502050405020303" pitchFamily="18" charset="0"/>
              </a:rPr>
              <a:t> </a:t>
            </a:r>
            <a:endParaRPr lang="nl-NL" dirty="0">
              <a:latin typeface="Georgia" panose="02040502050405020303" pitchFamily="18" charset="0"/>
            </a:endParaRPr>
          </a:p>
        </p:txBody>
      </p:sp>
      <p:sp>
        <p:nvSpPr>
          <p:cNvPr id="10" name="Tijdelijke aanduiding voor inhoud 8"/>
          <p:cNvSpPr>
            <a:spLocks noGrp="1"/>
          </p:cNvSpPr>
          <p:nvPr>
            <p:ph idx="1"/>
          </p:nvPr>
        </p:nvSpPr>
        <p:spPr>
          <a:xfrm>
            <a:off x="457200" y="1600200"/>
            <a:ext cx="7620000" cy="4800600"/>
          </a:xfrm>
        </p:spPr>
        <p:txBody>
          <a:bodyPr>
            <a:normAutofit/>
          </a:bodyPr>
          <a:lstStyle/>
          <a:p>
            <a:endParaRPr lang="nl-NL" dirty="0">
              <a:latin typeface="Georgia" panose="02040502050405020303" pitchFamily="18" charset="0"/>
            </a:endParaRPr>
          </a:p>
          <a:p>
            <a:r>
              <a:rPr lang="nl-NL" dirty="0">
                <a:latin typeface="Georgia" panose="02040502050405020303" pitchFamily="18" charset="0"/>
              </a:rPr>
              <a:t>6 Bedingungen: 2 Kontexte x 3 Partikeln (</a:t>
            </a:r>
            <a:r>
              <a:rPr lang="nl-NL" dirty="0">
                <a:solidFill>
                  <a:srgbClr val="00B050"/>
                </a:solidFill>
                <a:latin typeface="Georgia" panose="02040502050405020303" pitchFamily="18" charset="0"/>
              </a:rPr>
              <a:t>OH</a:t>
            </a:r>
            <a:r>
              <a:rPr lang="nl-NL" dirty="0">
                <a:latin typeface="Georgia" panose="02040502050405020303" pitchFamily="18" charset="0"/>
              </a:rPr>
              <a:t>/</a:t>
            </a:r>
            <a:r>
              <a:rPr lang="nl-NL" dirty="0">
                <a:solidFill>
                  <a:srgbClr val="7030A0"/>
                </a:solidFill>
                <a:latin typeface="Georgia" panose="02040502050405020303" pitchFamily="18" charset="0"/>
              </a:rPr>
              <a:t>RA</a:t>
            </a:r>
            <a:r>
              <a:rPr lang="nl-NL" dirty="0">
                <a:latin typeface="Georgia" panose="02040502050405020303" pitchFamily="18" charset="0"/>
              </a:rPr>
              <a:t>/</a:t>
            </a:r>
            <a:r>
              <a:rPr lang="nl-NL" dirty="0">
                <a:solidFill>
                  <a:srgbClr val="FF0000"/>
                </a:solidFill>
                <a:latin typeface="Georgia" panose="02040502050405020303" pitchFamily="18" charset="0"/>
              </a:rPr>
              <a:t>EW</a:t>
            </a:r>
            <a:r>
              <a:rPr lang="nl-NL" dirty="0">
                <a:latin typeface="Georgia" panose="02040502050405020303" pitchFamily="18" charset="0"/>
              </a:rPr>
              <a:t>)</a:t>
            </a:r>
          </a:p>
          <a:p>
            <a:pPr marL="411480" lvl="1" indent="0">
              <a:buNone/>
            </a:pPr>
            <a:endParaRPr lang="nl-NL" dirty="0">
              <a:latin typeface="Georgia" panose="02040502050405020303" pitchFamily="18" charset="0"/>
            </a:endParaRPr>
          </a:p>
          <a:p>
            <a:pPr marL="411480" lvl="1" indent="0">
              <a:buNone/>
            </a:pPr>
            <a:endParaRPr lang="nl-NL" dirty="0">
              <a:latin typeface="Georgia" panose="02040502050405020303" pitchFamily="18" charset="0"/>
            </a:endParaRPr>
          </a:p>
          <a:p>
            <a:pPr marL="411480" lvl="1" indent="0">
              <a:buNone/>
            </a:pPr>
            <a:endParaRPr lang="nl-NL" dirty="0">
              <a:latin typeface="Georgia" panose="02040502050405020303" pitchFamily="18" charset="0"/>
            </a:endParaRPr>
          </a:p>
          <a:p>
            <a:pPr marL="411480" lvl="1" indent="0">
              <a:buNone/>
            </a:pPr>
            <a:endParaRPr lang="nl-NL" dirty="0">
              <a:latin typeface="Georgia" panose="02040502050405020303" pitchFamily="18" charset="0"/>
            </a:endParaRPr>
          </a:p>
          <a:p>
            <a:pPr marL="411480" lvl="1" indent="0">
              <a:buNone/>
            </a:pPr>
            <a:endParaRPr lang="nl-NL" dirty="0">
              <a:latin typeface="Georgia" panose="02040502050405020303" pitchFamily="18" charset="0"/>
            </a:endParaRPr>
          </a:p>
          <a:p>
            <a:pPr marL="411480" lvl="1" indent="0">
              <a:buNone/>
            </a:pPr>
            <a:endParaRPr lang="nl-NL" dirty="0">
              <a:latin typeface="Georgia" panose="02040502050405020303" pitchFamily="18" charset="0"/>
            </a:endParaRPr>
          </a:p>
          <a:p>
            <a:pPr marL="411480" lvl="1" indent="0">
              <a:buNone/>
            </a:pPr>
            <a:endParaRPr lang="nl-NL" dirty="0">
              <a:latin typeface="Georgia" panose="02040502050405020303" pitchFamily="18" charset="0"/>
            </a:endParaRPr>
          </a:p>
          <a:p>
            <a:pPr lvl="1"/>
            <a:r>
              <a:rPr lang="nl-NL" dirty="0">
                <a:solidFill>
                  <a:srgbClr val="00B050"/>
                </a:solidFill>
                <a:latin typeface="Georgia" panose="02040502050405020303" pitchFamily="18" charset="0"/>
              </a:rPr>
              <a:t>Peter </a:t>
            </a:r>
            <a:r>
              <a:rPr lang="nl-NL" dirty="0">
                <a:latin typeface="Georgia" panose="02040502050405020303" pitchFamily="18" charset="0"/>
              </a:rPr>
              <a:t>/ </a:t>
            </a:r>
            <a:r>
              <a:rPr lang="nl-NL" i="1" dirty="0">
                <a:solidFill>
                  <a:srgbClr val="7030A0"/>
                </a:solidFill>
                <a:latin typeface="Georgia" panose="02040502050405020303" pitchFamily="18" charset="0"/>
              </a:rPr>
              <a:t>nur </a:t>
            </a:r>
            <a:r>
              <a:rPr lang="nl-NL" dirty="0">
                <a:solidFill>
                  <a:srgbClr val="7030A0"/>
                </a:solidFill>
                <a:latin typeface="Georgia" panose="02040502050405020303" pitchFamily="18" charset="0"/>
              </a:rPr>
              <a:t>Peter </a:t>
            </a:r>
            <a:r>
              <a:rPr lang="nl-NL" dirty="0">
                <a:latin typeface="Georgia" panose="02040502050405020303" pitchFamily="18" charset="0"/>
              </a:rPr>
              <a:t>/ </a:t>
            </a:r>
            <a:r>
              <a:rPr lang="nl-NL" i="1" dirty="0">
                <a:solidFill>
                  <a:srgbClr val="FF0000"/>
                </a:solidFill>
                <a:latin typeface="Georgia" panose="02040502050405020303" pitchFamily="18" charset="0"/>
              </a:rPr>
              <a:t>ausgerechnet </a:t>
            </a:r>
            <a:r>
              <a:rPr lang="nl-NL" dirty="0">
                <a:solidFill>
                  <a:srgbClr val="FF0000"/>
                </a:solidFill>
                <a:latin typeface="Georgia" panose="02040502050405020303" pitchFamily="18" charset="0"/>
              </a:rPr>
              <a:t>Peter.....</a:t>
            </a:r>
          </a:p>
          <a:p>
            <a:endParaRPr lang="nl-NL"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p:txBody>
      </p:sp>
      <p:pic>
        <p:nvPicPr>
          <p:cNvPr id="4" name="Grafik 3">
            <a:extLst>
              <a:ext uri="{FF2B5EF4-FFF2-40B4-BE49-F238E27FC236}">
                <a16:creationId xmlns:a16="http://schemas.microsoft.com/office/drawing/2014/main" id="{7C9779FC-8516-53C0-5DAC-F4D39FA38462}"/>
              </a:ext>
            </a:extLst>
          </p:cNvPr>
          <p:cNvPicPr>
            <a:picLocks noChangeAspect="1"/>
          </p:cNvPicPr>
          <p:nvPr/>
        </p:nvPicPr>
        <p:blipFill>
          <a:blip r:embed="rId3"/>
          <a:stretch>
            <a:fillRect/>
          </a:stretch>
        </p:blipFill>
        <p:spPr>
          <a:xfrm>
            <a:off x="251520" y="2996952"/>
            <a:ext cx="7516274" cy="157184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graphicFrame>
        <p:nvGraphicFramePr>
          <p:cNvPr id="3" name="Tabelle 4">
            <a:extLst>
              <a:ext uri="{FF2B5EF4-FFF2-40B4-BE49-F238E27FC236}">
                <a16:creationId xmlns:a16="http://schemas.microsoft.com/office/drawing/2014/main" id="{77F75BD7-627F-B3B7-6E6B-309C398289AC}"/>
              </a:ext>
            </a:extLst>
          </p:cNvPr>
          <p:cNvGraphicFramePr>
            <a:graphicFrameLocks noGrp="1"/>
          </p:cNvGraphicFramePr>
          <p:nvPr>
            <p:extLst>
              <p:ext uri="{D42A27DB-BD31-4B8C-83A1-F6EECF244321}">
                <p14:modId xmlns:p14="http://schemas.microsoft.com/office/powerpoint/2010/main" val="2403592160"/>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570910268"/>
                    </a:ext>
                  </a:extLst>
                </a:gridCol>
                <a:gridCol w="2286000">
                  <a:extLst>
                    <a:ext uri="{9D8B030D-6E8A-4147-A177-3AD203B41FA5}">
                      <a16:colId xmlns:a16="http://schemas.microsoft.com/office/drawing/2014/main" val="2767606074"/>
                    </a:ext>
                  </a:extLst>
                </a:gridCol>
                <a:gridCol w="2286000">
                  <a:extLst>
                    <a:ext uri="{9D8B030D-6E8A-4147-A177-3AD203B41FA5}">
                      <a16:colId xmlns:a16="http://schemas.microsoft.com/office/drawing/2014/main" val="3625186058"/>
                    </a:ext>
                  </a:extLst>
                </a:gridCol>
                <a:gridCol w="2286000">
                  <a:extLst>
                    <a:ext uri="{9D8B030D-6E8A-4147-A177-3AD203B41FA5}">
                      <a16:colId xmlns:a16="http://schemas.microsoft.com/office/drawing/2014/main" val="3975910008"/>
                    </a:ext>
                  </a:extLst>
                </a:gridCol>
              </a:tblGrid>
              <a:tr h="350565">
                <a:tc>
                  <a:txBody>
                    <a:bodyPr/>
                    <a:lstStyle/>
                    <a:p>
                      <a:r>
                        <a:rPr lang="nl-NL" dirty="0">
                          <a:solidFill>
                            <a:schemeClr val="tx1">
                              <a:lumMod val="75000"/>
                              <a:lumOff val="25000"/>
                            </a:schemeClr>
                          </a:solidFill>
                        </a:rPr>
                        <a:t>Einführung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Vorschlag</a:t>
                      </a:r>
                      <a:endParaRPr lang="de-DE" dirty="0">
                        <a:solidFill>
                          <a:schemeClr val="tx1">
                            <a:lumMod val="75000"/>
                            <a:lumOff val="25000"/>
                          </a:schemeClr>
                        </a:solidFill>
                      </a:endParaRPr>
                    </a:p>
                  </a:txBody>
                  <a:tcPr/>
                </a:tc>
                <a:tc>
                  <a:txBody>
                    <a:bodyPr/>
                    <a:lstStyle/>
                    <a:p>
                      <a:r>
                        <a:rPr lang="nl-NL" dirty="0">
                          <a:solidFill>
                            <a:schemeClr val="bg1"/>
                          </a:solidFill>
                        </a:rPr>
                        <a:t>Hypothese</a:t>
                      </a:r>
                      <a:endParaRPr lang="de-DE" dirty="0">
                        <a:solidFill>
                          <a:schemeClr val="bg1"/>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a16="http://schemas.microsoft.com/office/drawing/2014/main" val="3071743559"/>
                  </a:ext>
                </a:extLst>
              </a:tr>
            </a:tbl>
          </a:graphicData>
        </a:graphic>
      </p:graphicFrame>
    </p:spTree>
    <p:extLst>
      <p:ext uri="{BB962C8B-B14F-4D97-AF65-F5344CB8AC3E}">
        <p14:creationId xmlns:p14="http://schemas.microsoft.com/office/powerpoint/2010/main" val="1606055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Hypothese</a:t>
            </a:r>
            <a:endParaRPr lang="nl-NL" dirty="0">
              <a:latin typeface="Georgia" panose="02040502050405020303" pitchFamily="18" charset="0"/>
            </a:endParaRPr>
          </a:p>
        </p:txBody>
      </p:sp>
      <p:sp>
        <p:nvSpPr>
          <p:cNvPr id="10" name="Tijdelijke aanduiding voor inhoud 8"/>
          <p:cNvSpPr>
            <a:spLocks noGrp="1"/>
          </p:cNvSpPr>
          <p:nvPr>
            <p:ph idx="1"/>
          </p:nvPr>
        </p:nvSpPr>
        <p:spPr>
          <a:xfrm>
            <a:off x="457200" y="1600200"/>
            <a:ext cx="7620000" cy="5357192"/>
          </a:xfrm>
        </p:spPr>
        <p:txBody>
          <a:bodyPr>
            <a:normAutofit/>
          </a:bodyPr>
          <a:lstStyle/>
          <a:p>
            <a:endParaRPr lang="nl-NL" dirty="0">
              <a:latin typeface="Georgia" panose="02040502050405020303" pitchFamily="18" charset="0"/>
            </a:endParaRPr>
          </a:p>
          <a:p>
            <a:r>
              <a:rPr lang="nl-NL" dirty="0">
                <a:latin typeface="Georgia" panose="02040502050405020303" pitchFamily="18" charset="0"/>
              </a:rPr>
              <a:t>6 Bedingungen: 2 Kontexte x 3 Partikeln (</a:t>
            </a:r>
            <a:r>
              <a:rPr lang="nl-NL" dirty="0">
                <a:solidFill>
                  <a:srgbClr val="00B050"/>
                </a:solidFill>
                <a:latin typeface="Georgia" panose="02040502050405020303" pitchFamily="18" charset="0"/>
              </a:rPr>
              <a:t>OH</a:t>
            </a:r>
            <a:r>
              <a:rPr lang="nl-NL" dirty="0">
                <a:latin typeface="Georgia" panose="02040502050405020303" pitchFamily="18" charset="0"/>
              </a:rPr>
              <a:t>/</a:t>
            </a:r>
            <a:r>
              <a:rPr lang="nl-NL" dirty="0">
                <a:solidFill>
                  <a:srgbClr val="7030A0"/>
                </a:solidFill>
                <a:latin typeface="Georgia" panose="02040502050405020303" pitchFamily="18" charset="0"/>
              </a:rPr>
              <a:t>RA</a:t>
            </a:r>
            <a:r>
              <a:rPr lang="nl-NL" dirty="0">
                <a:latin typeface="Georgia" panose="02040502050405020303" pitchFamily="18" charset="0"/>
              </a:rPr>
              <a:t>/EW)</a:t>
            </a:r>
          </a:p>
          <a:p>
            <a:pPr lvl="1"/>
            <a:r>
              <a:rPr lang="nl-NL" dirty="0">
                <a:solidFill>
                  <a:srgbClr val="00B050"/>
                </a:solidFill>
                <a:latin typeface="Georgia" panose="02040502050405020303" pitchFamily="18" charset="0"/>
              </a:rPr>
              <a:t>Ohne Partikel</a:t>
            </a:r>
            <a:r>
              <a:rPr lang="nl-NL" dirty="0">
                <a:latin typeface="Georgia" panose="02040502050405020303" pitchFamily="18" charset="0"/>
              </a:rPr>
              <a:t>/ </a:t>
            </a:r>
            <a:r>
              <a:rPr lang="nl-NL" dirty="0">
                <a:solidFill>
                  <a:srgbClr val="7030A0"/>
                </a:solidFill>
                <a:latin typeface="Georgia" panose="02040502050405020303" pitchFamily="18" charset="0"/>
              </a:rPr>
              <a:t>mit RA Partikel</a:t>
            </a:r>
          </a:p>
          <a:p>
            <a:pPr lvl="1"/>
            <a:endParaRPr lang="nl-NL" dirty="0">
              <a:latin typeface="Georgia" panose="02040502050405020303" pitchFamily="18" charset="0"/>
            </a:endParaRPr>
          </a:p>
          <a:p>
            <a:r>
              <a:rPr lang="nl-NL" dirty="0">
                <a:latin typeface="Georgia" panose="02040502050405020303" pitchFamily="18" charset="0"/>
              </a:rPr>
              <a:t> </a:t>
            </a:r>
          </a:p>
          <a:p>
            <a:endParaRPr lang="nl-NL"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a:p>
            <a:r>
              <a:rPr lang="nl-NL" dirty="0">
                <a:latin typeface="Georgia" panose="02040502050405020303" pitchFamily="18" charset="0"/>
              </a:rPr>
              <a:t>Die Erwartung bei </a:t>
            </a:r>
            <a:r>
              <a:rPr lang="nl-NL" dirty="0">
                <a:solidFill>
                  <a:srgbClr val="00B050"/>
                </a:solidFill>
                <a:latin typeface="Georgia" panose="02040502050405020303" pitchFamily="18" charset="0"/>
              </a:rPr>
              <a:t>bei</a:t>
            </a:r>
            <a:r>
              <a:rPr lang="nl-NL" dirty="0">
                <a:solidFill>
                  <a:srgbClr val="7030A0"/>
                </a:solidFill>
                <a:latin typeface="Georgia" panose="02040502050405020303" pitchFamily="18" charset="0"/>
              </a:rPr>
              <a:t>den</a:t>
            </a:r>
            <a:r>
              <a:rPr lang="nl-NL" dirty="0">
                <a:latin typeface="Georgia" panose="02040502050405020303" pitchFamily="18" charset="0"/>
              </a:rPr>
              <a:t> ist ähnlich, weil RA mur ein- oder ausschließt. Die Erwartung des Kontextes wird vermutlich fortgesetzt: “</a:t>
            </a:r>
            <a:r>
              <a:rPr lang="nl-NL" dirty="0">
                <a:solidFill>
                  <a:srgbClr val="00B050"/>
                </a:solidFill>
                <a:latin typeface="Georgia" panose="02040502050405020303" pitchFamily="18" charset="0"/>
              </a:rPr>
              <a:t>hat nicht </a:t>
            </a:r>
            <a:r>
              <a:rPr lang="nl-NL" dirty="0">
                <a:solidFill>
                  <a:srgbClr val="7030A0"/>
                </a:solidFill>
                <a:latin typeface="Georgia" panose="02040502050405020303" pitchFamily="18" charset="0"/>
              </a:rPr>
              <a:t>bestanden</a:t>
            </a:r>
            <a:r>
              <a:rPr lang="nl-NL" dirty="0">
                <a:latin typeface="Georgia" panose="02040502050405020303" pitchFamily="18" charset="0"/>
              </a:rPr>
              <a:t>” o.ä.</a:t>
            </a:r>
          </a:p>
        </p:txBody>
      </p:sp>
      <p:pic>
        <p:nvPicPr>
          <p:cNvPr id="4" name="Grafik 3">
            <a:extLst>
              <a:ext uri="{FF2B5EF4-FFF2-40B4-BE49-F238E27FC236}">
                <a16:creationId xmlns:a16="http://schemas.microsoft.com/office/drawing/2014/main" id="{7C9779FC-8516-53C0-5DAC-F4D39FA38462}"/>
              </a:ext>
            </a:extLst>
          </p:cNvPr>
          <p:cNvPicPr>
            <a:picLocks noChangeAspect="1"/>
          </p:cNvPicPr>
          <p:nvPr/>
        </p:nvPicPr>
        <p:blipFill>
          <a:blip r:embed="rId3"/>
          <a:stretch>
            <a:fillRect/>
          </a:stretch>
        </p:blipFill>
        <p:spPr>
          <a:xfrm>
            <a:off x="251520" y="2996952"/>
            <a:ext cx="7516274" cy="157184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graphicFrame>
        <p:nvGraphicFramePr>
          <p:cNvPr id="5" name="Tabelle 4">
            <a:extLst>
              <a:ext uri="{FF2B5EF4-FFF2-40B4-BE49-F238E27FC236}">
                <a16:creationId xmlns:a16="http://schemas.microsoft.com/office/drawing/2014/main" id="{FAC12F5E-E2BF-A1CC-E73D-7B1825C9015C}"/>
              </a:ext>
            </a:extLst>
          </p:cNvPr>
          <p:cNvGraphicFramePr>
            <a:graphicFrameLocks noGrp="1"/>
          </p:cNvGraphicFramePr>
          <p:nvPr>
            <p:extLst>
              <p:ext uri="{D42A27DB-BD31-4B8C-83A1-F6EECF244321}">
                <p14:modId xmlns:p14="http://schemas.microsoft.com/office/powerpoint/2010/main" val="2629047963"/>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570910268"/>
                    </a:ext>
                  </a:extLst>
                </a:gridCol>
                <a:gridCol w="2286000">
                  <a:extLst>
                    <a:ext uri="{9D8B030D-6E8A-4147-A177-3AD203B41FA5}">
                      <a16:colId xmlns:a16="http://schemas.microsoft.com/office/drawing/2014/main" val="2767606074"/>
                    </a:ext>
                  </a:extLst>
                </a:gridCol>
                <a:gridCol w="2286000">
                  <a:extLst>
                    <a:ext uri="{9D8B030D-6E8A-4147-A177-3AD203B41FA5}">
                      <a16:colId xmlns:a16="http://schemas.microsoft.com/office/drawing/2014/main" val="3625186058"/>
                    </a:ext>
                  </a:extLst>
                </a:gridCol>
                <a:gridCol w="2286000">
                  <a:extLst>
                    <a:ext uri="{9D8B030D-6E8A-4147-A177-3AD203B41FA5}">
                      <a16:colId xmlns:a16="http://schemas.microsoft.com/office/drawing/2014/main" val="3975910008"/>
                    </a:ext>
                  </a:extLst>
                </a:gridCol>
              </a:tblGrid>
              <a:tr h="350565">
                <a:tc>
                  <a:txBody>
                    <a:bodyPr/>
                    <a:lstStyle/>
                    <a:p>
                      <a:r>
                        <a:rPr lang="nl-NL" dirty="0">
                          <a:solidFill>
                            <a:schemeClr val="tx1">
                              <a:lumMod val="75000"/>
                              <a:lumOff val="25000"/>
                            </a:schemeClr>
                          </a:solidFill>
                        </a:rPr>
                        <a:t>Einführung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Vorschlag</a:t>
                      </a:r>
                      <a:endParaRPr lang="de-DE" dirty="0">
                        <a:solidFill>
                          <a:schemeClr val="tx1">
                            <a:lumMod val="75000"/>
                            <a:lumOff val="25000"/>
                          </a:schemeClr>
                        </a:solidFill>
                      </a:endParaRPr>
                    </a:p>
                  </a:txBody>
                  <a:tcPr/>
                </a:tc>
                <a:tc>
                  <a:txBody>
                    <a:bodyPr/>
                    <a:lstStyle/>
                    <a:p>
                      <a:r>
                        <a:rPr lang="nl-NL" dirty="0">
                          <a:solidFill>
                            <a:schemeClr val="bg1"/>
                          </a:solidFill>
                        </a:rPr>
                        <a:t>Hypothese</a:t>
                      </a:r>
                      <a:endParaRPr lang="de-DE" dirty="0">
                        <a:solidFill>
                          <a:schemeClr val="bg1"/>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a16="http://schemas.microsoft.com/office/drawing/2014/main" val="3071743559"/>
                  </a:ext>
                </a:extLst>
              </a:tr>
            </a:tbl>
          </a:graphicData>
        </a:graphic>
      </p:graphicFrame>
    </p:spTree>
    <p:extLst>
      <p:ext uri="{BB962C8B-B14F-4D97-AF65-F5344CB8AC3E}">
        <p14:creationId xmlns:p14="http://schemas.microsoft.com/office/powerpoint/2010/main" val="1019175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Hypothese</a:t>
            </a:r>
            <a:endParaRPr lang="nl-NL" dirty="0">
              <a:latin typeface="Georgia" panose="02040502050405020303" pitchFamily="18" charset="0"/>
            </a:endParaRPr>
          </a:p>
        </p:txBody>
      </p:sp>
      <p:sp>
        <p:nvSpPr>
          <p:cNvPr id="10" name="Tijdelijke aanduiding voor inhoud 8"/>
          <p:cNvSpPr>
            <a:spLocks noGrp="1"/>
          </p:cNvSpPr>
          <p:nvPr>
            <p:ph idx="1"/>
          </p:nvPr>
        </p:nvSpPr>
        <p:spPr>
          <a:xfrm>
            <a:off x="457200" y="1600200"/>
            <a:ext cx="7620000" cy="5357192"/>
          </a:xfrm>
        </p:spPr>
        <p:txBody>
          <a:bodyPr>
            <a:normAutofit/>
          </a:bodyPr>
          <a:lstStyle/>
          <a:p>
            <a:endParaRPr lang="nl-NL" dirty="0">
              <a:latin typeface="Georgia" panose="02040502050405020303" pitchFamily="18" charset="0"/>
            </a:endParaRPr>
          </a:p>
          <a:p>
            <a:r>
              <a:rPr lang="nl-NL" dirty="0">
                <a:latin typeface="Georgia" panose="02040502050405020303" pitchFamily="18" charset="0"/>
              </a:rPr>
              <a:t>6 Bedingungen: 2 Kontexte x 3 Partikeln (OH/RA/EW)</a:t>
            </a:r>
          </a:p>
          <a:p>
            <a:pPr lvl="1"/>
            <a:r>
              <a:rPr lang="nl-NL" dirty="0">
                <a:solidFill>
                  <a:srgbClr val="FF0000"/>
                </a:solidFill>
                <a:latin typeface="Georgia" panose="02040502050405020303" pitchFamily="18" charset="0"/>
              </a:rPr>
              <a:t>mit Partikel; EW</a:t>
            </a:r>
          </a:p>
          <a:p>
            <a:pPr marL="411480" lvl="1" indent="0">
              <a:buNone/>
            </a:pPr>
            <a:endParaRPr lang="nl-NL" dirty="0">
              <a:latin typeface="Georgia" panose="02040502050405020303" pitchFamily="18" charset="0"/>
            </a:endParaRPr>
          </a:p>
          <a:p>
            <a:pPr lvl="1"/>
            <a:endParaRPr lang="nl-NL" dirty="0">
              <a:latin typeface="Georgia" panose="02040502050405020303" pitchFamily="18" charset="0"/>
            </a:endParaRPr>
          </a:p>
          <a:p>
            <a:r>
              <a:rPr lang="nl-NL" dirty="0">
                <a:latin typeface="Georgia" panose="02040502050405020303" pitchFamily="18" charset="0"/>
              </a:rPr>
              <a:t> </a:t>
            </a:r>
          </a:p>
          <a:p>
            <a:endParaRPr lang="nl-NL" dirty="0">
              <a:latin typeface="Georgia" panose="02040502050405020303" pitchFamily="18" charset="0"/>
            </a:endParaRPr>
          </a:p>
          <a:p>
            <a:endParaRPr lang="nl-NL" dirty="0">
              <a:latin typeface="Georgia" panose="02040502050405020303" pitchFamily="18" charset="0"/>
            </a:endParaRPr>
          </a:p>
          <a:p>
            <a:r>
              <a:rPr lang="de-DE" dirty="0">
                <a:solidFill>
                  <a:srgbClr val="FF0000"/>
                </a:solidFill>
                <a:latin typeface="Georgia" panose="02040502050405020303" pitchFamily="18" charset="0"/>
              </a:rPr>
              <a:t>Die Erwartung dabei ist, dass der Proband die Linie der Erwartung, die durch den Kontext ursprünglich gegeben wurde, durchbricht und eine andere Richtung einschlägt.</a:t>
            </a:r>
          </a:p>
          <a:p>
            <a:pPr marL="1051560" lvl="3" indent="0">
              <a:buNone/>
            </a:pPr>
            <a:endParaRPr lang="de-DE" dirty="0">
              <a:solidFill>
                <a:srgbClr val="FF0000"/>
              </a:solidFill>
              <a:latin typeface="Georgia" panose="02040502050405020303" pitchFamily="18" charset="0"/>
            </a:endParaRPr>
          </a:p>
        </p:txBody>
      </p:sp>
      <p:pic>
        <p:nvPicPr>
          <p:cNvPr id="4" name="Grafik 3">
            <a:extLst>
              <a:ext uri="{FF2B5EF4-FFF2-40B4-BE49-F238E27FC236}">
                <a16:creationId xmlns:a16="http://schemas.microsoft.com/office/drawing/2014/main" id="{7C9779FC-8516-53C0-5DAC-F4D39FA38462}"/>
              </a:ext>
            </a:extLst>
          </p:cNvPr>
          <p:cNvPicPr>
            <a:picLocks noChangeAspect="1"/>
          </p:cNvPicPr>
          <p:nvPr/>
        </p:nvPicPr>
        <p:blipFill>
          <a:blip r:embed="rId3"/>
          <a:stretch>
            <a:fillRect/>
          </a:stretch>
        </p:blipFill>
        <p:spPr>
          <a:xfrm>
            <a:off x="251520" y="2996952"/>
            <a:ext cx="7516274" cy="157184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graphicFrame>
        <p:nvGraphicFramePr>
          <p:cNvPr id="5" name="Tabelle 4">
            <a:extLst>
              <a:ext uri="{FF2B5EF4-FFF2-40B4-BE49-F238E27FC236}">
                <a16:creationId xmlns:a16="http://schemas.microsoft.com/office/drawing/2014/main" id="{D709F6C8-8B16-4131-CB10-4C3076ED7F23}"/>
              </a:ext>
            </a:extLst>
          </p:cNvPr>
          <p:cNvGraphicFramePr>
            <a:graphicFrameLocks noGrp="1"/>
          </p:cNvGraphicFramePr>
          <p:nvPr>
            <p:extLst>
              <p:ext uri="{D42A27DB-BD31-4B8C-83A1-F6EECF244321}">
                <p14:modId xmlns:p14="http://schemas.microsoft.com/office/powerpoint/2010/main" val="3431175469"/>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570910268"/>
                    </a:ext>
                  </a:extLst>
                </a:gridCol>
                <a:gridCol w="2286000">
                  <a:extLst>
                    <a:ext uri="{9D8B030D-6E8A-4147-A177-3AD203B41FA5}">
                      <a16:colId xmlns:a16="http://schemas.microsoft.com/office/drawing/2014/main" val="2767606074"/>
                    </a:ext>
                  </a:extLst>
                </a:gridCol>
                <a:gridCol w="2286000">
                  <a:extLst>
                    <a:ext uri="{9D8B030D-6E8A-4147-A177-3AD203B41FA5}">
                      <a16:colId xmlns:a16="http://schemas.microsoft.com/office/drawing/2014/main" val="3625186058"/>
                    </a:ext>
                  </a:extLst>
                </a:gridCol>
                <a:gridCol w="2286000">
                  <a:extLst>
                    <a:ext uri="{9D8B030D-6E8A-4147-A177-3AD203B41FA5}">
                      <a16:colId xmlns:a16="http://schemas.microsoft.com/office/drawing/2014/main" val="3975910008"/>
                    </a:ext>
                  </a:extLst>
                </a:gridCol>
              </a:tblGrid>
              <a:tr h="350565">
                <a:tc>
                  <a:txBody>
                    <a:bodyPr/>
                    <a:lstStyle/>
                    <a:p>
                      <a:r>
                        <a:rPr lang="nl-NL" dirty="0">
                          <a:solidFill>
                            <a:schemeClr val="tx1">
                              <a:lumMod val="75000"/>
                              <a:lumOff val="25000"/>
                            </a:schemeClr>
                          </a:solidFill>
                        </a:rPr>
                        <a:t>Einführung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Vorschlag</a:t>
                      </a:r>
                      <a:endParaRPr lang="de-DE" dirty="0">
                        <a:solidFill>
                          <a:schemeClr val="tx1">
                            <a:lumMod val="75000"/>
                            <a:lumOff val="25000"/>
                          </a:schemeClr>
                        </a:solidFill>
                      </a:endParaRPr>
                    </a:p>
                  </a:txBody>
                  <a:tcPr/>
                </a:tc>
                <a:tc>
                  <a:txBody>
                    <a:bodyPr/>
                    <a:lstStyle/>
                    <a:p>
                      <a:r>
                        <a:rPr lang="nl-NL" dirty="0">
                          <a:solidFill>
                            <a:schemeClr val="bg1"/>
                          </a:solidFill>
                        </a:rPr>
                        <a:t>Hypothese</a:t>
                      </a:r>
                      <a:endParaRPr lang="de-DE" dirty="0">
                        <a:solidFill>
                          <a:schemeClr val="bg1"/>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a16="http://schemas.microsoft.com/office/drawing/2014/main" val="3071743559"/>
                  </a:ext>
                </a:extLst>
              </a:tr>
            </a:tbl>
          </a:graphicData>
        </a:graphic>
      </p:graphicFrame>
    </p:spTree>
    <p:extLst>
      <p:ext uri="{BB962C8B-B14F-4D97-AF65-F5344CB8AC3E}">
        <p14:creationId xmlns:p14="http://schemas.microsoft.com/office/powerpoint/2010/main" val="2194448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Hypothese</a:t>
            </a:r>
            <a:endParaRPr lang="nl-NL" dirty="0">
              <a:latin typeface="Georgia" panose="02040502050405020303" pitchFamily="18" charset="0"/>
            </a:endParaRPr>
          </a:p>
        </p:txBody>
      </p:sp>
      <p:sp>
        <p:nvSpPr>
          <p:cNvPr id="10" name="Tijdelijke aanduiding voor inhoud 8"/>
          <p:cNvSpPr>
            <a:spLocks noGrp="1"/>
          </p:cNvSpPr>
          <p:nvPr>
            <p:ph idx="1"/>
          </p:nvPr>
        </p:nvSpPr>
        <p:spPr>
          <a:xfrm>
            <a:off x="457200" y="1600200"/>
            <a:ext cx="7620000" cy="5357192"/>
          </a:xfrm>
        </p:spPr>
        <p:txBody>
          <a:bodyPr>
            <a:normAutofit/>
          </a:bodyPr>
          <a:lstStyle/>
          <a:p>
            <a:endParaRPr lang="nl-NL" dirty="0">
              <a:latin typeface="Georgia" panose="02040502050405020303" pitchFamily="18" charset="0"/>
            </a:endParaRPr>
          </a:p>
          <a:p>
            <a:r>
              <a:rPr lang="nl-NL" dirty="0">
                <a:latin typeface="Georgia" panose="02040502050405020303" pitchFamily="18" charset="0"/>
              </a:rPr>
              <a:t>6 Bedingungen: 2 Kontexte x 3 Partikeln (OH/RA/EW)</a:t>
            </a:r>
          </a:p>
          <a:p>
            <a:pPr lvl="1"/>
            <a:r>
              <a:rPr lang="nl-NL" dirty="0">
                <a:solidFill>
                  <a:srgbClr val="FF0000"/>
                </a:solidFill>
                <a:latin typeface="Georgia" panose="02040502050405020303" pitchFamily="18" charset="0"/>
              </a:rPr>
              <a:t>mit Partikel; EW</a:t>
            </a:r>
          </a:p>
          <a:p>
            <a:pPr marL="411480" lvl="1" indent="0">
              <a:buNone/>
            </a:pPr>
            <a:endParaRPr lang="nl-NL" dirty="0">
              <a:latin typeface="Georgia" panose="02040502050405020303" pitchFamily="18" charset="0"/>
            </a:endParaRPr>
          </a:p>
          <a:p>
            <a:pPr lvl="1"/>
            <a:endParaRPr lang="nl-NL" dirty="0">
              <a:latin typeface="Georgia" panose="02040502050405020303" pitchFamily="18" charset="0"/>
            </a:endParaRPr>
          </a:p>
          <a:p>
            <a:r>
              <a:rPr lang="nl-NL" dirty="0">
                <a:latin typeface="Georgia" panose="02040502050405020303" pitchFamily="18" charset="0"/>
              </a:rPr>
              <a:t> </a:t>
            </a:r>
          </a:p>
          <a:p>
            <a:endParaRPr lang="nl-NL" dirty="0">
              <a:latin typeface="Georgia" panose="02040502050405020303" pitchFamily="18" charset="0"/>
            </a:endParaRPr>
          </a:p>
          <a:p>
            <a:endParaRPr lang="nl-NL" dirty="0">
              <a:latin typeface="Georgia" panose="02040502050405020303" pitchFamily="18" charset="0"/>
            </a:endParaRPr>
          </a:p>
          <a:p>
            <a:r>
              <a:rPr lang="de-DE" dirty="0">
                <a:solidFill>
                  <a:srgbClr val="FF0000"/>
                </a:solidFill>
                <a:latin typeface="Georgia" panose="02040502050405020303" pitchFamily="18" charset="0"/>
              </a:rPr>
              <a:t>Die Erwartung dabei ist, dass der Proband die Linie der Erwartung, die durch den Kontext ursprünglich gegeben wurde, durchbricht und eine andere Richtung einschlägt.</a:t>
            </a:r>
          </a:p>
          <a:p>
            <a:pPr lvl="3"/>
            <a:r>
              <a:rPr lang="de-DE" b="1" dirty="0">
                <a:effectLst/>
                <a:latin typeface="Georgia" panose="02040502050405020303" pitchFamily="18" charset="0"/>
                <a:ea typeface="Calibri" panose="020F0502020204030204" pitchFamily="34" charset="0"/>
                <a:cs typeface="Times New Roman" panose="02020603050405020304" pitchFamily="18" charset="0"/>
              </a:rPr>
              <a:t>Die unwahrscheinlichste Variante zum </a:t>
            </a:r>
            <a:r>
              <a:rPr lang="de-DE" b="1" dirty="0">
                <a:latin typeface="Georgia" panose="02040502050405020303" pitchFamily="18" charset="0"/>
                <a:ea typeface="Calibri" panose="020F0502020204030204" pitchFamily="34" charset="0"/>
                <a:cs typeface="Times New Roman" panose="02020603050405020304" pitchFamily="18" charset="0"/>
              </a:rPr>
              <a:t>Bezugsausdruck wird sofort </a:t>
            </a:r>
            <a:r>
              <a:rPr lang="de-DE" b="1" dirty="0">
                <a:effectLst/>
                <a:latin typeface="Georgia" panose="02040502050405020303" pitchFamily="18" charset="0"/>
                <a:ea typeface="Calibri" panose="020F0502020204030204" pitchFamily="34" charset="0"/>
                <a:cs typeface="Times New Roman" panose="02020603050405020304" pitchFamily="18" charset="0"/>
              </a:rPr>
              <a:t>zu dem wahrscheinlichsten Auskunft.</a:t>
            </a:r>
            <a:r>
              <a:rPr lang="de-DE" b="1" dirty="0">
                <a:latin typeface="Georgia" panose="02040502050405020303" pitchFamily="18" charset="0"/>
              </a:rPr>
              <a:t> </a:t>
            </a:r>
            <a:br>
              <a:rPr lang="de-DE" b="1" dirty="0">
                <a:latin typeface="Georgia" panose="02040502050405020303" pitchFamily="18" charset="0"/>
              </a:rPr>
            </a:br>
            <a:r>
              <a:rPr lang="de-DE" b="1" dirty="0">
                <a:latin typeface="Georgia" panose="02040502050405020303" pitchFamily="18" charset="0"/>
              </a:rPr>
              <a:t>z.B. „hatte die beste Note“</a:t>
            </a:r>
            <a:endParaRPr lang="nl-NL" b="1" dirty="0">
              <a:latin typeface="Georgia" panose="02040502050405020303" pitchFamily="18" charset="0"/>
            </a:endParaRPr>
          </a:p>
          <a:p>
            <a:pPr lvl="3"/>
            <a:endParaRPr lang="de-DE" dirty="0">
              <a:solidFill>
                <a:srgbClr val="FF0000"/>
              </a:solidFill>
              <a:latin typeface="Georgia" panose="02040502050405020303" pitchFamily="18" charset="0"/>
            </a:endParaRPr>
          </a:p>
        </p:txBody>
      </p:sp>
      <p:pic>
        <p:nvPicPr>
          <p:cNvPr id="4" name="Grafik 3">
            <a:extLst>
              <a:ext uri="{FF2B5EF4-FFF2-40B4-BE49-F238E27FC236}">
                <a16:creationId xmlns:a16="http://schemas.microsoft.com/office/drawing/2014/main" id="{7C9779FC-8516-53C0-5DAC-F4D39FA38462}"/>
              </a:ext>
            </a:extLst>
          </p:cNvPr>
          <p:cNvPicPr>
            <a:picLocks noChangeAspect="1"/>
          </p:cNvPicPr>
          <p:nvPr/>
        </p:nvPicPr>
        <p:blipFill>
          <a:blip r:embed="rId3"/>
          <a:stretch>
            <a:fillRect/>
          </a:stretch>
        </p:blipFill>
        <p:spPr>
          <a:xfrm>
            <a:off x="251520" y="2996952"/>
            <a:ext cx="7516274" cy="157184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3" name="Pfeil: nach rechts 2">
            <a:extLst>
              <a:ext uri="{FF2B5EF4-FFF2-40B4-BE49-F238E27FC236}">
                <a16:creationId xmlns:a16="http://schemas.microsoft.com/office/drawing/2014/main" id="{89A4A8EC-891A-AB7F-FE62-3EAAE0131772}"/>
              </a:ext>
            </a:extLst>
          </p:cNvPr>
          <p:cNvSpPr/>
          <p:nvPr/>
        </p:nvSpPr>
        <p:spPr>
          <a:xfrm>
            <a:off x="683568" y="6021288"/>
            <a:ext cx="720080" cy="720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aphicFrame>
        <p:nvGraphicFramePr>
          <p:cNvPr id="5" name="Tabelle 4">
            <a:extLst>
              <a:ext uri="{FF2B5EF4-FFF2-40B4-BE49-F238E27FC236}">
                <a16:creationId xmlns:a16="http://schemas.microsoft.com/office/drawing/2014/main" id="{224E6B48-A9E1-D2A9-C19B-A5803121523C}"/>
              </a:ext>
            </a:extLst>
          </p:cNvPr>
          <p:cNvGraphicFramePr>
            <a:graphicFrameLocks noGrp="1"/>
          </p:cNvGraphicFramePr>
          <p:nvPr>
            <p:extLst>
              <p:ext uri="{D42A27DB-BD31-4B8C-83A1-F6EECF244321}">
                <p14:modId xmlns:p14="http://schemas.microsoft.com/office/powerpoint/2010/main" val="1907551031"/>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570910268"/>
                    </a:ext>
                  </a:extLst>
                </a:gridCol>
                <a:gridCol w="2286000">
                  <a:extLst>
                    <a:ext uri="{9D8B030D-6E8A-4147-A177-3AD203B41FA5}">
                      <a16:colId xmlns:a16="http://schemas.microsoft.com/office/drawing/2014/main" val="2767606074"/>
                    </a:ext>
                  </a:extLst>
                </a:gridCol>
                <a:gridCol w="2286000">
                  <a:extLst>
                    <a:ext uri="{9D8B030D-6E8A-4147-A177-3AD203B41FA5}">
                      <a16:colId xmlns:a16="http://schemas.microsoft.com/office/drawing/2014/main" val="3625186058"/>
                    </a:ext>
                  </a:extLst>
                </a:gridCol>
                <a:gridCol w="2286000">
                  <a:extLst>
                    <a:ext uri="{9D8B030D-6E8A-4147-A177-3AD203B41FA5}">
                      <a16:colId xmlns:a16="http://schemas.microsoft.com/office/drawing/2014/main" val="3975910008"/>
                    </a:ext>
                  </a:extLst>
                </a:gridCol>
              </a:tblGrid>
              <a:tr h="350565">
                <a:tc>
                  <a:txBody>
                    <a:bodyPr/>
                    <a:lstStyle/>
                    <a:p>
                      <a:r>
                        <a:rPr lang="nl-NL" dirty="0">
                          <a:solidFill>
                            <a:schemeClr val="tx1">
                              <a:lumMod val="75000"/>
                              <a:lumOff val="25000"/>
                            </a:schemeClr>
                          </a:solidFill>
                        </a:rPr>
                        <a:t>Einführung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Vorschlag</a:t>
                      </a:r>
                      <a:endParaRPr lang="de-DE" dirty="0">
                        <a:solidFill>
                          <a:schemeClr val="tx1">
                            <a:lumMod val="75000"/>
                            <a:lumOff val="25000"/>
                          </a:schemeClr>
                        </a:solidFill>
                      </a:endParaRPr>
                    </a:p>
                  </a:txBody>
                  <a:tcPr/>
                </a:tc>
                <a:tc>
                  <a:txBody>
                    <a:bodyPr/>
                    <a:lstStyle/>
                    <a:p>
                      <a:r>
                        <a:rPr lang="nl-NL" dirty="0">
                          <a:solidFill>
                            <a:schemeClr val="bg1"/>
                          </a:solidFill>
                        </a:rPr>
                        <a:t>Hypothese</a:t>
                      </a:r>
                      <a:endParaRPr lang="de-DE" dirty="0">
                        <a:solidFill>
                          <a:schemeClr val="bg1"/>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a16="http://schemas.microsoft.com/office/drawing/2014/main" val="3071743559"/>
                  </a:ext>
                </a:extLst>
              </a:tr>
            </a:tbl>
          </a:graphicData>
        </a:graphic>
      </p:graphicFrame>
    </p:spTree>
    <p:extLst>
      <p:ext uri="{BB962C8B-B14F-4D97-AF65-F5344CB8AC3E}">
        <p14:creationId xmlns:p14="http://schemas.microsoft.com/office/powerpoint/2010/main" val="5943224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Auswahlexperiment</a:t>
            </a:r>
            <a:endParaRPr lang="nl-NL" dirty="0">
              <a:latin typeface="Georgia" panose="02040502050405020303" pitchFamily="18" charset="0"/>
            </a:endParaRPr>
          </a:p>
        </p:txBody>
      </p:sp>
      <p:sp>
        <p:nvSpPr>
          <p:cNvPr id="5" name="Tijdelijke aanduiding voor inhoud 4"/>
          <p:cNvSpPr>
            <a:spLocks noGrp="1"/>
          </p:cNvSpPr>
          <p:nvPr>
            <p:ph idx="1"/>
          </p:nvPr>
        </p:nvSpPr>
        <p:spPr>
          <a:xfrm>
            <a:off x="107504" y="1340768"/>
            <a:ext cx="7620000" cy="4800600"/>
          </a:xfrm>
        </p:spPr>
        <p:txBody>
          <a:bodyPr>
            <a:normAutofit/>
          </a:bodyPr>
          <a:lstStyle/>
          <a:p>
            <a:endParaRPr lang="nl-NL" dirty="0">
              <a:solidFill>
                <a:schemeClr val="tx1">
                  <a:lumMod val="90000"/>
                  <a:lumOff val="10000"/>
                </a:schemeClr>
              </a:solidFill>
              <a:latin typeface="Georgia" panose="02040502050405020303" pitchFamily="18" charset="0"/>
            </a:endParaRPr>
          </a:p>
          <a:p>
            <a:pPr marL="0" lvl="0" indent="0">
              <a:lnSpc>
                <a:spcPct val="107000"/>
              </a:lnSpc>
              <a:spcAft>
                <a:spcPts val="800"/>
              </a:spcAft>
              <a:buNone/>
            </a:pPr>
            <a:r>
              <a:rPr lang="de-DE" sz="1800" dirty="0">
                <a:solidFill>
                  <a:srgbClr val="FF0000"/>
                </a:solidFill>
                <a:effectLst/>
                <a:latin typeface="Georgia" panose="02040502050405020303" pitchFamily="18" charset="0"/>
                <a:ea typeface="Times New Roman" panose="02020603050405020304" pitchFamily="18" charset="0"/>
                <a:cs typeface="Calibri" panose="020F0502020204030204" pitchFamily="34" charset="0"/>
              </a:rPr>
              <a:t>       (H) 	</a:t>
            </a:r>
            <a:r>
              <a:rPr lang="de-DE" sz="1800" dirty="0">
                <a:effectLst/>
                <a:latin typeface="Georgia" panose="02040502050405020303" pitchFamily="18" charset="0"/>
                <a:ea typeface="Times New Roman" panose="02020603050405020304" pitchFamily="18" charset="0"/>
                <a:cs typeface="Calibri" panose="020F0502020204030204" pitchFamily="34" charset="0"/>
              </a:rPr>
              <a:t>Peter ist nicht gut in der Schule. Besonders Mathe fällt ihm 	schwer. Trotz ständiger Nachhilfe kommt er nicht mit den 	anderen 	mit. Letzte Woche haben die Schüler eine			Matheprüfung geschrieben.  In der heutigen Stunde wurden die	Prüfungen dann endlich zurückgegeben. </a:t>
            </a:r>
            <a:r>
              <a:rPr lang="de-DE" sz="1800" dirty="0">
                <a:solidFill>
                  <a:srgbClr val="70AD47"/>
                </a:solidFill>
                <a:effectLst/>
                <a:latin typeface="Georgia" panose="02040502050405020303" pitchFamily="18" charset="0"/>
                <a:ea typeface="Times New Roman" panose="02020603050405020304" pitchFamily="18" charset="0"/>
                <a:cs typeface="Calibri" panose="020F0502020204030204" pitchFamily="34" charset="0"/>
              </a:rPr>
              <a:t>  </a:t>
            </a:r>
          </a:p>
          <a:p>
            <a:pPr marL="0" lvl="0" indent="0">
              <a:lnSpc>
                <a:spcPct val="107000"/>
              </a:lnSpc>
              <a:spcAft>
                <a:spcPts val="800"/>
              </a:spcAft>
              <a:buNone/>
            </a:pPr>
            <a:r>
              <a:rPr lang="de-DE" sz="1800" dirty="0">
                <a:solidFill>
                  <a:srgbClr val="70AD47"/>
                </a:solidFill>
                <a:effectLst/>
                <a:latin typeface="Georgia" panose="02040502050405020303" pitchFamily="18" charset="0"/>
                <a:ea typeface="Times New Roman" panose="02020603050405020304" pitchFamily="18" charset="0"/>
                <a:cs typeface="Calibri" panose="020F0502020204030204" pitchFamily="34" charset="0"/>
              </a:rPr>
              <a:t>       (M) </a:t>
            </a:r>
            <a:r>
              <a:rPr lang="de-DE" sz="1800" dirty="0">
                <a:effectLst/>
                <a:latin typeface="Georgia" panose="02040502050405020303" pitchFamily="18" charset="0"/>
                <a:ea typeface="Times New Roman" panose="02020603050405020304" pitchFamily="18" charset="0"/>
                <a:cs typeface="Calibri" panose="020F0502020204030204" pitchFamily="34" charset="0"/>
              </a:rPr>
              <a:t>Peter ist in der 8. Klasse. Seit letzter Woche ist die Aufregung 	unter den Schülern groß, weil sie eine Matheprüfung 	geschrieben und seither gespannt auf die Ergebnisse gewartet 	haben. In der heutigen Stunde wurden die Prüfungen dann 	endlich zurückgegeben. </a:t>
            </a:r>
            <a:endParaRPr lang="de-DE"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228600" indent="0">
              <a:lnSpc>
                <a:spcPct val="107000"/>
              </a:lnSpc>
              <a:buNone/>
            </a:pPr>
            <a:r>
              <a:rPr lang="de-DE" sz="1800" i="1" dirty="0">
                <a:effectLst/>
                <a:latin typeface="Georgia" panose="02040502050405020303" pitchFamily="18" charset="0"/>
                <a:ea typeface="Times New Roman" panose="02020603050405020304" pitchFamily="18" charset="0"/>
                <a:cs typeface="Calibri" panose="020F0502020204030204" pitchFamily="34" charset="0"/>
              </a:rPr>
              <a:t>	</a:t>
            </a:r>
            <a:r>
              <a:rPr lang="nl-NL" dirty="0">
                <a:solidFill>
                  <a:srgbClr val="00B050"/>
                </a:solidFill>
                <a:latin typeface="Georgia" panose="02040502050405020303" pitchFamily="18" charset="0"/>
              </a:rPr>
              <a:t>Peter </a:t>
            </a:r>
            <a:r>
              <a:rPr lang="nl-NL" dirty="0">
                <a:latin typeface="Georgia" panose="02040502050405020303" pitchFamily="18" charset="0"/>
              </a:rPr>
              <a:t>/ </a:t>
            </a:r>
            <a:r>
              <a:rPr lang="nl-NL" i="1" dirty="0">
                <a:solidFill>
                  <a:srgbClr val="7030A0"/>
                </a:solidFill>
                <a:latin typeface="Georgia" panose="02040502050405020303" pitchFamily="18" charset="0"/>
              </a:rPr>
              <a:t>nur </a:t>
            </a:r>
            <a:r>
              <a:rPr lang="nl-NL" dirty="0">
                <a:solidFill>
                  <a:srgbClr val="7030A0"/>
                </a:solidFill>
                <a:latin typeface="Georgia" panose="02040502050405020303" pitchFamily="18" charset="0"/>
              </a:rPr>
              <a:t>Peter </a:t>
            </a:r>
            <a:r>
              <a:rPr lang="nl-NL" dirty="0">
                <a:latin typeface="Georgia" panose="02040502050405020303" pitchFamily="18" charset="0"/>
              </a:rPr>
              <a:t>/ </a:t>
            </a:r>
            <a:r>
              <a:rPr lang="nl-NL" i="1" dirty="0">
                <a:solidFill>
                  <a:srgbClr val="FF0000"/>
                </a:solidFill>
                <a:latin typeface="Georgia" panose="02040502050405020303" pitchFamily="18" charset="0"/>
              </a:rPr>
              <a:t>ausgerechnet </a:t>
            </a:r>
            <a:r>
              <a:rPr lang="nl-NL" dirty="0">
                <a:solidFill>
                  <a:srgbClr val="FF0000"/>
                </a:solidFill>
                <a:latin typeface="Georgia" panose="02040502050405020303" pitchFamily="18" charset="0"/>
              </a:rPr>
              <a:t>Peter....</a:t>
            </a:r>
          </a:p>
          <a:p>
            <a:pPr marL="228600" indent="0">
              <a:lnSpc>
                <a:spcPct val="107000"/>
              </a:lnSpc>
              <a:buNone/>
            </a:pPr>
            <a:endParaRPr lang="nl-NL" dirty="0">
              <a:solidFill>
                <a:srgbClr val="FF0000"/>
              </a:solidFill>
              <a:latin typeface="Georgia" panose="02040502050405020303" pitchFamily="18" charset="0"/>
            </a:endParaRPr>
          </a:p>
          <a:p>
            <a:pPr marL="228600" indent="0">
              <a:lnSpc>
                <a:spcPct val="107000"/>
              </a:lnSpc>
              <a:buNone/>
            </a:pPr>
            <a:endParaRPr lang="nl-NL" dirty="0">
              <a:latin typeface="Georgia" panose="02040502050405020303" pitchFamily="18" charset="0"/>
            </a:endParaRPr>
          </a:p>
          <a:p>
            <a:endParaRPr lang="nl-NL" dirty="0">
              <a:solidFill>
                <a:schemeClr val="tx1">
                  <a:lumMod val="50000"/>
                  <a:lumOff val="50000"/>
                </a:schemeClr>
              </a:solidFill>
              <a:latin typeface="Georgia" pitchFamily="18" charset="0"/>
            </a:endParaRPr>
          </a:p>
          <a:p>
            <a:endParaRPr lang="nl-NL" dirty="0">
              <a:solidFill>
                <a:schemeClr val="tx1">
                  <a:lumMod val="50000"/>
                  <a:lumOff val="50000"/>
                </a:schemeClr>
              </a:solidFill>
              <a:latin typeface="Georgia" pitchFamily="18" charset="0"/>
            </a:endParaRPr>
          </a:p>
          <a:p>
            <a:endParaRPr lang="nl-NL" dirty="0">
              <a:solidFill>
                <a:schemeClr val="tx1">
                  <a:lumMod val="50000"/>
                  <a:lumOff val="50000"/>
                </a:schemeClr>
              </a:solidFill>
              <a:latin typeface="Georgia" pitchFamily="18" charset="0"/>
            </a:endParaRPr>
          </a:p>
          <a:p>
            <a:endParaRPr lang="nl-NL" dirty="0">
              <a:latin typeface="Georgia" panose="02040502050405020303" pitchFamily="18" charset="0"/>
            </a:endParaRPr>
          </a:p>
          <a:p>
            <a:endParaRPr lang="nl-NL" dirty="0">
              <a:latin typeface="Georgia" panose="02040502050405020303" pitchFamily="18" charset="0"/>
            </a:endParaRPr>
          </a:p>
          <a:p>
            <a:endParaRPr lang="en-US" dirty="0">
              <a:latin typeface="Georgia" panose="02040502050405020303" pitchFamily="18" charset="0"/>
            </a:endParaRPr>
          </a:p>
        </p:txBody>
      </p:sp>
      <p:graphicFrame>
        <p:nvGraphicFramePr>
          <p:cNvPr id="6" name="Tabelle 4">
            <a:extLst>
              <a:ext uri="{FF2B5EF4-FFF2-40B4-BE49-F238E27FC236}">
                <a16:creationId xmlns:a16="http://schemas.microsoft.com/office/drawing/2014/main" id="{BF31150C-3EE8-E0DF-AD14-7B8BD145872B}"/>
              </a:ext>
            </a:extLst>
          </p:cNvPr>
          <p:cNvGraphicFramePr>
            <a:graphicFrameLocks noGrp="1"/>
          </p:cNvGraphicFramePr>
          <p:nvPr>
            <p:extLst>
              <p:ext uri="{D42A27DB-BD31-4B8C-83A1-F6EECF244321}">
                <p14:modId xmlns:p14="http://schemas.microsoft.com/office/powerpoint/2010/main" val="1395524539"/>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570910268"/>
                    </a:ext>
                  </a:extLst>
                </a:gridCol>
                <a:gridCol w="2286000">
                  <a:extLst>
                    <a:ext uri="{9D8B030D-6E8A-4147-A177-3AD203B41FA5}">
                      <a16:colId xmlns:a16="http://schemas.microsoft.com/office/drawing/2014/main" val="2767606074"/>
                    </a:ext>
                  </a:extLst>
                </a:gridCol>
                <a:gridCol w="2286000">
                  <a:extLst>
                    <a:ext uri="{9D8B030D-6E8A-4147-A177-3AD203B41FA5}">
                      <a16:colId xmlns:a16="http://schemas.microsoft.com/office/drawing/2014/main" val="3625186058"/>
                    </a:ext>
                  </a:extLst>
                </a:gridCol>
                <a:gridCol w="2286000">
                  <a:extLst>
                    <a:ext uri="{9D8B030D-6E8A-4147-A177-3AD203B41FA5}">
                      <a16:colId xmlns:a16="http://schemas.microsoft.com/office/drawing/2014/main" val="3975910008"/>
                    </a:ext>
                  </a:extLst>
                </a:gridCol>
              </a:tblGrid>
              <a:tr h="350565">
                <a:tc>
                  <a:txBody>
                    <a:bodyPr/>
                    <a:lstStyle/>
                    <a:p>
                      <a:r>
                        <a:rPr lang="nl-NL" dirty="0">
                          <a:solidFill>
                            <a:schemeClr val="tx1">
                              <a:lumMod val="75000"/>
                              <a:lumOff val="25000"/>
                            </a:schemeClr>
                          </a:solidFill>
                        </a:rPr>
                        <a:t>Einführung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Vorschlag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Hypothese</a:t>
                      </a:r>
                      <a:endParaRPr lang="de-DE" dirty="0">
                        <a:solidFill>
                          <a:schemeClr val="tx1">
                            <a:lumMod val="75000"/>
                            <a:lumOff val="25000"/>
                          </a:schemeClr>
                        </a:solidFill>
                      </a:endParaRPr>
                    </a:p>
                  </a:txBody>
                  <a:tcPr/>
                </a:tc>
                <a:tc>
                  <a:txBody>
                    <a:bodyPr/>
                    <a:lstStyle/>
                    <a:p>
                      <a:r>
                        <a:rPr lang="nl-NL" dirty="0">
                          <a:solidFill>
                            <a:schemeClr val="bg1"/>
                          </a:solidFill>
                        </a:rPr>
                        <a:t>Experimente</a:t>
                      </a:r>
                      <a:endParaRPr lang="de-DE" dirty="0">
                        <a:solidFill>
                          <a:schemeClr val="bg1"/>
                        </a:solidFill>
                      </a:endParaRPr>
                    </a:p>
                  </a:txBody>
                  <a:tcPr/>
                </a:tc>
                <a:extLst>
                  <a:ext uri="{0D108BD9-81ED-4DB2-BD59-A6C34878D82A}">
                    <a16:rowId xmlns:a16="http://schemas.microsoft.com/office/drawing/2014/main" val="3071743559"/>
                  </a:ext>
                </a:extLst>
              </a:tr>
            </a:tbl>
          </a:graphicData>
        </a:graphic>
      </p:graphicFrame>
    </p:spTree>
    <p:extLst>
      <p:ext uri="{BB962C8B-B14F-4D97-AF65-F5344CB8AC3E}">
        <p14:creationId xmlns:p14="http://schemas.microsoft.com/office/powerpoint/2010/main" val="22472733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7704" y="2492896"/>
            <a:ext cx="7620000" cy="1143000"/>
          </a:xfrm>
        </p:spPr>
        <p:txBody>
          <a:bodyPr/>
          <a:lstStyle/>
          <a:p>
            <a:r>
              <a:rPr lang="en-US" sz="6600" dirty="0" err="1">
                <a:latin typeface="Georgia" panose="02040502050405020303" pitchFamily="18" charset="0"/>
              </a:rPr>
              <a:t>Jetzt</a:t>
            </a:r>
            <a:r>
              <a:rPr lang="en-US" sz="6600" dirty="0">
                <a:latin typeface="Georgia" panose="02040502050405020303" pitchFamily="18" charset="0"/>
              </a:rPr>
              <a:t> </a:t>
            </a:r>
            <a:r>
              <a:rPr lang="en-US" sz="6600" dirty="0" err="1">
                <a:latin typeface="Georgia" panose="02040502050405020303" pitchFamily="18" charset="0"/>
              </a:rPr>
              <a:t>euere</a:t>
            </a:r>
            <a:r>
              <a:rPr lang="en-US" sz="6600" dirty="0">
                <a:latin typeface="Georgia" panose="02040502050405020303" pitchFamily="18" charset="0"/>
              </a:rPr>
              <a:t> </a:t>
            </a:r>
            <a:r>
              <a:rPr lang="en-US" sz="6600" dirty="0" err="1">
                <a:latin typeface="Georgia" panose="02040502050405020303" pitchFamily="18" charset="0"/>
              </a:rPr>
              <a:t>Antworten</a:t>
            </a:r>
            <a:r>
              <a:rPr lang="en-US" sz="6600" dirty="0">
                <a:latin typeface="Georgia" panose="02040502050405020303" pitchFamily="18" charset="0"/>
              </a:rPr>
              <a:t>:</a:t>
            </a:r>
            <a:r>
              <a:rPr lang="en-US" dirty="0">
                <a:latin typeface="Georgia" panose="02040502050405020303" pitchFamily="18" charset="0"/>
              </a:rPr>
              <a:t> </a:t>
            </a:r>
            <a:endParaRPr lang="nl-NL" dirty="0">
              <a:latin typeface="Georgia" panose="02040502050405020303" pitchFamily="18" charset="0"/>
            </a:endParaRPr>
          </a:p>
        </p:txBody>
      </p:sp>
      <p:sp>
        <p:nvSpPr>
          <p:cNvPr id="5" name="Tijdelijke aanduiding voor inhoud 4"/>
          <p:cNvSpPr>
            <a:spLocks noGrp="1"/>
          </p:cNvSpPr>
          <p:nvPr>
            <p:ph idx="1"/>
          </p:nvPr>
        </p:nvSpPr>
        <p:spPr/>
        <p:txBody>
          <a:bodyPr/>
          <a:lstStyle/>
          <a:p>
            <a:pPr lvl="0"/>
            <a:endParaRPr lang="nl-NL" dirty="0"/>
          </a:p>
          <a:p>
            <a:endParaRPr lang="en-US" dirty="0"/>
          </a:p>
        </p:txBody>
      </p:sp>
    </p:spTree>
    <p:extLst>
      <p:ext uri="{BB962C8B-B14F-4D97-AF65-F5344CB8AC3E}">
        <p14:creationId xmlns:p14="http://schemas.microsoft.com/office/powerpoint/2010/main" val="20955093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latin typeface="Georgia" panose="02040502050405020303" pitchFamily="18" charset="0"/>
              </a:rPr>
              <a:t>Literatur</a:t>
            </a:r>
            <a:endParaRPr lang="en-US" dirty="0">
              <a:latin typeface="Georgia" panose="02040502050405020303" pitchFamily="18" charset="0"/>
            </a:endParaRPr>
          </a:p>
        </p:txBody>
      </p:sp>
      <p:sp>
        <p:nvSpPr>
          <p:cNvPr id="3" name="Tijdelijke aanduiding voor inhoud 2"/>
          <p:cNvSpPr>
            <a:spLocks noGrp="1"/>
          </p:cNvSpPr>
          <p:nvPr>
            <p:ph idx="1"/>
          </p:nvPr>
        </p:nvSpPr>
        <p:spPr/>
        <p:txBody>
          <a:bodyPr>
            <a:normAutofit fontScale="70000" lnSpcReduction="20000"/>
          </a:bodyPr>
          <a:lstStyle/>
          <a:p>
            <a:pPr>
              <a:buNone/>
            </a:pPr>
            <a:endParaRPr lang="en-US" dirty="0">
              <a:latin typeface="Georgia" pitchFamily="18" charset="0"/>
            </a:endParaRPr>
          </a:p>
          <a:p>
            <a:r>
              <a:rPr lang="de-DE" sz="1900" dirty="0">
                <a:latin typeface="Georgia" pitchFamily="18" charset="0"/>
              </a:rPr>
              <a:t>Altmann, H. (1976a), Die Gradpartikeln im Deutschen. Untersuchungen zu ihrer Syntax, 	Semantik und Pragmatik. Tübingen, Max Niemeyer Verlag. </a:t>
            </a:r>
          </a:p>
          <a:p>
            <a:r>
              <a:rPr lang="de-DE" sz="1900" dirty="0">
                <a:latin typeface="Georgia" pitchFamily="18" charset="0"/>
              </a:rPr>
              <a:t>Altmann, H. (1978), Gradpartikelprobleme. Tübingen, TBL Verlag Gunter Narr. </a:t>
            </a:r>
          </a:p>
          <a:p>
            <a:r>
              <a:rPr lang="de-DE" sz="1900" dirty="0">
                <a:latin typeface="Georgia" pitchFamily="18" charset="0"/>
              </a:rPr>
              <a:t>Dimroth, C. (2004), Fokuspartikeln und Informationsgliederung im Deutschen, Band 69, 	 Tübingen, </a:t>
            </a:r>
            <a:r>
              <a:rPr lang="de-DE" sz="1900" dirty="0" err="1">
                <a:latin typeface="Georgia" pitchFamily="18" charset="0"/>
              </a:rPr>
              <a:t>Stauffenburg</a:t>
            </a:r>
            <a:r>
              <a:rPr lang="de-DE" sz="1900" dirty="0">
                <a:latin typeface="Georgia" pitchFamily="18" charset="0"/>
              </a:rPr>
              <a:t> Verlag, S.11-68.</a:t>
            </a:r>
          </a:p>
          <a:p>
            <a:r>
              <a:rPr lang="de-DE" sz="1900" dirty="0">
                <a:latin typeface="Georgia" pitchFamily="18" charset="0"/>
              </a:rPr>
              <a:t>Dimroth, C. &amp; Klein, W. (1996), Fokuspartikeln in </a:t>
            </a:r>
            <a:r>
              <a:rPr lang="de-DE" sz="1900" dirty="0" err="1">
                <a:latin typeface="Georgia" pitchFamily="18" charset="0"/>
              </a:rPr>
              <a:t>Lernervarietäten</a:t>
            </a:r>
            <a:r>
              <a:rPr lang="de-DE" sz="1900" dirty="0">
                <a:latin typeface="Georgia" pitchFamily="18" charset="0"/>
              </a:rPr>
              <a:t>, Ein Analyserahmen und	einige Beispiele. Zeitschrift für Literaturwissenschaft und Linguistik, S. 74.</a:t>
            </a:r>
          </a:p>
          <a:p>
            <a:r>
              <a:rPr lang="de-DE" sz="1900" dirty="0">
                <a:latin typeface="Georgia" pitchFamily="18" charset="0"/>
              </a:rPr>
              <a:t>Dudenredaktion (o. J.), Duden Deutsches Universalwörterbuch, Webversion.</a:t>
            </a:r>
          </a:p>
          <a:p>
            <a:r>
              <a:rPr lang="de-DE" sz="1900" dirty="0">
                <a:latin typeface="Georgia" pitchFamily="18" charset="0"/>
              </a:rPr>
              <a:t>Greenberg, Y. (2019), Even and </a:t>
            </a:r>
            <a:r>
              <a:rPr lang="de-DE" sz="1900" dirty="0" err="1">
                <a:latin typeface="Georgia" pitchFamily="18" charset="0"/>
              </a:rPr>
              <a:t>only</a:t>
            </a:r>
            <a:r>
              <a:rPr lang="de-DE" sz="1900" dirty="0">
                <a:latin typeface="Georgia" pitchFamily="18" charset="0"/>
              </a:rPr>
              <a:t>: </a:t>
            </a:r>
            <a:r>
              <a:rPr lang="de-DE" sz="1900" dirty="0" err="1">
                <a:latin typeface="Georgia" pitchFamily="18" charset="0"/>
              </a:rPr>
              <a:t>Arguing</a:t>
            </a:r>
            <a:r>
              <a:rPr lang="de-DE" sz="1900" dirty="0">
                <a:latin typeface="Georgia" pitchFamily="18" charset="0"/>
              </a:rPr>
              <a:t> </a:t>
            </a:r>
            <a:r>
              <a:rPr lang="de-DE" sz="1900" dirty="0" err="1">
                <a:latin typeface="Georgia" pitchFamily="18" charset="0"/>
              </a:rPr>
              <a:t>for</a:t>
            </a:r>
            <a:r>
              <a:rPr lang="de-DE" sz="1900" dirty="0">
                <a:latin typeface="Georgia" pitchFamily="18" charset="0"/>
              </a:rPr>
              <a:t> </a:t>
            </a:r>
            <a:r>
              <a:rPr lang="de-DE" sz="1900" dirty="0" err="1">
                <a:latin typeface="Georgia" pitchFamily="18" charset="0"/>
              </a:rPr>
              <a:t>parallels</a:t>
            </a:r>
            <a:r>
              <a:rPr lang="de-DE" sz="1900" dirty="0">
                <a:latin typeface="Georgia" pitchFamily="18" charset="0"/>
              </a:rPr>
              <a:t> in </a:t>
            </a:r>
            <a:r>
              <a:rPr lang="de-DE" sz="1900" dirty="0" err="1">
                <a:latin typeface="Georgia" pitchFamily="18" charset="0"/>
              </a:rPr>
              <a:t>scalarity</a:t>
            </a:r>
            <a:r>
              <a:rPr lang="de-DE" sz="1900" dirty="0">
                <a:latin typeface="Georgia" pitchFamily="18" charset="0"/>
              </a:rPr>
              <a:t> and in </a:t>
            </a:r>
            <a:r>
              <a:rPr lang="de-DE" sz="1900" dirty="0" err="1">
                <a:latin typeface="Georgia" pitchFamily="18" charset="0"/>
              </a:rPr>
              <a:t>constructing</a:t>
            </a:r>
            <a:r>
              <a:rPr lang="de-DE" sz="1900" dirty="0">
                <a:latin typeface="Georgia" pitchFamily="18" charset="0"/>
              </a:rPr>
              <a:t> alternatives (</a:t>
            </a:r>
            <a:r>
              <a:rPr lang="de-DE" sz="1900" dirty="0" err="1">
                <a:latin typeface="Georgia" pitchFamily="18" charset="0"/>
              </a:rPr>
              <a:t>to</a:t>
            </a:r>
            <a:r>
              <a:rPr lang="de-DE" sz="1900" dirty="0">
                <a:latin typeface="Georgia" pitchFamily="18" charset="0"/>
              </a:rPr>
              <a:t> </a:t>
            </a:r>
            <a:r>
              <a:rPr lang="de-DE" sz="1900" dirty="0" err="1">
                <a:latin typeface="Georgia" pitchFamily="18" charset="0"/>
              </a:rPr>
              <a:t>appear</a:t>
            </a:r>
            <a:r>
              <a:rPr lang="de-DE" sz="1900" dirty="0">
                <a:latin typeface="Georgia" pitchFamily="18" charset="0"/>
              </a:rPr>
              <a:t> in </a:t>
            </a:r>
            <a:r>
              <a:rPr lang="de-DE" sz="1900" dirty="0" err="1">
                <a:latin typeface="Georgia" pitchFamily="18" charset="0"/>
              </a:rPr>
              <a:t>the</a:t>
            </a:r>
            <a:r>
              <a:rPr lang="de-DE" sz="1900" dirty="0">
                <a:latin typeface="Georgia" pitchFamily="18" charset="0"/>
              </a:rPr>
              <a:t> </a:t>
            </a:r>
            <a:r>
              <a:rPr lang="de-DE" sz="1900" dirty="0" err="1">
                <a:latin typeface="Georgia" pitchFamily="18" charset="0"/>
              </a:rPr>
              <a:t>proceedings</a:t>
            </a:r>
            <a:r>
              <a:rPr lang="de-DE" sz="1900" dirty="0">
                <a:latin typeface="Georgia" pitchFamily="18" charset="0"/>
              </a:rPr>
              <a:t> </a:t>
            </a:r>
            <a:r>
              <a:rPr lang="de-DE" sz="1900" dirty="0" err="1">
                <a:latin typeface="Georgia" pitchFamily="18" charset="0"/>
              </a:rPr>
              <a:t>of</a:t>
            </a:r>
            <a:r>
              <a:rPr lang="de-DE" sz="1900" dirty="0">
                <a:latin typeface="Georgia" pitchFamily="18" charset="0"/>
              </a:rPr>
              <a:t> NELS49). </a:t>
            </a:r>
          </a:p>
          <a:p>
            <a:r>
              <a:rPr lang="de-DE" sz="1900" dirty="0">
                <a:latin typeface="Georgia" pitchFamily="18" charset="0"/>
              </a:rPr>
              <a:t>Jacobs, J. (1983), Fokus und Skalen. Zur Syntax und Semantik von Gradpartikeln im Deut-</a:t>
            </a:r>
            <a:r>
              <a:rPr lang="de-DE" sz="1900" dirty="0" err="1">
                <a:latin typeface="Georgia" pitchFamily="18" charset="0"/>
              </a:rPr>
              <a:t>schen</a:t>
            </a:r>
            <a:r>
              <a:rPr lang="de-DE" sz="1900" dirty="0">
                <a:latin typeface="Georgia" pitchFamily="18" charset="0"/>
              </a:rPr>
              <a:t>. Tübingen, Max Niemeyer Verlag. </a:t>
            </a:r>
          </a:p>
          <a:p>
            <a:r>
              <a:rPr lang="de-DE" sz="1900" dirty="0">
                <a:latin typeface="Georgia" pitchFamily="18" charset="0"/>
              </a:rPr>
              <a:t>König, E. (1991a), The </a:t>
            </a:r>
            <a:r>
              <a:rPr lang="de-DE" sz="1900" dirty="0" err="1">
                <a:latin typeface="Georgia" pitchFamily="18" charset="0"/>
              </a:rPr>
              <a:t>meaning</a:t>
            </a:r>
            <a:r>
              <a:rPr lang="de-DE" sz="1900" dirty="0">
                <a:latin typeface="Georgia" pitchFamily="18" charset="0"/>
              </a:rPr>
              <a:t> </a:t>
            </a:r>
            <a:r>
              <a:rPr lang="de-DE" sz="1900" dirty="0" err="1">
                <a:latin typeface="Georgia" pitchFamily="18" charset="0"/>
              </a:rPr>
              <a:t>of</a:t>
            </a:r>
            <a:r>
              <a:rPr lang="de-DE" sz="1900" dirty="0">
                <a:latin typeface="Georgia" pitchFamily="18" charset="0"/>
              </a:rPr>
              <a:t> Focus </a:t>
            </a:r>
            <a:r>
              <a:rPr lang="de-DE" sz="1900" dirty="0" err="1">
                <a:latin typeface="Georgia" pitchFamily="18" charset="0"/>
              </a:rPr>
              <a:t>Particles</a:t>
            </a:r>
            <a:r>
              <a:rPr lang="de-DE" sz="1900" dirty="0">
                <a:latin typeface="Georgia" pitchFamily="18" charset="0"/>
              </a:rPr>
              <a:t>. London, </a:t>
            </a:r>
            <a:r>
              <a:rPr lang="de-DE" sz="1900" dirty="0" err="1">
                <a:latin typeface="Georgia" pitchFamily="18" charset="0"/>
              </a:rPr>
              <a:t>Rouledge</a:t>
            </a:r>
            <a:r>
              <a:rPr lang="de-DE" sz="1900" dirty="0">
                <a:latin typeface="Georgia" pitchFamily="18" charset="0"/>
              </a:rPr>
              <a:t>. </a:t>
            </a:r>
          </a:p>
          <a:p>
            <a:r>
              <a:rPr lang="de-DE" sz="1900" dirty="0">
                <a:latin typeface="Georgia" pitchFamily="18" charset="0"/>
              </a:rPr>
              <a:t>König, E. (1991c), </a:t>
            </a:r>
            <a:r>
              <a:rPr lang="de-DE" sz="1900" dirty="0" err="1">
                <a:latin typeface="Georgia" pitchFamily="18" charset="0"/>
              </a:rPr>
              <a:t>Identical</a:t>
            </a:r>
            <a:r>
              <a:rPr lang="de-DE" sz="1900" dirty="0">
                <a:latin typeface="Georgia" pitchFamily="18" charset="0"/>
              </a:rPr>
              <a:t> </a:t>
            </a:r>
            <a:r>
              <a:rPr lang="de-DE" sz="1900" dirty="0" err="1">
                <a:latin typeface="Georgia" pitchFamily="18" charset="0"/>
              </a:rPr>
              <a:t>values</a:t>
            </a:r>
            <a:r>
              <a:rPr lang="de-DE" sz="1900" dirty="0">
                <a:latin typeface="Georgia" pitchFamily="18" charset="0"/>
              </a:rPr>
              <a:t> in </a:t>
            </a:r>
            <a:r>
              <a:rPr lang="de-DE" sz="1900" dirty="0" err="1">
                <a:latin typeface="Georgia" pitchFamily="18" charset="0"/>
              </a:rPr>
              <a:t>Conflicting</a:t>
            </a:r>
            <a:r>
              <a:rPr lang="de-DE" sz="1900" dirty="0">
                <a:latin typeface="Georgia" pitchFamily="18" charset="0"/>
              </a:rPr>
              <a:t> </a:t>
            </a:r>
            <a:r>
              <a:rPr lang="de-DE" sz="1900" dirty="0" err="1">
                <a:latin typeface="Georgia" pitchFamily="18" charset="0"/>
              </a:rPr>
              <a:t>Roles</a:t>
            </a:r>
            <a:r>
              <a:rPr lang="de-DE" sz="1900" dirty="0">
                <a:latin typeface="Georgia" pitchFamily="18" charset="0"/>
              </a:rPr>
              <a:t>: The Use </a:t>
            </a:r>
            <a:r>
              <a:rPr lang="de-DE" sz="1900" dirty="0" err="1">
                <a:latin typeface="Georgia" pitchFamily="18" charset="0"/>
              </a:rPr>
              <a:t>of</a:t>
            </a:r>
            <a:r>
              <a:rPr lang="de-DE" sz="1900" dirty="0">
                <a:latin typeface="Georgia" pitchFamily="18" charset="0"/>
              </a:rPr>
              <a:t> German ausgerechnet, eben, 	genau und gerade </a:t>
            </a:r>
            <a:r>
              <a:rPr lang="de-DE" sz="1900" dirty="0" err="1">
                <a:latin typeface="Georgia" pitchFamily="18" charset="0"/>
              </a:rPr>
              <a:t>as</a:t>
            </a:r>
            <a:r>
              <a:rPr lang="de-DE" sz="1900" dirty="0">
                <a:latin typeface="Georgia" pitchFamily="18" charset="0"/>
              </a:rPr>
              <a:t> Focus </a:t>
            </a:r>
            <a:r>
              <a:rPr lang="de-DE" sz="1900" dirty="0" err="1">
                <a:latin typeface="Georgia" pitchFamily="18" charset="0"/>
              </a:rPr>
              <a:t>Particles</a:t>
            </a:r>
            <a:r>
              <a:rPr lang="de-DE" sz="1900" dirty="0">
                <a:latin typeface="Georgia" pitchFamily="18" charset="0"/>
              </a:rPr>
              <a:t>. In W. Abrahams (</a:t>
            </a:r>
            <a:r>
              <a:rPr lang="de-DE" sz="1900" dirty="0" err="1">
                <a:latin typeface="Georgia" pitchFamily="18" charset="0"/>
              </a:rPr>
              <a:t>Hg</a:t>
            </a:r>
            <a:r>
              <a:rPr lang="de-DE" sz="1900" dirty="0">
                <a:latin typeface="Georgia" pitchFamily="18" charset="0"/>
              </a:rPr>
              <a:t>.) </a:t>
            </a:r>
            <a:r>
              <a:rPr lang="de-DE" sz="1900" dirty="0" err="1">
                <a:latin typeface="Georgia" pitchFamily="18" charset="0"/>
              </a:rPr>
              <a:t>Discourse</a:t>
            </a:r>
            <a:r>
              <a:rPr lang="de-DE" sz="1900" dirty="0">
                <a:latin typeface="Georgia" pitchFamily="18" charset="0"/>
              </a:rPr>
              <a:t> </a:t>
            </a:r>
            <a:r>
              <a:rPr lang="de-DE" sz="1900" dirty="0" err="1">
                <a:latin typeface="Georgia" pitchFamily="18" charset="0"/>
              </a:rPr>
              <a:t>particles</a:t>
            </a:r>
            <a:r>
              <a:rPr lang="de-DE" sz="1900" dirty="0">
                <a:latin typeface="Georgia" pitchFamily="18" charset="0"/>
              </a:rPr>
              <a:t>. 	Amsterdam, J. Benjamins, S.11-36.</a:t>
            </a:r>
          </a:p>
          <a:p>
            <a:r>
              <a:rPr lang="de-DE" sz="1900" dirty="0">
                <a:latin typeface="Georgia" pitchFamily="18" charset="0"/>
              </a:rPr>
              <a:t>Lassiter, D. (2018), </a:t>
            </a:r>
            <a:r>
              <a:rPr lang="de-DE" sz="1900" dirty="0" err="1">
                <a:latin typeface="Georgia" pitchFamily="18" charset="0"/>
              </a:rPr>
              <a:t>Graded</a:t>
            </a:r>
            <a:r>
              <a:rPr lang="de-DE" sz="1900" dirty="0">
                <a:latin typeface="Georgia" pitchFamily="18" charset="0"/>
              </a:rPr>
              <a:t> </a:t>
            </a:r>
            <a:r>
              <a:rPr lang="de-DE" sz="1900" dirty="0" err="1">
                <a:latin typeface="Georgia" pitchFamily="18" charset="0"/>
              </a:rPr>
              <a:t>modality</a:t>
            </a:r>
            <a:r>
              <a:rPr lang="de-DE" sz="1900" dirty="0">
                <a:latin typeface="Georgia" pitchFamily="18" charset="0"/>
              </a:rPr>
              <a:t>: Qualitative and Quantitative </a:t>
            </a:r>
            <a:r>
              <a:rPr lang="de-DE" sz="1900" dirty="0" err="1">
                <a:latin typeface="Georgia" pitchFamily="18" charset="0"/>
              </a:rPr>
              <a:t>Perspectives</a:t>
            </a:r>
            <a:r>
              <a:rPr lang="de-DE" sz="1900" dirty="0">
                <a:latin typeface="Georgia" pitchFamily="18" charset="0"/>
              </a:rPr>
              <a:t>, Pre-final draft, 	Oxfort University Press.</a:t>
            </a:r>
          </a:p>
          <a:p>
            <a:r>
              <a:rPr lang="de-DE" sz="1900" dirty="0">
                <a:latin typeface="Georgia" pitchFamily="18" charset="0"/>
              </a:rPr>
              <a:t>Lassiter, D. (2019), </a:t>
            </a:r>
            <a:r>
              <a:rPr lang="de-DE" sz="1900" dirty="0" err="1">
                <a:latin typeface="Georgia" pitchFamily="18" charset="0"/>
              </a:rPr>
              <a:t>Graded</a:t>
            </a:r>
            <a:r>
              <a:rPr lang="de-DE" sz="1900" dirty="0">
                <a:latin typeface="Georgia" pitchFamily="18" charset="0"/>
              </a:rPr>
              <a:t> </a:t>
            </a:r>
            <a:r>
              <a:rPr lang="de-DE" sz="1900" dirty="0" err="1">
                <a:latin typeface="Georgia" pitchFamily="18" charset="0"/>
              </a:rPr>
              <a:t>modality</a:t>
            </a:r>
            <a:r>
              <a:rPr lang="de-DE" sz="1900" dirty="0">
                <a:latin typeface="Georgia" pitchFamily="18" charset="0"/>
              </a:rPr>
              <a:t>, in: </a:t>
            </a:r>
            <a:r>
              <a:rPr lang="de-DE" sz="1900" dirty="0" err="1">
                <a:latin typeface="Georgia" pitchFamily="18" charset="0"/>
              </a:rPr>
              <a:t>Matthewson</a:t>
            </a:r>
            <a:r>
              <a:rPr lang="de-DE" sz="1900" dirty="0">
                <a:latin typeface="Georgia" pitchFamily="18" charset="0"/>
              </a:rPr>
              <a:t> et al (</a:t>
            </a:r>
            <a:r>
              <a:rPr lang="de-DE" sz="1900" dirty="0" err="1">
                <a:latin typeface="Georgia" pitchFamily="18" charset="0"/>
              </a:rPr>
              <a:t>eds</a:t>
            </a:r>
            <a:r>
              <a:rPr lang="de-DE" sz="1900" dirty="0">
                <a:latin typeface="Georgia" pitchFamily="18" charset="0"/>
              </a:rPr>
              <a:t>.), Blackwell </a:t>
            </a:r>
            <a:r>
              <a:rPr lang="de-DE" sz="1900" dirty="0" err="1">
                <a:latin typeface="Georgia" pitchFamily="18" charset="0"/>
              </a:rPr>
              <a:t>Campanion</a:t>
            </a:r>
            <a:r>
              <a:rPr lang="de-DE" sz="1900" dirty="0">
                <a:latin typeface="Georgia" pitchFamily="18" charset="0"/>
              </a:rPr>
              <a:t> </a:t>
            </a:r>
            <a:r>
              <a:rPr lang="de-DE" sz="1900" dirty="0" err="1">
                <a:latin typeface="Georgia" pitchFamily="18" charset="0"/>
              </a:rPr>
              <a:t>to</a:t>
            </a:r>
            <a:r>
              <a:rPr lang="de-DE" sz="1900" dirty="0">
                <a:latin typeface="Georgia" pitchFamily="18" charset="0"/>
              </a:rPr>
              <a:t> 	</a:t>
            </a:r>
            <a:r>
              <a:rPr lang="de-DE" sz="1900" dirty="0" err="1">
                <a:latin typeface="Georgia" pitchFamily="18" charset="0"/>
              </a:rPr>
              <a:t>Semantics</a:t>
            </a:r>
            <a:r>
              <a:rPr lang="de-DE" sz="1900" dirty="0">
                <a:latin typeface="Georgia" pitchFamily="18" charset="0"/>
              </a:rPr>
              <a:t>. Stanford University. </a:t>
            </a:r>
          </a:p>
          <a:p>
            <a:r>
              <a:rPr lang="de-DE" sz="1900" dirty="0">
                <a:latin typeface="Georgia" pitchFamily="18" charset="0"/>
              </a:rPr>
              <a:t>Van Bergen, G. &amp; </a:t>
            </a:r>
            <a:r>
              <a:rPr lang="de-DE" sz="1900" dirty="0" err="1">
                <a:latin typeface="Georgia" pitchFamily="18" charset="0"/>
              </a:rPr>
              <a:t>Bosker</a:t>
            </a:r>
            <a:r>
              <a:rPr lang="de-DE" sz="1900" dirty="0">
                <a:latin typeface="Georgia" pitchFamily="18" charset="0"/>
              </a:rPr>
              <a:t>, H. (2018), </a:t>
            </a:r>
            <a:r>
              <a:rPr lang="de-DE" sz="1900" dirty="0" err="1">
                <a:latin typeface="Georgia" pitchFamily="18" charset="0"/>
              </a:rPr>
              <a:t>Linguistic</a:t>
            </a:r>
            <a:r>
              <a:rPr lang="de-DE" sz="1900" dirty="0">
                <a:latin typeface="Georgia" pitchFamily="18" charset="0"/>
              </a:rPr>
              <a:t> </a:t>
            </a:r>
            <a:r>
              <a:rPr lang="de-DE" sz="1900" dirty="0" err="1">
                <a:latin typeface="Georgia" pitchFamily="18" charset="0"/>
              </a:rPr>
              <a:t>expectation</a:t>
            </a:r>
            <a:r>
              <a:rPr lang="de-DE" sz="1900" dirty="0">
                <a:latin typeface="Georgia" pitchFamily="18" charset="0"/>
              </a:rPr>
              <a:t> </a:t>
            </a:r>
            <a:r>
              <a:rPr lang="de-DE" sz="1900" dirty="0" err="1">
                <a:latin typeface="Georgia" pitchFamily="18" charset="0"/>
              </a:rPr>
              <a:t>management</a:t>
            </a:r>
            <a:r>
              <a:rPr lang="de-DE" sz="1900" dirty="0">
                <a:latin typeface="Georgia" pitchFamily="18" charset="0"/>
              </a:rPr>
              <a:t> in online </a:t>
            </a:r>
            <a:r>
              <a:rPr lang="de-DE" sz="1900" dirty="0" err="1">
                <a:latin typeface="Georgia" pitchFamily="18" charset="0"/>
              </a:rPr>
              <a:t>discourse</a:t>
            </a:r>
            <a:r>
              <a:rPr lang="de-DE" sz="1900" dirty="0">
                <a:latin typeface="Georgia" pitchFamily="18" charset="0"/>
              </a:rPr>
              <a:t> 	</a:t>
            </a:r>
            <a:r>
              <a:rPr lang="de-DE" sz="1900" dirty="0" err="1">
                <a:latin typeface="Georgia" pitchFamily="18" charset="0"/>
              </a:rPr>
              <a:t>processing</a:t>
            </a:r>
            <a:r>
              <a:rPr lang="de-DE" sz="1900" dirty="0">
                <a:latin typeface="Georgia" pitchFamily="18" charset="0"/>
              </a:rPr>
              <a:t>: An </a:t>
            </a:r>
            <a:r>
              <a:rPr lang="de-DE" sz="1900" dirty="0" err="1">
                <a:latin typeface="Georgia" pitchFamily="18" charset="0"/>
              </a:rPr>
              <a:t>investigation</a:t>
            </a:r>
            <a:r>
              <a:rPr lang="de-DE" sz="1900" dirty="0">
                <a:latin typeface="Georgia" pitchFamily="18" charset="0"/>
              </a:rPr>
              <a:t> </a:t>
            </a:r>
            <a:r>
              <a:rPr lang="de-DE" sz="1900" dirty="0" err="1">
                <a:latin typeface="Georgia" pitchFamily="18" charset="0"/>
              </a:rPr>
              <a:t>of</a:t>
            </a:r>
            <a:r>
              <a:rPr lang="de-DE" sz="1900" dirty="0">
                <a:latin typeface="Georgia" pitchFamily="18" charset="0"/>
              </a:rPr>
              <a:t> </a:t>
            </a:r>
            <a:r>
              <a:rPr lang="de-DE" sz="1900" dirty="0" err="1">
                <a:latin typeface="Georgia" pitchFamily="18" charset="0"/>
              </a:rPr>
              <a:t>Dutch</a:t>
            </a:r>
            <a:r>
              <a:rPr lang="de-DE" sz="1900" dirty="0">
                <a:latin typeface="Georgia" pitchFamily="18" charset="0"/>
              </a:rPr>
              <a:t> </a:t>
            </a:r>
            <a:r>
              <a:rPr lang="de-DE" sz="1900" dirty="0" err="1">
                <a:latin typeface="Georgia" pitchFamily="18" charset="0"/>
              </a:rPr>
              <a:t>inderdaad</a:t>
            </a:r>
            <a:r>
              <a:rPr lang="de-DE" sz="1900" dirty="0">
                <a:latin typeface="Georgia" pitchFamily="18" charset="0"/>
              </a:rPr>
              <a:t> ‘</a:t>
            </a:r>
            <a:r>
              <a:rPr lang="de-DE" sz="1900" dirty="0" err="1">
                <a:latin typeface="Georgia" pitchFamily="18" charset="0"/>
              </a:rPr>
              <a:t>indeed</a:t>
            </a:r>
            <a:r>
              <a:rPr lang="de-DE" sz="1900" dirty="0">
                <a:latin typeface="Georgia" pitchFamily="18" charset="0"/>
              </a:rPr>
              <a:t>’ and </a:t>
            </a:r>
            <a:r>
              <a:rPr lang="de-DE" sz="1900" dirty="0" err="1">
                <a:latin typeface="Georgia" pitchFamily="18" charset="0"/>
              </a:rPr>
              <a:t>eigenlijk</a:t>
            </a:r>
            <a:r>
              <a:rPr lang="de-DE" sz="1900" dirty="0">
                <a:latin typeface="Georgia" pitchFamily="18" charset="0"/>
              </a:rPr>
              <a:t> ‘</a:t>
            </a:r>
            <a:r>
              <a:rPr lang="de-DE" sz="1900" dirty="0" err="1">
                <a:latin typeface="Georgia" pitchFamily="18" charset="0"/>
              </a:rPr>
              <a:t>actually</a:t>
            </a:r>
            <a:r>
              <a:rPr lang="de-DE" sz="1900" dirty="0">
                <a:latin typeface="Georgia" pitchFamily="18" charset="0"/>
              </a:rPr>
              <a:t>’, in: 	Journal </a:t>
            </a:r>
            <a:r>
              <a:rPr lang="de-DE" sz="1900" dirty="0" err="1">
                <a:latin typeface="Georgia" pitchFamily="18" charset="0"/>
              </a:rPr>
              <a:t>of</a:t>
            </a:r>
            <a:r>
              <a:rPr lang="de-DE" sz="1900" dirty="0">
                <a:latin typeface="Georgia" pitchFamily="18" charset="0"/>
              </a:rPr>
              <a:t> Memory and Language. Nr. 103 (2018) 191-209.</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0</TotalTime>
  <Words>1632</Words>
  <Application>Microsoft Office PowerPoint</Application>
  <PresentationFormat>Bildschirmpräsentation (4:3)</PresentationFormat>
  <Paragraphs>276</Paragraphs>
  <Slides>22</Slides>
  <Notes>9</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22</vt:i4>
      </vt:variant>
    </vt:vector>
  </HeadingPairs>
  <TitlesOfParts>
    <vt:vector size="28" baseType="lpstr">
      <vt:lpstr>Arial</vt:lpstr>
      <vt:lpstr>Calibri</vt:lpstr>
      <vt:lpstr>Cambria</vt:lpstr>
      <vt:lpstr>Georgia</vt:lpstr>
      <vt:lpstr>Times New Roman</vt:lpstr>
      <vt:lpstr>Adjacency</vt:lpstr>
      <vt:lpstr>Erwartungswidrige Fokuspartikeln; Experimente zu eben, ausgerechnet, gerade und genau </vt:lpstr>
      <vt:lpstr>PowerPoint-Präsentation</vt:lpstr>
      <vt:lpstr>Einführung</vt:lpstr>
      <vt:lpstr>Einführung</vt:lpstr>
      <vt:lpstr>Einführung</vt:lpstr>
      <vt:lpstr>Einführung</vt:lpstr>
      <vt:lpstr>Einführung</vt:lpstr>
      <vt:lpstr>Einführung</vt:lpstr>
      <vt:lpstr>Warum dann dieses Experiment?</vt:lpstr>
      <vt:lpstr>PowerPoint-Präsentation</vt:lpstr>
      <vt:lpstr>PowerPoint-Präsentation</vt:lpstr>
      <vt:lpstr>Vorschlag für einen Namen:</vt:lpstr>
      <vt:lpstr>Vorschlag für einen Namen:</vt:lpstr>
      <vt:lpstr>Vorangehensweise</vt:lpstr>
      <vt:lpstr>Hypothese </vt:lpstr>
      <vt:lpstr>Hypothese </vt:lpstr>
      <vt:lpstr>Hypothese</vt:lpstr>
      <vt:lpstr>Hypothese</vt:lpstr>
      <vt:lpstr>Hypothese</vt:lpstr>
      <vt:lpstr>Auswahlexperiment</vt:lpstr>
      <vt:lpstr>Jetzt euere Antworten: </vt:lpstr>
      <vt:lpstr>Literatur</vt:lpstr>
    </vt:vector>
  </TitlesOfParts>
  <Company>Universiteit Leiden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Liempt, M.A. van</dc:creator>
  <cp:lastModifiedBy>Margarethe van Liempt</cp:lastModifiedBy>
  <cp:revision>123</cp:revision>
  <dcterms:created xsi:type="dcterms:W3CDTF">2016-04-28T09:49:18Z</dcterms:created>
  <dcterms:modified xsi:type="dcterms:W3CDTF">2023-02-27T17:38:01Z</dcterms:modified>
</cp:coreProperties>
</file>