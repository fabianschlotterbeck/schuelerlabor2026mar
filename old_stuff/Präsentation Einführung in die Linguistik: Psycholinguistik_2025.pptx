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9" name="Shape 15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und Datum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29" sz="294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Autor und Datum</a:t>
            </a:r>
          </a:p>
        </p:txBody>
      </p:sp>
      <p:sp>
        <p:nvSpPr>
          <p:cNvPr id="12" name="Titel der Präsentation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13" name="Textebene 1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740519873_3318x2212.jpg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el der Präsentation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23" name="Textebene 1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or und Datum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29" sz="294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Autor und Datum</a:t>
            </a:r>
          </a:p>
        </p:txBody>
      </p:sp>
      <p:sp>
        <p:nvSpPr>
          <p:cNvPr id="2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titel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Folientitel</a:t>
            </a:r>
          </a:p>
        </p:txBody>
      </p:sp>
      <p:sp>
        <p:nvSpPr>
          <p:cNvPr id="33" name="Bild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Textebene 1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Folien-Untertitel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43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Folien-Untertitel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4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bene 1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olientitel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61" name="Bild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Folien-Untertitel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63" name="Textebene 1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Foliennummer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el des Abschnitts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Titel des Abschnitts</a:t>
            </a:r>
          </a:p>
        </p:txBody>
      </p:sp>
      <p:sp>
        <p:nvSpPr>
          <p:cNvPr id="72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80" name="Folien-Untertitel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Folien-Untertitel</a:t>
            </a:r>
          </a:p>
        </p:txBody>
      </p:sp>
      <p:sp>
        <p:nvSpPr>
          <p:cNvPr id="81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-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Agenda-Titel</a:t>
            </a:r>
          </a:p>
        </p:txBody>
      </p:sp>
      <p:sp>
        <p:nvSpPr>
          <p:cNvPr id="89" name="Textebene 1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Agendathemen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Agenda-Untertitel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Agenda-Untertitel</a:t>
            </a:r>
          </a:p>
        </p:txBody>
      </p:sp>
      <p:sp>
        <p:nvSpPr>
          <p:cNvPr id="91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uf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ebene 1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Aufstellung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k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kte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Fakten</a:t>
            </a:r>
          </a:p>
        </p:txBody>
      </p:sp>
      <p:sp>
        <p:nvSpPr>
          <p:cNvPr id="107" name="Textebene 1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Quellenangabe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Quellenangabe</a:t>
            </a:r>
          </a:p>
        </p:txBody>
      </p:sp>
      <p:sp>
        <p:nvSpPr>
          <p:cNvPr id="116" name="Textebene 1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„Bemerkenswert“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941297804_1296x1457.jpg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915009552_2264x1509.jpg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740519873_3318x2212.jpg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740519873_3318x2212.jpg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oliennummer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838414" y="168016"/>
            <a:ext cx="5101701" cy="131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Gerader Verbinder 7"/>
          <p:cNvSpPr/>
          <p:nvPr/>
        </p:nvSpPr>
        <p:spPr>
          <a:xfrm>
            <a:off x="1676400" y="1686758"/>
            <a:ext cx="21031200" cy="1"/>
          </a:xfrm>
          <a:prstGeom prst="line">
            <a:avLst/>
          </a:prstGeom>
          <a:ln w="12700">
            <a:solidFill>
              <a:srgbClr val="B61537"/>
            </a:solidFill>
            <a:miter/>
          </a:ln>
        </p:spPr>
        <p:txBody>
          <a:bodyPr tIns="91439" bIns="91439"/>
          <a:lstStyle/>
          <a:p>
            <a:pPr algn="l" defTabSz="1828800">
              <a:lnSpc>
                <a:spcPct val="100000"/>
              </a:lnSpc>
              <a:defRPr sz="3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1" name="Titeltext"/>
          <p:cNvSpPr txBox="1"/>
          <p:nvPr>
            <p:ph type="title"/>
          </p:nvPr>
        </p:nvSpPr>
        <p:spPr>
          <a:xfrm>
            <a:off x="1676400" y="1895462"/>
            <a:ext cx="21031200" cy="1485914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l" defTabSz="1828800">
              <a:lnSpc>
                <a:spcPct val="90000"/>
              </a:lnSpc>
              <a:defRPr spc="0" sz="88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Titeltext</a:t>
            </a:r>
          </a:p>
        </p:txBody>
      </p:sp>
      <p:sp>
        <p:nvSpPr>
          <p:cNvPr id="152" name="Foliennummer"/>
          <p:cNvSpPr txBox="1"/>
          <p:nvPr>
            <p:ph type="sldNum" sz="quarter" idx="2"/>
          </p:nvPr>
        </p:nvSpPr>
        <p:spPr>
          <a:xfrm>
            <a:off x="22203052" y="12835870"/>
            <a:ext cx="504548" cy="48391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Folientitel</a:t>
            </a:r>
          </a:p>
        </p:txBody>
      </p:sp>
      <p:sp>
        <p:nvSpPr>
          <p:cNvPr id="3" name="Textebene 1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Relationship Id="rId3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Relationship Id="rId3" Type="http://schemas.openxmlformats.org/officeDocument/2006/relationships/image" Target="../media/image2.tif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tif"/><Relationship Id="rId3" Type="http://schemas.openxmlformats.org/officeDocument/2006/relationships/image" Target="../media/image2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2.png"/><Relationship Id="rId7" Type="http://schemas.openxmlformats.org/officeDocument/2006/relationships/image" Target="../media/image19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28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29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0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Lehrstuhl Prof. Dr. Britta Stolterfoht…"/>
          <p:cNvSpPr txBox="1"/>
          <p:nvPr>
            <p:ph type="body" idx="21"/>
          </p:nvPr>
        </p:nvSpPr>
        <p:spPr>
          <a:xfrm>
            <a:off x="1219200" y="11451010"/>
            <a:ext cx="21945599" cy="114094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825500">
              <a:defRPr spc="-32"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Lehrstuhl Prof. Dr. Britta Stolterfoht</a:t>
            </a:r>
          </a:p>
          <a:p>
            <a:pPr defTabSz="825500">
              <a:defRPr spc="-32"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10. April 2025</a:t>
            </a:r>
          </a:p>
        </p:txBody>
      </p:sp>
      <p:sp>
        <p:nvSpPr>
          <p:cNvPr id="162" name="Linguistisches…"/>
          <p:cNvSpPr txBox="1"/>
          <p:nvPr>
            <p:ph type="ctrTitle"/>
          </p:nvPr>
        </p:nvSpPr>
        <p:spPr>
          <a:xfrm>
            <a:off x="1717680" y="3531215"/>
            <a:ext cx="21945601" cy="4267201"/>
          </a:xfrm>
          <a:prstGeom prst="rect">
            <a:avLst/>
          </a:prstGeom>
        </p:spPr>
        <p:txBody>
          <a:bodyPr/>
          <a:lstStyle/>
          <a:p>
            <a:pPr defTabSz="2292095">
              <a:defRPr spc="-120" sz="12032"/>
            </a:pPr>
            <a:r>
              <a:t>Linguistisches </a:t>
            </a:r>
          </a:p>
          <a:p>
            <a:pPr defTabSz="2292095">
              <a:defRPr spc="-120" sz="12032"/>
            </a:pPr>
            <a:r>
              <a:t>Schüler*innen-Labor</a:t>
            </a:r>
          </a:p>
        </p:txBody>
      </p:sp>
      <p:sp>
        <p:nvSpPr>
          <p:cNvPr id="163" name="Wie verstehen wir sprachliche Äußerungen?…"/>
          <p:cNvSpPr txBox="1"/>
          <p:nvPr>
            <p:ph type="subTitle" sz="quarter" idx="1"/>
          </p:nvPr>
        </p:nvSpPr>
        <p:spPr>
          <a:xfrm>
            <a:off x="1717680" y="8614285"/>
            <a:ext cx="21945601" cy="2250593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Wie verstehen wir sprachliche Äußerungen?</a:t>
            </a:r>
          </a:p>
          <a:p>
            <a:pPr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Ein psycholinguistisches Experiment</a:t>
            </a:r>
          </a:p>
        </p:txBody>
      </p:sp>
      <p:sp>
        <p:nvSpPr>
          <p:cNvPr id="164" name="Rechteck"/>
          <p:cNvSpPr/>
          <p:nvPr/>
        </p:nvSpPr>
        <p:spPr>
          <a:xfrm>
            <a:off x="366098" y="8055795"/>
            <a:ext cx="23651804" cy="301112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165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Überbli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Überblick</a:t>
            </a:r>
          </a:p>
        </p:txBody>
      </p:sp>
      <p:sp>
        <p:nvSpPr>
          <p:cNvPr id="168" name="Rectangle 2"/>
          <p:cNvSpPr txBox="1"/>
          <p:nvPr/>
        </p:nvSpPr>
        <p:spPr>
          <a:xfrm>
            <a:off x="1371131" y="3725197"/>
            <a:ext cx="17781181" cy="1001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13.30-13.50:</a:t>
            </a:r>
            <a:r>
              <a:rPr b="0"/>
              <a:t> 	</a:t>
            </a:r>
            <a:r>
              <a:rPr b="0" i="0"/>
              <a:t>Ein psycholinguistisches Experiment</a:t>
            </a:r>
            <a:endParaRPr b="0"/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13.50-14.10:</a:t>
            </a:r>
            <a:r>
              <a:rPr b="0" i="0"/>
              <a:t>	        Einführung in die Linguistik</a:t>
            </a:r>
            <a:endParaRPr b="0"/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14.10-14.30: 	</a:t>
            </a:r>
            <a:r>
              <a:rPr b="0" i="0"/>
              <a:t>Einführung in die Psycholinguistik</a:t>
            </a:r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14.30-14.50:</a:t>
            </a:r>
            <a:r>
              <a:rPr b="0" i="0"/>
              <a:t>	        Hintergründe des Experiments</a:t>
            </a: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14.50-15.10: 	</a:t>
            </a:r>
            <a:r>
              <a:rPr b="0" i="0"/>
              <a:t>Auswertung des Experiments</a:t>
            </a: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15.10-15.30: 	</a:t>
            </a:r>
            <a:r>
              <a:rPr b="0" i="0"/>
              <a:t>Simulation mit ChatGPT</a:t>
            </a:r>
            <a:endParaRPr b="0"/>
          </a:p>
          <a:p>
            <a:pPr indent="85725" algn="l" defTabSz="914400">
              <a:lnSpc>
                <a:spcPct val="120000"/>
              </a:lnSpc>
              <a:defRPr i="1"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i="1" sz="4000">
                <a:latin typeface="Calibri"/>
                <a:ea typeface="Calibri"/>
                <a:cs typeface="Calibri"/>
                <a:sym typeface="Calibri"/>
              </a:defRPr>
            </a:pPr>
            <a:r>
              <a:t>15.30-16.00:	       - Abschluss -</a:t>
            </a:r>
          </a:p>
        </p:txBody>
      </p:sp>
      <p:pic>
        <p:nvPicPr>
          <p:cNvPr id="169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171" name="Foliennummer"/>
          <p:cNvSpPr txBox="1"/>
          <p:nvPr>
            <p:ph type="sldNum" sz="quarter" idx="2"/>
          </p:nvPr>
        </p:nvSpPr>
        <p:spPr>
          <a:xfrm>
            <a:off x="12061189" y="12684760"/>
            <a:ext cx="261621" cy="4445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2" name="Abgerundetes Rechteck"/>
          <p:cNvSpPr/>
          <p:nvPr/>
        </p:nvSpPr>
        <p:spPr>
          <a:xfrm>
            <a:off x="1327884" y="3403081"/>
            <a:ext cx="12667495" cy="1119027"/>
          </a:xfrm>
          <a:prstGeom prst="roundRect">
            <a:avLst>
              <a:gd name="adj" fmla="val 17024"/>
            </a:avLst>
          </a:prstGeom>
          <a:solidFill>
            <a:schemeClr val="accent5">
              <a:hueOff val="-65973"/>
              <a:satOff val="18050"/>
              <a:lumOff val="-15912"/>
              <a:alpha val="29666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173" name="Abgerundetes Rechteck"/>
          <p:cNvSpPr/>
          <p:nvPr/>
        </p:nvSpPr>
        <p:spPr>
          <a:xfrm>
            <a:off x="1327884" y="4857102"/>
            <a:ext cx="12667495" cy="2453282"/>
          </a:xfrm>
          <a:prstGeom prst="roundRect">
            <a:avLst>
              <a:gd name="adj" fmla="val 7765"/>
            </a:avLst>
          </a:prstGeom>
          <a:solidFill>
            <a:schemeClr val="accent5">
              <a:hueOff val="-65973"/>
              <a:satOff val="18050"/>
              <a:lumOff val="-15912"/>
              <a:alpha val="29666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174" name="Abgerundetes Rechteck"/>
          <p:cNvSpPr/>
          <p:nvPr/>
        </p:nvSpPr>
        <p:spPr>
          <a:xfrm>
            <a:off x="1327884" y="7640073"/>
            <a:ext cx="12667495" cy="2670349"/>
          </a:xfrm>
          <a:prstGeom prst="roundRect">
            <a:avLst>
              <a:gd name="adj" fmla="val 7134"/>
            </a:avLst>
          </a:prstGeom>
          <a:solidFill>
            <a:schemeClr val="accent5">
              <a:hueOff val="-65973"/>
              <a:satOff val="18050"/>
              <a:lumOff val="-15912"/>
              <a:alpha val="29666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175" name="Abgerundetes Rechteck"/>
          <p:cNvSpPr/>
          <p:nvPr/>
        </p:nvSpPr>
        <p:spPr>
          <a:xfrm>
            <a:off x="1327884" y="10645416"/>
            <a:ext cx="12667495" cy="1119026"/>
          </a:xfrm>
          <a:prstGeom prst="roundRect">
            <a:avLst>
              <a:gd name="adj" fmla="val 17024"/>
            </a:avLst>
          </a:prstGeom>
          <a:solidFill>
            <a:schemeClr val="accent5">
              <a:hueOff val="-65973"/>
              <a:satOff val="18050"/>
              <a:lumOff val="-15912"/>
              <a:alpha val="29666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Überbli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Überblick</a:t>
            </a:r>
          </a:p>
        </p:txBody>
      </p:sp>
      <p:sp>
        <p:nvSpPr>
          <p:cNvPr id="178" name="Rectangle 2"/>
          <p:cNvSpPr txBox="1"/>
          <p:nvPr/>
        </p:nvSpPr>
        <p:spPr>
          <a:xfrm>
            <a:off x="1371131" y="3725197"/>
            <a:ext cx="17781181" cy="1001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13.30-13.50:</a:t>
            </a:r>
            <a:r>
              <a:rPr b="0"/>
              <a:t> 	</a:t>
            </a:r>
            <a:r>
              <a:rPr b="0" i="0"/>
              <a:t>Ein psycholinguistisches Experiment</a:t>
            </a:r>
            <a:endParaRPr b="0"/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13.50-14.10:</a:t>
            </a:r>
            <a:r>
              <a:rPr b="0" i="0"/>
              <a:t>	        Einführung in die Linguistik</a:t>
            </a:r>
            <a:endParaRPr b="0"/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14.10-14.30: 	</a:t>
            </a:r>
            <a:r>
              <a:rPr b="0" i="0"/>
              <a:t>Einführung in die Psycholinguistik</a:t>
            </a:r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14.30-14.50:</a:t>
            </a:r>
            <a:r>
              <a:rPr b="0" i="0"/>
              <a:t>	        Hintergründe des Experiments</a:t>
            </a: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14.50-15.10: 	</a:t>
            </a:r>
            <a:r>
              <a:rPr b="0" i="0"/>
              <a:t>Auswertung des Experiments</a:t>
            </a: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15.10-15.30: 	</a:t>
            </a:r>
            <a:r>
              <a:rPr b="0" i="0"/>
              <a:t>Simulation mit ChatGPT</a:t>
            </a:r>
            <a:endParaRPr b="0"/>
          </a:p>
          <a:p>
            <a:pPr indent="85725" algn="l" defTabSz="914400">
              <a:lnSpc>
                <a:spcPct val="120000"/>
              </a:lnSpc>
              <a:defRPr i="1"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i="1" sz="4000">
                <a:latin typeface="Calibri"/>
                <a:ea typeface="Calibri"/>
                <a:cs typeface="Calibri"/>
                <a:sym typeface="Calibri"/>
              </a:defRPr>
            </a:pPr>
            <a:r>
              <a:t>15.30-16.00:	       - Abschluss -</a:t>
            </a:r>
          </a:p>
        </p:txBody>
      </p:sp>
      <p:pic>
        <p:nvPicPr>
          <p:cNvPr id="179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181" name="Foliennummer"/>
          <p:cNvSpPr txBox="1"/>
          <p:nvPr>
            <p:ph type="sldNum" sz="quarter" idx="2"/>
          </p:nvPr>
        </p:nvSpPr>
        <p:spPr>
          <a:xfrm>
            <a:off x="12061189" y="12684760"/>
            <a:ext cx="261621" cy="4445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2" name="Abgerundetes Rechteck"/>
          <p:cNvSpPr/>
          <p:nvPr/>
        </p:nvSpPr>
        <p:spPr>
          <a:xfrm>
            <a:off x="1327884" y="3403081"/>
            <a:ext cx="12667495" cy="1119027"/>
          </a:xfrm>
          <a:prstGeom prst="roundRect">
            <a:avLst>
              <a:gd name="adj" fmla="val 17024"/>
            </a:avLst>
          </a:prstGeom>
          <a:solidFill>
            <a:schemeClr val="accent5">
              <a:hueOff val="-65973"/>
              <a:satOff val="18050"/>
              <a:lumOff val="-15912"/>
              <a:alpha val="29666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Überbli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Überblick</a:t>
            </a:r>
          </a:p>
        </p:txBody>
      </p:sp>
      <p:sp>
        <p:nvSpPr>
          <p:cNvPr id="185" name="Rectangle 2"/>
          <p:cNvSpPr txBox="1"/>
          <p:nvPr/>
        </p:nvSpPr>
        <p:spPr>
          <a:xfrm>
            <a:off x="1371131" y="3725197"/>
            <a:ext cx="17781181" cy="1001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13.30-13.50:</a:t>
            </a:r>
            <a:r>
              <a:rPr b="0"/>
              <a:t> 	</a:t>
            </a:r>
            <a:r>
              <a:rPr b="0" i="0"/>
              <a:t>Ein psycholinguistisches Experiment</a:t>
            </a:r>
            <a:endParaRPr b="0"/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13.50-14.10:</a:t>
            </a:r>
            <a:r>
              <a:rPr b="0" i="0"/>
              <a:t>	        Einführung in die Linguistik</a:t>
            </a:r>
            <a:endParaRPr b="0"/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14.10-14.30: 	</a:t>
            </a:r>
            <a:r>
              <a:rPr b="0" i="0"/>
              <a:t>Einführung in die Psycholinguistik</a:t>
            </a:r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14.30-14.50:</a:t>
            </a:r>
            <a:r>
              <a:rPr b="0" i="0"/>
              <a:t>	        Hintergründe des Experiments</a:t>
            </a: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14.50-15.10: 	</a:t>
            </a:r>
            <a:r>
              <a:rPr b="0" i="0"/>
              <a:t>Auswertung des Experiments</a:t>
            </a: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15.10-15.30: 	</a:t>
            </a:r>
            <a:r>
              <a:rPr b="0" i="0"/>
              <a:t>Simulation mit ChatGPT</a:t>
            </a:r>
            <a:endParaRPr b="0"/>
          </a:p>
          <a:p>
            <a:pPr indent="85725" algn="l" defTabSz="914400">
              <a:lnSpc>
                <a:spcPct val="120000"/>
              </a:lnSpc>
              <a:defRPr i="1"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i="1" sz="4000">
                <a:latin typeface="Calibri"/>
                <a:ea typeface="Calibri"/>
                <a:cs typeface="Calibri"/>
                <a:sym typeface="Calibri"/>
              </a:defRPr>
            </a:pPr>
            <a:r>
              <a:t>15.30-16.00:	       - Abschluss -</a:t>
            </a:r>
          </a:p>
        </p:txBody>
      </p:sp>
      <p:pic>
        <p:nvPicPr>
          <p:cNvPr id="186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188" name="Foliennummer"/>
          <p:cNvSpPr txBox="1"/>
          <p:nvPr>
            <p:ph type="sldNum" sz="quarter" idx="2"/>
          </p:nvPr>
        </p:nvSpPr>
        <p:spPr>
          <a:xfrm>
            <a:off x="12061189" y="12684760"/>
            <a:ext cx="261621" cy="4445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9" name="Abgerundetes Rechteck"/>
          <p:cNvSpPr/>
          <p:nvPr/>
        </p:nvSpPr>
        <p:spPr>
          <a:xfrm>
            <a:off x="1272591" y="4813040"/>
            <a:ext cx="12667496" cy="1119027"/>
          </a:xfrm>
          <a:prstGeom prst="roundRect">
            <a:avLst>
              <a:gd name="adj" fmla="val 17024"/>
            </a:avLst>
          </a:prstGeom>
          <a:solidFill>
            <a:schemeClr val="accent5">
              <a:hueOff val="-65973"/>
              <a:satOff val="18050"/>
              <a:lumOff val="-15912"/>
              <a:alpha val="29666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192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194" name="Foliennummer"/>
          <p:cNvSpPr txBox="1"/>
          <p:nvPr>
            <p:ph type="sldNum" sz="quarter" idx="2"/>
          </p:nvPr>
        </p:nvSpPr>
        <p:spPr>
          <a:xfrm>
            <a:off x="12061189" y="12684760"/>
            <a:ext cx="261621" cy="4445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5" name="Linguistik…"/>
          <p:cNvSpPr/>
          <p:nvPr/>
        </p:nvSpPr>
        <p:spPr>
          <a:xfrm>
            <a:off x="9061623" y="6096161"/>
            <a:ext cx="6260754" cy="3131156"/>
          </a:xfrm>
          <a:prstGeom prst="roundRect">
            <a:avLst>
              <a:gd name="adj" fmla="val 14244"/>
            </a:avLst>
          </a:prstGeom>
          <a:solidFill>
            <a:schemeClr val="accent5">
              <a:hueOff val="-65973"/>
              <a:satOff val="18050"/>
              <a:lumOff val="-15912"/>
              <a:alpha val="65405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i="1" sz="52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Linguistik</a:t>
            </a:r>
            <a:endParaRPr b="1" i="0"/>
          </a:p>
          <a:p>
            <a:pPr defTabSz="914400">
              <a:lnSpc>
                <a:spcPct val="100000"/>
              </a:lnSpc>
              <a:defRPr i="1" sz="52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(lat. lingua = Zunge)</a:t>
            </a:r>
          </a:p>
        </p:txBody>
      </p:sp>
      <p:sp>
        <p:nvSpPr>
          <p:cNvPr id="196" name="Entstehung, Herkunft, Entwicklung…"/>
          <p:cNvSpPr/>
          <p:nvPr/>
        </p:nvSpPr>
        <p:spPr>
          <a:xfrm>
            <a:off x="1174619" y="9415656"/>
            <a:ext cx="5610140" cy="2634601"/>
          </a:xfrm>
          <a:prstGeom prst="roundRect">
            <a:avLst>
              <a:gd name="adj" fmla="val 18096"/>
            </a:avLst>
          </a:prstGeom>
          <a:solidFill>
            <a:schemeClr val="accent6">
              <a:hueOff val="-336662"/>
              <a:satOff val="-1462"/>
              <a:lumOff val="-13603"/>
              <a:alpha val="60578"/>
            </a:schemeClr>
          </a:solidFill>
          <a:ln w="50800">
            <a:solidFill>
              <a:schemeClr val="accent6">
                <a:hueOff val="-336662"/>
                <a:satOff val="-1462"/>
                <a:lumOff val="-1360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i="1" sz="4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Entstehung, Herkunft, Entwicklung</a:t>
            </a:r>
            <a:endParaRPr b="1" i="0"/>
          </a:p>
          <a:p>
            <a:pPr defTabSz="914400">
              <a:lnSpc>
                <a:spcPct val="100000"/>
              </a:lnSpc>
              <a:defRPr i="1" sz="4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(Diachronie)</a:t>
            </a:r>
          </a:p>
        </p:txBody>
      </p:sp>
      <p:sp>
        <p:nvSpPr>
          <p:cNvPr id="197" name="Kommunikation…"/>
          <p:cNvSpPr/>
          <p:nvPr/>
        </p:nvSpPr>
        <p:spPr>
          <a:xfrm>
            <a:off x="16608404" y="10484199"/>
            <a:ext cx="5434758" cy="2751884"/>
          </a:xfrm>
          <a:prstGeom prst="roundRect">
            <a:avLst>
              <a:gd name="adj" fmla="val 16581"/>
            </a:avLst>
          </a:prstGeom>
          <a:solidFill>
            <a:schemeClr val="accent4">
              <a:hueOff val="-904334"/>
              <a:lumOff val="2953"/>
              <a:alpha val="61622"/>
            </a:schemeClr>
          </a:solidFill>
          <a:ln w="50800">
            <a:solidFill>
              <a:schemeClr val="accent4">
                <a:hueOff val="-904334"/>
                <a:lumOff val="295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b="1" sz="4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Kommunikation</a:t>
            </a:r>
          </a:p>
          <a:p>
            <a:pPr defTabSz="914400">
              <a:lnSpc>
                <a:spcPct val="100000"/>
              </a:lnSpc>
              <a:defRPr b="1" sz="4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(schriftlich vs. Mündlich)</a:t>
            </a:r>
          </a:p>
        </p:txBody>
      </p:sp>
      <p:sp>
        <p:nvSpPr>
          <p:cNvPr id="198" name="Wahrnehmen, Erlernen, Artikulieren"/>
          <p:cNvSpPr/>
          <p:nvPr/>
        </p:nvSpPr>
        <p:spPr>
          <a:xfrm>
            <a:off x="16871691" y="3556972"/>
            <a:ext cx="5610140" cy="2751883"/>
          </a:xfrm>
          <a:prstGeom prst="roundRect">
            <a:avLst>
              <a:gd name="adj" fmla="val 17324"/>
            </a:avLst>
          </a:prstGeom>
          <a:solidFill>
            <a:schemeClr val="accent2">
              <a:hueOff val="240640"/>
              <a:satOff val="2542"/>
              <a:lumOff val="-13198"/>
              <a:alpha val="62754"/>
            </a:schemeClr>
          </a:solidFill>
          <a:ln w="50800">
            <a:solidFill>
              <a:schemeClr val="accent2">
                <a:hueOff val="240640"/>
                <a:satOff val="2542"/>
                <a:lumOff val="-13198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Wahrnehmen, Erlernen, Artikulieren</a:t>
            </a:r>
          </a:p>
        </p:txBody>
      </p:sp>
      <p:sp>
        <p:nvSpPr>
          <p:cNvPr id="199" name="Sprach- &amp; Sprechstörungen"/>
          <p:cNvSpPr/>
          <p:nvPr/>
        </p:nvSpPr>
        <p:spPr>
          <a:xfrm>
            <a:off x="18685112" y="6926417"/>
            <a:ext cx="5130650" cy="2940221"/>
          </a:xfrm>
          <a:prstGeom prst="roundRect">
            <a:avLst>
              <a:gd name="adj" fmla="val 14829"/>
            </a:avLst>
          </a:prstGeom>
          <a:solidFill>
            <a:schemeClr val="accent1">
              <a:satOff val="2969"/>
              <a:lumOff val="-11469"/>
              <a:alpha val="55417"/>
            </a:schemeClr>
          </a:solidFill>
          <a:ln w="50800">
            <a:solidFill>
              <a:schemeClr val="accent1">
                <a:satOff val="2969"/>
                <a:lumOff val="-11469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Sprach- &amp; Sprechstörungen</a:t>
            </a:r>
          </a:p>
        </p:txBody>
      </p:sp>
      <p:sp>
        <p:nvSpPr>
          <p:cNvPr id="200" name="Bestandteile/ Einheiten,…"/>
          <p:cNvSpPr/>
          <p:nvPr/>
        </p:nvSpPr>
        <p:spPr>
          <a:xfrm>
            <a:off x="1174619" y="4113945"/>
            <a:ext cx="5434759" cy="2751884"/>
          </a:xfrm>
          <a:prstGeom prst="roundRect">
            <a:avLst>
              <a:gd name="adj" fmla="val 16783"/>
            </a:avLst>
          </a:prstGeom>
          <a:solidFill>
            <a:schemeClr val="accent3">
              <a:hueOff val="945267"/>
              <a:satOff val="49643"/>
              <a:lumOff val="-19255"/>
              <a:alpha val="64239"/>
            </a:schemeClr>
          </a:solidFill>
          <a:ln w="50800">
            <a:solidFill>
              <a:schemeClr val="accent3">
                <a:hueOff val="945267"/>
                <a:satOff val="49643"/>
                <a:lumOff val="-1925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b="1" sz="4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Bestandteile/ Einheiten,</a:t>
            </a:r>
          </a:p>
          <a:p>
            <a:pPr defTabSz="914400">
              <a:lnSpc>
                <a:spcPct val="100000"/>
              </a:lnSpc>
              <a:defRPr b="1" sz="4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deren Bedeutung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203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05" name="Foliennummer"/>
          <p:cNvSpPr txBox="1"/>
          <p:nvPr>
            <p:ph type="sldNum" sz="quarter" idx="2"/>
          </p:nvPr>
        </p:nvSpPr>
        <p:spPr>
          <a:xfrm>
            <a:off x="12061189" y="12684760"/>
            <a:ext cx="261621" cy="4445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6" name="Linguistik…"/>
          <p:cNvSpPr/>
          <p:nvPr/>
        </p:nvSpPr>
        <p:spPr>
          <a:xfrm>
            <a:off x="9061623" y="6096161"/>
            <a:ext cx="6260754" cy="3131156"/>
          </a:xfrm>
          <a:prstGeom prst="roundRect">
            <a:avLst>
              <a:gd name="adj" fmla="val 14244"/>
            </a:avLst>
          </a:prstGeom>
          <a:solidFill>
            <a:schemeClr val="accent5">
              <a:hueOff val="-65973"/>
              <a:satOff val="18050"/>
              <a:lumOff val="-15912"/>
              <a:alpha val="65405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i="1" sz="52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Linguistik</a:t>
            </a:r>
            <a:endParaRPr b="1" i="0"/>
          </a:p>
          <a:p>
            <a:pPr defTabSz="914400">
              <a:lnSpc>
                <a:spcPct val="100000"/>
              </a:lnSpc>
              <a:defRPr i="1" sz="52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(lat. lingua = Zunge)</a:t>
            </a:r>
          </a:p>
        </p:txBody>
      </p:sp>
      <p:sp>
        <p:nvSpPr>
          <p:cNvPr id="207" name="Entstehung, Herkunft, Entwicklung…"/>
          <p:cNvSpPr/>
          <p:nvPr/>
        </p:nvSpPr>
        <p:spPr>
          <a:xfrm>
            <a:off x="1174619" y="9415657"/>
            <a:ext cx="4985075" cy="1998628"/>
          </a:xfrm>
          <a:prstGeom prst="roundRect">
            <a:avLst>
              <a:gd name="adj" fmla="val 21196"/>
            </a:avLst>
          </a:prstGeom>
          <a:solidFill>
            <a:schemeClr val="accent6">
              <a:hueOff val="-336662"/>
              <a:satOff val="-1462"/>
              <a:lumOff val="-13603"/>
              <a:alpha val="60578"/>
            </a:schemeClr>
          </a:solidFill>
          <a:ln w="50800">
            <a:solidFill>
              <a:schemeClr val="accent6">
                <a:hueOff val="-336662"/>
                <a:satOff val="-1462"/>
                <a:lumOff val="-1360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i="1" sz="3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Entstehung, Herkunft, Entwicklung</a:t>
            </a:r>
            <a:endParaRPr b="1" i="0"/>
          </a:p>
          <a:p>
            <a:pPr defTabSz="914400">
              <a:lnSpc>
                <a:spcPct val="100000"/>
              </a:lnSpc>
              <a:defRPr i="1" sz="3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(Diachronie)</a:t>
            </a:r>
          </a:p>
        </p:txBody>
      </p:sp>
      <p:sp>
        <p:nvSpPr>
          <p:cNvPr id="208" name="Kommunikation…"/>
          <p:cNvSpPr/>
          <p:nvPr/>
        </p:nvSpPr>
        <p:spPr>
          <a:xfrm>
            <a:off x="16967806" y="10295862"/>
            <a:ext cx="4792846" cy="2154789"/>
          </a:xfrm>
          <a:prstGeom prst="roundRect">
            <a:avLst>
              <a:gd name="adj" fmla="val 18902"/>
            </a:avLst>
          </a:prstGeom>
          <a:solidFill>
            <a:schemeClr val="accent4">
              <a:hueOff val="-904334"/>
              <a:lumOff val="2953"/>
              <a:alpha val="61622"/>
            </a:schemeClr>
          </a:solidFill>
          <a:ln w="50800">
            <a:solidFill>
              <a:schemeClr val="accent4">
                <a:hueOff val="-904334"/>
                <a:lumOff val="2953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b="1" sz="3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Kommunikation</a:t>
            </a:r>
          </a:p>
          <a:p>
            <a:pPr defTabSz="914400">
              <a:lnSpc>
                <a:spcPct val="100000"/>
              </a:lnSpc>
              <a:defRPr b="1" sz="3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(schriftlich vs. Mündlich)</a:t>
            </a:r>
          </a:p>
        </p:txBody>
      </p:sp>
      <p:sp>
        <p:nvSpPr>
          <p:cNvPr id="209" name="Wahrnehmen, Erlernen, Artikulieren"/>
          <p:cNvSpPr/>
          <p:nvPr/>
        </p:nvSpPr>
        <p:spPr>
          <a:xfrm>
            <a:off x="16871691" y="3556972"/>
            <a:ext cx="4985075" cy="2154789"/>
          </a:xfrm>
          <a:prstGeom prst="roundRect">
            <a:avLst>
              <a:gd name="adj" fmla="val 19660"/>
            </a:avLst>
          </a:prstGeom>
          <a:solidFill>
            <a:schemeClr val="accent2">
              <a:hueOff val="240640"/>
              <a:satOff val="2542"/>
              <a:lumOff val="-13198"/>
              <a:alpha val="62754"/>
            </a:schemeClr>
          </a:solidFill>
          <a:ln w="50800">
            <a:solidFill>
              <a:schemeClr val="accent2">
                <a:hueOff val="240640"/>
                <a:satOff val="2542"/>
                <a:lumOff val="-13198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Wahrnehmen, Erlernen, Artikulieren</a:t>
            </a:r>
          </a:p>
        </p:txBody>
      </p:sp>
      <p:sp>
        <p:nvSpPr>
          <p:cNvPr id="210" name="Sprach- &amp; Sprechstörungen"/>
          <p:cNvSpPr/>
          <p:nvPr/>
        </p:nvSpPr>
        <p:spPr>
          <a:xfrm>
            <a:off x="18685112" y="6926416"/>
            <a:ext cx="4792847" cy="1998629"/>
          </a:xfrm>
          <a:prstGeom prst="roundRect">
            <a:avLst>
              <a:gd name="adj" fmla="val 20379"/>
            </a:avLst>
          </a:prstGeom>
          <a:solidFill>
            <a:schemeClr val="accent1">
              <a:satOff val="2969"/>
              <a:lumOff val="-11469"/>
              <a:alpha val="55417"/>
            </a:schemeClr>
          </a:solidFill>
          <a:ln w="50800">
            <a:solidFill>
              <a:schemeClr val="accent1">
                <a:satOff val="2969"/>
                <a:lumOff val="-11469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Sprach- &amp; Sprechstörungen</a:t>
            </a:r>
          </a:p>
        </p:txBody>
      </p:sp>
      <p:sp>
        <p:nvSpPr>
          <p:cNvPr id="211" name="Bestandteile/ Einheiten,…"/>
          <p:cNvSpPr/>
          <p:nvPr/>
        </p:nvSpPr>
        <p:spPr>
          <a:xfrm>
            <a:off x="1174619" y="4113945"/>
            <a:ext cx="4683342" cy="2154790"/>
          </a:xfrm>
          <a:prstGeom prst="roundRect">
            <a:avLst>
              <a:gd name="adj" fmla="val 18470"/>
            </a:avLst>
          </a:prstGeom>
          <a:solidFill>
            <a:schemeClr val="accent3">
              <a:hueOff val="945267"/>
              <a:satOff val="49643"/>
              <a:lumOff val="-19255"/>
              <a:alpha val="64239"/>
            </a:schemeClr>
          </a:solidFill>
          <a:ln w="50800">
            <a:solidFill>
              <a:schemeClr val="accent3">
                <a:hueOff val="945267"/>
                <a:satOff val="49643"/>
                <a:lumOff val="-1925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b="1" sz="3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Bestandteile/ Einheiten,</a:t>
            </a:r>
          </a:p>
          <a:p>
            <a:pPr defTabSz="914400">
              <a:lnSpc>
                <a:spcPct val="100000"/>
              </a:lnSpc>
              <a:defRPr b="1" sz="3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deren Bedeutung</a:t>
            </a:r>
          </a:p>
        </p:txBody>
      </p:sp>
      <p:sp>
        <p:nvSpPr>
          <p:cNvPr id="212" name="Gesetzmäßigkeiten ableiten"/>
          <p:cNvSpPr/>
          <p:nvPr/>
        </p:nvSpPr>
        <p:spPr>
          <a:xfrm rot="1188864">
            <a:off x="4986392" y="6930109"/>
            <a:ext cx="3826155" cy="1102288"/>
          </a:xfrm>
          <a:prstGeom prst="roundRect">
            <a:avLst>
              <a:gd name="adj" fmla="val 24727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Gesetzmäßigkeiten ableiten</a:t>
            </a:r>
          </a:p>
        </p:txBody>
      </p:sp>
      <p:sp>
        <p:nvSpPr>
          <p:cNvPr id="213" name="Systematische Ähnlichkeiten/ Unterschiede zwischen Sprachen feststellen"/>
          <p:cNvSpPr/>
          <p:nvPr/>
        </p:nvSpPr>
        <p:spPr>
          <a:xfrm rot="1199594">
            <a:off x="5950470" y="3804460"/>
            <a:ext cx="4330869" cy="1339986"/>
          </a:xfrm>
          <a:prstGeom prst="roundRect">
            <a:avLst>
              <a:gd name="adj" fmla="val 23024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Systematische Ähnlichkeiten/ Unterschiede zwischen Sprachen feststellen</a:t>
            </a:r>
          </a:p>
        </p:txBody>
      </p:sp>
      <p:sp>
        <p:nvSpPr>
          <p:cNvPr id="214" name="Dokumentation von Sprachen"/>
          <p:cNvSpPr/>
          <p:nvPr/>
        </p:nvSpPr>
        <p:spPr>
          <a:xfrm rot="19186328">
            <a:off x="6026042" y="10699686"/>
            <a:ext cx="4179725" cy="1083432"/>
          </a:xfrm>
          <a:prstGeom prst="roundRect">
            <a:avLst>
              <a:gd name="adj" fmla="val 27482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Dokumentation von Sprachen</a:t>
            </a:r>
          </a:p>
        </p:txBody>
      </p:sp>
      <p:sp>
        <p:nvSpPr>
          <p:cNvPr id="215" name="Experimentelle Arbeit"/>
          <p:cNvSpPr/>
          <p:nvPr/>
        </p:nvSpPr>
        <p:spPr>
          <a:xfrm>
            <a:off x="11357677" y="9359899"/>
            <a:ext cx="4179725" cy="2024029"/>
          </a:xfrm>
          <a:prstGeom prst="roundRect">
            <a:avLst>
              <a:gd name="adj" fmla="val 1471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Experimentelle Arbeit</a:t>
            </a:r>
          </a:p>
        </p:txBody>
      </p:sp>
      <p:sp>
        <p:nvSpPr>
          <p:cNvPr id="216" name="Linie"/>
          <p:cNvSpPr/>
          <p:nvPr/>
        </p:nvSpPr>
        <p:spPr>
          <a:xfrm flipV="1">
            <a:off x="15439660" y="5765396"/>
            <a:ext cx="1205612" cy="386394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7" name="Linie"/>
          <p:cNvSpPr/>
          <p:nvPr/>
        </p:nvSpPr>
        <p:spPr>
          <a:xfrm>
            <a:off x="15562555" y="7884401"/>
            <a:ext cx="2862997" cy="1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8" name="Linie"/>
          <p:cNvSpPr/>
          <p:nvPr/>
        </p:nvSpPr>
        <p:spPr>
          <a:xfrm>
            <a:off x="15439661" y="9126354"/>
            <a:ext cx="1799898" cy="812764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9" name="Linie"/>
          <p:cNvSpPr/>
          <p:nvPr/>
        </p:nvSpPr>
        <p:spPr>
          <a:xfrm flipV="1">
            <a:off x="6475129" y="9223734"/>
            <a:ext cx="2472587" cy="618004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0" name="Linie"/>
          <p:cNvSpPr/>
          <p:nvPr/>
        </p:nvSpPr>
        <p:spPr>
          <a:xfrm>
            <a:off x="6132142" y="5738203"/>
            <a:ext cx="2655300" cy="612273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223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25" name="Foliennummer"/>
          <p:cNvSpPr txBox="1"/>
          <p:nvPr>
            <p:ph type="sldNum" sz="quarter" idx="2"/>
          </p:nvPr>
        </p:nvSpPr>
        <p:spPr>
          <a:xfrm>
            <a:off x="12061189" y="12684760"/>
            <a:ext cx="261621" cy="4445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6" name="Semantik"/>
          <p:cNvSpPr/>
          <p:nvPr/>
        </p:nvSpPr>
        <p:spPr>
          <a:xfrm>
            <a:off x="10102138" y="3477154"/>
            <a:ext cx="4179724" cy="2024029"/>
          </a:xfrm>
          <a:prstGeom prst="roundRect">
            <a:avLst>
              <a:gd name="adj" fmla="val 1471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Semantik</a:t>
            </a:r>
          </a:p>
        </p:txBody>
      </p:sp>
      <p:sp>
        <p:nvSpPr>
          <p:cNvPr id="227" name="Pragmatik"/>
          <p:cNvSpPr/>
          <p:nvPr/>
        </p:nvSpPr>
        <p:spPr>
          <a:xfrm>
            <a:off x="14794140" y="4738364"/>
            <a:ext cx="4179725" cy="2024028"/>
          </a:xfrm>
          <a:prstGeom prst="roundRect">
            <a:avLst>
              <a:gd name="adj" fmla="val 1471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Pragmatik</a:t>
            </a:r>
          </a:p>
        </p:txBody>
      </p:sp>
      <p:sp>
        <p:nvSpPr>
          <p:cNvPr id="228" name="Phonologie"/>
          <p:cNvSpPr/>
          <p:nvPr/>
        </p:nvSpPr>
        <p:spPr>
          <a:xfrm>
            <a:off x="17658120" y="7239134"/>
            <a:ext cx="4179725" cy="2024029"/>
          </a:xfrm>
          <a:prstGeom prst="roundRect">
            <a:avLst>
              <a:gd name="adj" fmla="val 1471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Phonologie</a:t>
            </a:r>
          </a:p>
        </p:txBody>
      </p:sp>
      <p:sp>
        <p:nvSpPr>
          <p:cNvPr id="229" name="Morphologie"/>
          <p:cNvSpPr/>
          <p:nvPr/>
        </p:nvSpPr>
        <p:spPr>
          <a:xfrm>
            <a:off x="14794140" y="10017373"/>
            <a:ext cx="4179725" cy="2024029"/>
          </a:xfrm>
          <a:prstGeom prst="roundRect">
            <a:avLst>
              <a:gd name="adj" fmla="val 1471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Morphologie</a:t>
            </a:r>
          </a:p>
        </p:txBody>
      </p:sp>
      <p:sp>
        <p:nvSpPr>
          <p:cNvPr id="230" name="Syntax"/>
          <p:cNvSpPr/>
          <p:nvPr/>
        </p:nvSpPr>
        <p:spPr>
          <a:xfrm>
            <a:off x="10102138" y="10716515"/>
            <a:ext cx="4179724" cy="2024028"/>
          </a:xfrm>
          <a:prstGeom prst="roundRect">
            <a:avLst>
              <a:gd name="adj" fmla="val 1471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Syntax</a:t>
            </a:r>
          </a:p>
        </p:txBody>
      </p:sp>
      <p:sp>
        <p:nvSpPr>
          <p:cNvPr id="231" name="Module der Sprachforschung"/>
          <p:cNvSpPr/>
          <p:nvPr/>
        </p:nvSpPr>
        <p:spPr>
          <a:xfrm>
            <a:off x="1763011" y="6685570"/>
            <a:ext cx="6260754" cy="3131156"/>
          </a:xfrm>
          <a:prstGeom prst="roundRect">
            <a:avLst>
              <a:gd name="adj" fmla="val 14244"/>
            </a:avLst>
          </a:prstGeom>
          <a:solidFill>
            <a:schemeClr val="accent5">
              <a:hueOff val="-65973"/>
              <a:satOff val="18050"/>
              <a:lumOff val="-15912"/>
              <a:alpha val="65405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52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Module der Sprachforschung</a:t>
            </a:r>
          </a:p>
        </p:txBody>
      </p:sp>
      <p:sp>
        <p:nvSpPr>
          <p:cNvPr id="232" name="Linie"/>
          <p:cNvSpPr/>
          <p:nvPr/>
        </p:nvSpPr>
        <p:spPr>
          <a:xfrm flipV="1">
            <a:off x="9011578" y="6047473"/>
            <a:ext cx="2425096" cy="1675232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3" name="Linie"/>
          <p:cNvSpPr/>
          <p:nvPr/>
        </p:nvSpPr>
        <p:spPr>
          <a:xfrm flipV="1">
            <a:off x="9002313" y="6620758"/>
            <a:ext cx="4825979" cy="1388850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4" name="Linie"/>
          <p:cNvSpPr/>
          <p:nvPr/>
        </p:nvSpPr>
        <p:spPr>
          <a:xfrm flipV="1">
            <a:off x="8993907" y="8210689"/>
            <a:ext cx="6853227" cy="80919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5" name="Linie"/>
          <p:cNvSpPr/>
          <p:nvPr/>
        </p:nvSpPr>
        <p:spPr>
          <a:xfrm>
            <a:off x="9002313" y="8676273"/>
            <a:ext cx="4825978" cy="846097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6" name="Linie"/>
          <p:cNvSpPr/>
          <p:nvPr/>
        </p:nvSpPr>
        <p:spPr>
          <a:xfrm>
            <a:off x="9011578" y="9088763"/>
            <a:ext cx="2425095" cy="1146417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239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41" name="Foliennummer"/>
          <p:cNvSpPr txBox="1"/>
          <p:nvPr>
            <p:ph type="sldNum" sz="quarter" idx="2"/>
          </p:nvPr>
        </p:nvSpPr>
        <p:spPr>
          <a:xfrm>
            <a:off x="12061189" y="12684760"/>
            <a:ext cx="261621" cy="4445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2" name="Semantik"/>
          <p:cNvSpPr/>
          <p:nvPr/>
        </p:nvSpPr>
        <p:spPr>
          <a:xfrm>
            <a:off x="10102137" y="3063066"/>
            <a:ext cx="5369810" cy="2438117"/>
          </a:xfrm>
          <a:prstGeom prst="roundRect">
            <a:avLst>
              <a:gd name="adj" fmla="val 15689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6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Semantik</a:t>
            </a:r>
          </a:p>
        </p:txBody>
      </p:sp>
      <p:sp>
        <p:nvSpPr>
          <p:cNvPr id="243" name="Pragmatik"/>
          <p:cNvSpPr/>
          <p:nvPr/>
        </p:nvSpPr>
        <p:spPr>
          <a:xfrm>
            <a:off x="14213568" y="5764346"/>
            <a:ext cx="3778963" cy="1429310"/>
          </a:xfrm>
          <a:prstGeom prst="roundRect">
            <a:avLst>
              <a:gd name="adj" fmla="val 18834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Pragmatik</a:t>
            </a:r>
          </a:p>
        </p:txBody>
      </p:sp>
      <p:sp>
        <p:nvSpPr>
          <p:cNvPr id="244" name="Module der Sprachforschung"/>
          <p:cNvSpPr/>
          <p:nvPr/>
        </p:nvSpPr>
        <p:spPr>
          <a:xfrm>
            <a:off x="1763011" y="6685570"/>
            <a:ext cx="5571217" cy="2580499"/>
          </a:xfrm>
          <a:prstGeom prst="roundRect">
            <a:avLst>
              <a:gd name="adj" fmla="val 15380"/>
            </a:avLst>
          </a:prstGeom>
          <a:solidFill>
            <a:schemeClr val="accent5">
              <a:hueOff val="-65973"/>
              <a:satOff val="18050"/>
              <a:lumOff val="-15912"/>
              <a:alpha val="65405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Module der Sprachforschung</a:t>
            </a:r>
          </a:p>
        </p:txBody>
      </p:sp>
      <p:sp>
        <p:nvSpPr>
          <p:cNvPr id="245" name="Linie"/>
          <p:cNvSpPr/>
          <p:nvPr/>
        </p:nvSpPr>
        <p:spPr>
          <a:xfrm flipV="1">
            <a:off x="7878081" y="6020384"/>
            <a:ext cx="2425096" cy="1675232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6" name="Linie"/>
          <p:cNvSpPr/>
          <p:nvPr/>
        </p:nvSpPr>
        <p:spPr>
          <a:xfrm flipV="1">
            <a:off x="8007047" y="6598895"/>
            <a:ext cx="4825979" cy="1388851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7" name="Linie"/>
          <p:cNvSpPr/>
          <p:nvPr/>
        </p:nvSpPr>
        <p:spPr>
          <a:xfrm flipV="1">
            <a:off x="8062919" y="8142910"/>
            <a:ext cx="6853227" cy="80919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8" name="Linie"/>
          <p:cNvSpPr/>
          <p:nvPr/>
        </p:nvSpPr>
        <p:spPr>
          <a:xfrm>
            <a:off x="8007047" y="8501475"/>
            <a:ext cx="4825979" cy="846097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9" name="Linie"/>
          <p:cNvSpPr/>
          <p:nvPr/>
        </p:nvSpPr>
        <p:spPr>
          <a:xfrm>
            <a:off x="8071605" y="8867592"/>
            <a:ext cx="2425095" cy="1146418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0" name="Phonologie"/>
          <p:cNvSpPr/>
          <p:nvPr/>
        </p:nvSpPr>
        <p:spPr>
          <a:xfrm>
            <a:off x="16524623" y="7444119"/>
            <a:ext cx="3247420" cy="1701801"/>
          </a:xfrm>
          <a:prstGeom prst="roundRect">
            <a:avLst>
              <a:gd name="adj" fmla="val 14711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Phonologie</a:t>
            </a:r>
          </a:p>
        </p:txBody>
      </p:sp>
      <p:sp>
        <p:nvSpPr>
          <p:cNvPr id="251" name="Morphologie"/>
          <p:cNvSpPr/>
          <p:nvPr/>
        </p:nvSpPr>
        <p:spPr>
          <a:xfrm>
            <a:off x="14338733" y="9764851"/>
            <a:ext cx="3528634" cy="1584388"/>
          </a:xfrm>
          <a:prstGeom prst="roundRect">
            <a:avLst>
              <a:gd name="adj" fmla="val 15865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Morphologie</a:t>
            </a:r>
          </a:p>
        </p:txBody>
      </p:sp>
      <p:sp>
        <p:nvSpPr>
          <p:cNvPr id="252" name="Syntax"/>
          <p:cNvSpPr/>
          <p:nvPr/>
        </p:nvSpPr>
        <p:spPr>
          <a:xfrm>
            <a:off x="10427683" y="11172564"/>
            <a:ext cx="3528634" cy="1489374"/>
          </a:xfrm>
          <a:prstGeom prst="roundRect">
            <a:avLst>
              <a:gd name="adj" fmla="val 16538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Syntax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255" name="Baum"/>
          <p:cNvSpPr txBox="1"/>
          <p:nvPr/>
        </p:nvSpPr>
        <p:spPr>
          <a:xfrm>
            <a:off x="2883372" y="10772068"/>
            <a:ext cx="143986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latin typeface="Skia Regular"/>
                <a:ea typeface="Skia Regular"/>
                <a:cs typeface="Skia Regular"/>
                <a:sym typeface="Skia Regular"/>
              </a:defRPr>
            </a:lvl1pPr>
          </a:lstStyle>
          <a:p>
            <a:pPr/>
            <a:r>
              <a:t>Baum</a:t>
            </a:r>
          </a:p>
        </p:txBody>
      </p:sp>
      <p:sp>
        <p:nvSpPr>
          <p:cNvPr id="256" name="Tree"/>
          <p:cNvSpPr txBox="1"/>
          <p:nvPr/>
        </p:nvSpPr>
        <p:spPr>
          <a:xfrm>
            <a:off x="2037953" y="6553199"/>
            <a:ext cx="768605" cy="609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latin typeface="DIN Condensed Bold"/>
                <a:ea typeface="DIN Condensed Bold"/>
                <a:cs typeface="DIN Condensed Bold"/>
                <a:sym typeface="DIN Condensed Bold"/>
              </a:defRPr>
            </a:lvl1pPr>
          </a:lstStyle>
          <a:p>
            <a:pPr/>
            <a:r>
              <a:t>Tree</a:t>
            </a:r>
          </a:p>
        </p:txBody>
      </p:sp>
      <p:sp>
        <p:nvSpPr>
          <p:cNvPr id="257" name="Albero"/>
          <p:cNvSpPr txBox="1"/>
          <p:nvPr/>
        </p:nvSpPr>
        <p:spPr>
          <a:xfrm>
            <a:off x="18343790" y="5137329"/>
            <a:ext cx="147514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Albero</a:t>
            </a:r>
          </a:p>
        </p:txBody>
      </p:sp>
      <p:sp>
        <p:nvSpPr>
          <p:cNvPr id="258" name="дерево"/>
          <p:cNvSpPr txBox="1"/>
          <p:nvPr/>
        </p:nvSpPr>
        <p:spPr>
          <a:xfrm>
            <a:off x="21388371" y="8141959"/>
            <a:ext cx="138834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ct val="100000"/>
              </a:lnSpc>
              <a:defRPr sz="3600">
                <a:solidFill>
                  <a:srgbClr val="202124"/>
                </a:solidFill>
                <a:latin typeface="Bodoni SvtyTwo ITC TT-Book"/>
                <a:ea typeface="Bodoni SvtyTwo ITC TT-Book"/>
                <a:cs typeface="Bodoni SvtyTwo ITC TT-Book"/>
                <a:sym typeface="Bodoni SvtyTwo ITC TT-Book"/>
              </a:defRPr>
            </a:lvl1pPr>
          </a:lstStyle>
          <a:p>
            <a:pPr/>
            <a:r>
              <a:t>дерево</a:t>
            </a:r>
          </a:p>
        </p:txBody>
      </p:sp>
      <p:sp>
        <p:nvSpPr>
          <p:cNvPr id="259" name="Arbre"/>
          <p:cNvSpPr txBox="1"/>
          <p:nvPr/>
        </p:nvSpPr>
        <p:spPr>
          <a:xfrm>
            <a:off x="18152860" y="10531025"/>
            <a:ext cx="125748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Arbre</a:t>
            </a:r>
          </a:p>
        </p:txBody>
      </p:sp>
      <p:sp>
        <p:nvSpPr>
          <p:cNvPr id="260" name="árbol"/>
          <p:cNvSpPr txBox="1"/>
          <p:nvPr/>
        </p:nvSpPr>
        <p:spPr>
          <a:xfrm>
            <a:off x="4939631" y="5137329"/>
            <a:ext cx="109641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ct val="100000"/>
              </a:lnSpc>
              <a:defRPr sz="3500">
                <a:solidFill>
                  <a:srgbClr val="202124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árbol</a:t>
            </a:r>
          </a:p>
        </p:txBody>
      </p:sp>
      <p:sp>
        <p:nvSpPr>
          <p:cNvPr id="261" name="Träd"/>
          <p:cNvSpPr txBox="1"/>
          <p:nvPr/>
        </p:nvSpPr>
        <p:spPr>
          <a:xfrm>
            <a:off x="4897452" y="9011368"/>
            <a:ext cx="989382" cy="60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latin typeface="Big Caslon Medium"/>
                <a:ea typeface="Big Caslon Medium"/>
                <a:cs typeface="Big Caslon Medium"/>
                <a:sym typeface="Big Caslon Medium"/>
              </a:defRPr>
            </a:lvl1pPr>
          </a:lstStyle>
          <a:p>
            <a:pPr/>
            <a:r>
              <a:t>Träd</a:t>
            </a:r>
          </a:p>
        </p:txBody>
      </p:sp>
      <p:pic>
        <p:nvPicPr>
          <p:cNvPr id="262" name="Bild" descr="Bil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84602" y="3985069"/>
            <a:ext cx="9414796" cy="853215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65" name="Foliennummer"/>
          <p:cNvSpPr txBox="1"/>
          <p:nvPr>
            <p:ph type="sldNum" sz="quarter" idx="2"/>
          </p:nvPr>
        </p:nvSpPr>
        <p:spPr>
          <a:xfrm>
            <a:off x="12061189" y="12684760"/>
            <a:ext cx="261621" cy="4445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268" name="Bild" descr="Bil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67415" y="4496585"/>
            <a:ext cx="1905877" cy="1727201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Oval"/>
          <p:cNvSpPr/>
          <p:nvPr/>
        </p:nvSpPr>
        <p:spPr>
          <a:xfrm>
            <a:off x="3962767" y="3926208"/>
            <a:ext cx="8515171" cy="8293242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70" name="Signifikat"/>
          <p:cNvSpPr txBox="1"/>
          <p:nvPr/>
        </p:nvSpPr>
        <p:spPr>
          <a:xfrm>
            <a:off x="7303857" y="6523354"/>
            <a:ext cx="1832992" cy="669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Signifikat </a:t>
            </a:r>
          </a:p>
        </p:txBody>
      </p:sp>
      <p:sp>
        <p:nvSpPr>
          <p:cNvPr id="271" name="Signifikant"/>
          <p:cNvSpPr txBox="1"/>
          <p:nvPr/>
        </p:nvSpPr>
        <p:spPr>
          <a:xfrm>
            <a:off x="7189176" y="10623861"/>
            <a:ext cx="2062354" cy="669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Signifikant </a:t>
            </a:r>
          </a:p>
        </p:txBody>
      </p:sp>
      <p:sp>
        <p:nvSpPr>
          <p:cNvPr id="272" name="Linie"/>
          <p:cNvSpPr/>
          <p:nvPr/>
        </p:nvSpPr>
        <p:spPr>
          <a:xfrm>
            <a:off x="3950068" y="8072828"/>
            <a:ext cx="854057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3" name="Inhalt, Bedeutung…"/>
          <p:cNvSpPr txBox="1"/>
          <p:nvPr/>
        </p:nvSpPr>
        <p:spPr>
          <a:xfrm>
            <a:off x="15482290" y="4698467"/>
            <a:ext cx="5162805" cy="223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000"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Inhalt, Bedeutung</a:t>
            </a:r>
          </a:p>
          <a:p>
            <a:pPr algn="l">
              <a:defRPr sz="4000"/>
            </a:pPr>
            <a:r>
              <a:t>Konzept (Vorstellung)</a:t>
            </a:r>
          </a:p>
          <a:p>
            <a:pPr algn="l">
              <a:defRPr sz="4000"/>
            </a:pPr>
            <a:r>
              <a:t>Bezeichnetes</a:t>
            </a:r>
          </a:p>
        </p:txBody>
      </p:sp>
      <p:sp>
        <p:nvSpPr>
          <p:cNvPr id="274" name="Ausdruck…"/>
          <p:cNvSpPr txBox="1"/>
          <p:nvPr/>
        </p:nvSpPr>
        <p:spPr>
          <a:xfrm>
            <a:off x="15567885" y="9126171"/>
            <a:ext cx="3566161" cy="223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000"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Ausdruck</a:t>
            </a:r>
          </a:p>
          <a:p>
            <a:pPr algn="l">
              <a:defRPr sz="4000"/>
            </a:pPr>
            <a:r>
              <a:t>Lautbild</a:t>
            </a:r>
          </a:p>
          <a:p>
            <a:pPr algn="l">
              <a:defRPr sz="4000"/>
            </a:pPr>
            <a:r>
              <a:t>Bezeichnendes</a:t>
            </a:r>
          </a:p>
        </p:txBody>
      </p:sp>
      <p:sp>
        <p:nvSpPr>
          <p:cNvPr id="275" name="Linie"/>
          <p:cNvSpPr/>
          <p:nvPr/>
        </p:nvSpPr>
        <p:spPr>
          <a:xfrm flipH="1">
            <a:off x="12611136" y="5811342"/>
            <a:ext cx="2483226" cy="603935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6" name="Linie"/>
          <p:cNvSpPr/>
          <p:nvPr/>
        </p:nvSpPr>
        <p:spPr>
          <a:xfrm flipH="1" flipV="1">
            <a:off x="12789092" y="9864027"/>
            <a:ext cx="2477460" cy="225584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7" name="Arbiträre (willkürliche)…"/>
          <p:cNvSpPr txBox="1"/>
          <p:nvPr/>
        </p:nvSpPr>
        <p:spPr>
          <a:xfrm>
            <a:off x="485913" y="7613741"/>
            <a:ext cx="3343657" cy="967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Arbiträre</a:t>
            </a:r>
            <a:r>
              <a:t> (willkürliche)</a:t>
            </a:r>
          </a:p>
          <a:p>
            <a:pPr/>
            <a:r>
              <a:t> Zuordnung</a:t>
            </a:r>
          </a:p>
        </p:txBody>
      </p:sp>
      <p:sp>
        <p:nvSpPr>
          <p:cNvPr id="286" name="Verbindungslinie"/>
          <p:cNvSpPr/>
          <p:nvPr/>
        </p:nvSpPr>
        <p:spPr>
          <a:xfrm>
            <a:off x="2078782" y="6823285"/>
            <a:ext cx="1447886" cy="790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28" h="18995" fill="norm" stroke="1" extrusionOk="0">
                <a:moveTo>
                  <a:pt x="3" y="18995"/>
                </a:moveTo>
                <a:cubicBezTo>
                  <a:pt x="-172" y="3384"/>
                  <a:pt x="6970" y="-2605"/>
                  <a:pt x="21428" y="1029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87" name="Verbindungslinie"/>
          <p:cNvSpPr/>
          <p:nvPr/>
        </p:nvSpPr>
        <p:spPr>
          <a:xfrm>
            <a:off x="2084102" y="8613689"/>
            <a:ext cx="1483185" cy="9336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6" h="19130" fill="norm" stroke="1" extrusionOk="0">
                <a:moveTo>
                  <a:pt x="45" y="0"/>
                </a:moveTo>
                <a:cubicBezTo>
                  <a:pt x="-634" y="15524"/>
                  <a:pt x="6340" y="21600"/>
                  <a:pt x="20966" y="18227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80" name="Pfeil"/>
          <p:cNvSpPr/>
          <p:nvPr/>
        </p:nvSpPr>
        <p:spPr>
          <a:xfrm>
            <a:off x="3210616" y="6726424"/>
            <a:ext cx="440998" cy="212353"/>
          </a:xfrm>
          <a:prstGeom prst="rightArrow">
            <a:avLst>
              <a:gd name="adj1" fmla="val 32000"/>
              <a:gd name="adj2" fmla="val 132911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81" name="Pfeil"/>
          <p:cNvSpPr/>
          <p:nvPr/>
        </p:nvSpPr>
        <p:spPr>
          <a:xfrm>
            <a:off x="3363172" y="9408642"/>
            <a:ext cx="440998" cy="212353"/>
          </a:xfrm>
          <a:prstGeom prst="rightArrow">
            <a:avLst>
              <a:gd name="adj1" fmla="val 32000"/>
              <a:gd name="adj2" fmla="val 132911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82" name="[baʊ̯m]"/>
          <p:cNvSpPr txBox="1"/>
          <p:nvPr/>
        </p:nvSpPr>
        <p:spPr>
          <a:xfrm>
            <a:off x="7383591" y="9611631"/>
            <a:ext cx="1673524" cy="656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ct val="100000"/>
              </a:lnSpc>
              <a:defRPr sz="4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[baʊ̯m]</a:t>
            </a:r>
          </a:p>
        </p:txBody>
      </p:sp>
      <p:pic>
        <p:nvPicPr>
          <p:cNvPr id="283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290" name="Bild" descr="Bil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77652" y="9161136"/>
            <a:ext cx="1905877" cy="1727201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[baʊ̯m]"/>
          <p:cNvSpPr txBox="1"/>
          <p:nvPr/>
        </p:nvSpPr>
        <p:spPr>
          <a:xfrm>
            <a:off x="6732823" y="10302675"/>
            <a:ext cx="1673524" cy="656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ct val="100000"/>
              </a:lnSpc>
              <a:defRPr sz="4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[baʊ̯m]</a:t>
            </a:r>
          </a:p>
        </p:txBody>
      </p:sp>
      <p:pic>
        <p:nvPicPr>
          <p:cNvPr id="292" name="Bild" descr="Bild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355238" y="2850250"/>
            <a:ext cx="1673524" cy="1673523"/>
          </a:xfrm>
          <a:prstGeom prst="rect">
            <a:avLst/>
          </a:prstGeom>
          <a:ln w="12700">
            <a:miter lim="400000"/>
          </a:ln>
        </p:spPr>
      </p:pic>
      <p:sp>
        <p:nvSpPr>
          <p:cNvPr id="293" name="Dreieck"/>
          <p:cNvSpPr/>
          <p:nvPr/>
        </p:nvSpPr>
        <p:spPr>
          <a:xfrm>
            <a:off x="8918006" y="5588527"/>
            <a:ext cx="6547988" cy="53368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294" name="Bezieht sich auf"/>
          <p:cNvSpPr/>
          <p:nvPr/>
        </p:nvSpPr>
        <p:spPr>
          <a:xfrm rot="3454528">
            <a:off x="13034622" y="6816983"/>
            <a:ext cx="3547618" cy="1842857"/>
          </a:xfrm>
          <a:prstGeom prst="roundRect">
            <a:avLst>
              <a:gd name="adj" fmla="val 19577"/>
            </a:avLst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lnSpc>
                <a:spcPct val="100000"/>
              </a:lnSpc>
              <a:defRPr sz="3500">
                <a:latin typeface="Canela Regular"/>
                <a:ea typeface="Canela Regular"/>
                <a:cs typeface="Canela Regular"/>
                <a:sym typeface="Canela Regular"/>
              </a:defRPr>
            </a:lvl1pPr>
          </a:lstStyle>
          <a:p>
            <a:pPr/>
            <a:r>
              <a:t>Bezieht sich auf</a:t>
            </a:r>
          </a:p>
        </p:txBody>
      </p:sp>
      <p:sp>
        <p:nvSpPr>
          <p:cNvPr id="295" name="Aktiviert/…"/>
          <p:cNvSpPr/>
          <p:nvPr/>
        </p:nvSpPr>
        <p:spPr>
          <a:xfrm rot="18050859">
            <a:off x="8049321" y="7210611"/>
            <a:ext cx="2705815" cy="1447514"/>
          </a:xfrm>
          <a:prstGeom prst="roundRect">
            <a:avLst>
              <a:gd name="adj" fmla="val 17544"/>
            </a:avLst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584200">
              <a:lnSpc>
                <a:spcPct val="100000"/>
              </a:lnSpc>
              <a:defRPr sz="3500">
                <a:latin typeface="Canela Regular"/>
                <a:ea typeface="Canela Regular"/>
                <a:cs typeface="Canela Regular"/>
                <a:sym typeface="Canela Regular"/>
              </a:defRPr>
            </a:pPr>
            <a:r>
              <a:t>Aktiviert/</a:t>
            </a:r>
          </a:p>
          <a:p>
            <a:pPr defTabSz="584200">
              <a:lnSpc>
                <a:spcPct val="100000"/>
              </a:lnSpc>
              <a:defRPr sz="3500">
                <a:latin typeface="Canela Regular"/>
                <a:ea typeface="Canela Regular"/>
                <a:cs typeface="Canela Regular"/>
                <a:sym typeface="Canela Regular"/>
              </a:defRPr>
            </a:pPr>
            <a:r>
              <a:t>Bedeutuet</a:t>
            </a:r>
          </a:p>
        </p:txBody>
      </p:sp>
      <p:sp>
        <p:nvSpPr>
          <p:cNvPr id="296" name="Steht für/…"/>
          <p:cNvSpPr/>
          <p:nvPr/>
        </p:nvSpPr>
        <p:spPr>
          <a:xfrm>
            <a:off x="10276721" y="11185740"/>
            <a:ext cx="3946734" cy="1514774"/>
          </a:xfrm>
          <a:prstGeom prst="roundRect">
            <a:avLst>
              <a:gd name="adj" fmla="val 23270"/>
            </a:avLst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584200">
              <a:lnSpc>
                <a:spcPct val="100000"/>
              </a:lnSpc>
              <a:defRPr sz="3500">
                <a:latin typeface="Canela Regular"/>
                <a:ea typeface="Canela Regular"/>
                <a:cs typeface="Canela Regular"/>
                <a:sym typeface="Canela Regular"/>
              </a:defRPr>
            </a:pPr>
            <a:r>
              <a:t>Steht für/ </a:t>
            </a:r>
          </a:p>
          <a:p>
            <a:pPr defTabSz="584200">
              <a:lnSpc>
                <a:spcPct val="100000"/>
              </a:lnSpc>
              <a:defRPr sz="3500">
                <a:latin typeface="Canela Regular"/>
                <a:ea typeface="Canela Regular"/>
                <a:cs typeface="Canela Regular"/>
                <a:sym typeface="Canela Regular"/>
              </a:defRPr>
            </a:pPr>
            <a:r>
              <a:t>referiert auf</a:t>
            </a:r>
          </a:p>
        </p:txBody>
      </p:sp>
      <p:sp>
        <p:nvSpPr>
          <p:cNvPr id="297" name="Konzept"/>
          <p:cNvSpPr/>
          <p:nvPr/>
        </p:nvSpPr>
        <p:spPr>
          <a:xfrm>
            <a:off x="11039200" y="4604749"/>
            <a:ext cx="2305600" cy="878515"/>
          </a:xfrm>
          <a:prstGeom prst="roundRect">
            <a:avLst>
              <a:gd name="adj" fmla="val 26690"/>
            </a:avLst>
          </a:prstGeom>
          <a:blipFill>
            <a:blip r:embed="rId4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lnSpc>
                <a:spcPct val="100000"/>
              </a:lnSpc>
              <a:defRPr b="1" sz="2700">
                <a:solidFill>
                  <a:srgbClr val="FFFFFF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lvl1pPr>
          </a:lstStyle>
          <a:p>
            <a:pPr/>
            <a:r>
              <a:t>Konzept</a:t>
            </a:r>
          </a:p>
        </p:txBody>
      </p:sp>
      <p:sp>
        <p:nvSpPr>
          <p:cNvPr id="298" name="Denotat"/>
          <p:cNvSpPr/>
          <p:nvPr/>
        </p:nvSpPr>
        <p:spPr>
          <a:xfrm>
            <a:off x="15777791" y="11049871"/>
            <a:ext cx="2305600" cy="878515"/>
          </a:xfrm>
          <a:prstGeom prst="roundRect">
            <a:avLst>
              <a:gd name="adj" fmla="val 26690"/>
            </a:avLst>
          </a:prstGeom>
          <a:blipFill>
            <a:blip r:embed="rId5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lnSpc>
                <a:spcPct val="100000"/>
              </a:lnSpc>
              <a:defRPr b="1" sz="2700">
                <a:solidFill>
                  <a:srgbClr val="FFFFFF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lvl1pPr>
          </a:lstStyle>
          <a:p>
            <a:pPr/>
            <a:r>
              <a:t>Denotat</a:t>
            </a:r>
          </a:p>
        </p:txBody>
      </p:sp>
      <p:sp>
        <p:nvSpPr>
          <p:cNvPr id="299" name="Zeichen/ Symbol"/>
          <p:cNvSpPr/>
          <p:nvPr/>
        </p:nvSpPr>
        <p:spPr>
          <a:xfrm>
            <a:off x="6416786" y="11275591"/>
            <a:ext cx="2305599" cy="1101601"/>
          </a:xfrm>
          <a:prstGeom prst="roundRect">
            <a:avLst>
              <a:gd name="adj" fmla="val 21285"/>
            </a:avLst>
          </a:prstGeom>
          <a:blipFill>
            <a:blip r:embed="rId6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lnSpc>
                <a:spcPct val="100000"/>
              </a:lnSpc>
              <a:defRPr b="1" sz="2700">
                <a:solidFill>
                  <a:srgbClr val="FFFFFF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lvl1pPr>
          </a:lstStyle>
          <a:p>
            <a:pPr/>
            <a:r>
              <a:t>Zeichen/ Symbol</a:t>
            </a:r>
          </a:p>
        </p:txBody>
      </p:sp>
      <p:sp>
        <p:nvSpPr>
          <p:cNvPr id="300" name="Pfeil"/>
          <p:cNvSpPr/>
          <p:nvPr/>
        </p:nvSpPr>
        <p:spPr>
          <a:xfrm>
            <a:off x="11615087" y="10706980"/>
            <a:ext cx="1270001" cy="414004"/>
          </a:xfrm>
          <a:prstGeom prst="rightArrow">
            <a:avLst>
              <a:gd name="adj1" fmla="val 32000"/>
              <a:gd name="adj2" fmla="val 196327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01" name="Pfeil"/>
          <p:cNvSpPr/>
          <p:nvPr/>
        </p:nvSpPr>
        <p:spPr>
          <a:xfrm rot="14348227">
            <a:off x="13148857" y="8025691"/>
            <a:ext cx="1270001" cy="414004"/>
          </a:xfrm>
          <a:prstGeom prst="rightArrow">
            <a:avLst>
              <a:gd name="adj1" fmla="val 32000"/>
              <a:gd name="adj2" fmla="val 196327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02" name="Pfeil"/>
          <p:cNvSpPr/>
          <p:nvPr/>
        </p:nvSpPr>
        <p:spPr>
          <a:xfrm rot="18165165">
            <a:off x="9894675" y="8020201"/>
            <a:ext cx="1270001" cy="414005"/>
          </a:xfrm>
          <a:prstGeom prst="rightArrow">
            <a:avLst>
              <a:gd name="adj1" fmla="val 32000"/>
              <a:gd name="adj2" fmla="val 196327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303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05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308" name="Semantik: Bedeutungslehr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just" defTabSz="859536">
              <a:lnSpc>
                <a:spcPct val="120000"/>
              </a:lnSpc>
              <a:spcBef>
                <a:spcPts val="0"/>
              </a:spcBef>
              <a:buSzTx/>
              <a:buNone/>
              <a:defRPr i="1" sz="3759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Semantik: Bedeutungslehre</a:t>
            </a:r>
            <a:endParaRPr b="1" i="0"/>
          </a:p>
          <a:p>
            <a:pPr marL="233333" indent="-233333" algn="just" defTabSz="859536">
              <a:lnSpc>
                <a:spcPct val="120000"/>
              </a:lnSpc>
              <a:spcBef>
                <a:spcPts val="0"/>
              </a:spcBef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Arbiträre Zuordnung von Zeichen zu Konzept</a:t>
            </a:r>
            <a:endParaRPr i="0"/>
          </a:p>
          <a:p>
            <a:pPr lvl="1" marL="0" indent="429768" algn="just" defTabSz="859536">
              <a:lnSpc>
                <a:spcPct val="120000"/>
              </a:lnSpc>
              <a:spcBef>
                <a:spcPts val="0"/>
              </a:spcBef>
              <a:buSzTx/>
              <a:buNone/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wauwau, kikeriki, knallen, klirren, rauschen </a:t>
            </a:r>
            <a:r>
              <a:rPr i="0"/>
              <a:t>?</a:t>
            </a:r>
            <a:endParaRPr i="0"/>
          </a:p>
          <a:p>
            <a:pPr lvl="1" marL="0" indent="429768" algn="just" defTabSz="859536">
              <a:lnSpc>
                <a:spcPct val="120000"/>
              </a:lnSpc>
              <a:spcBef>
                <a:spcPts val="0"/>
              </a:spcBef>
              <a:buSzTx/>
              <a:buNone/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233333" indent="-233333" algn="just" defTabSz="859536">
              <a:lnSpc>
                <a:spcPct val="120000"/>
              </a:lnSpc>
              <a:spcBef>
                <a:spcPts val="0"/>
              </a:spcBef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Inhaltswörter vs. Funktionswörter</a:t>
            </a:r>
            <a:endParaRPr i="0"/>
          </a:p>
          <a:p>
            <a:pPr lvl="1" marL="0" indent="429768" algn="just" defTabSz="859536">
              <a:lnSpc>
                <a:spcPct val="120000"/>
              </a:lnSpc>
              <a:spcBef>
                <a:spcPts val="0"/>
              </a:spcBef>
              <a:buSzTx/>
              <a:buNone/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Sie isst die Pizza.</a:t>
            </a:r>
            <a:r>
              <a:rPr i="0"/>
              <a:t> -&gt; Bedeutung von </a:t>
            </a:r>
            <a:r>
              <a:t>sie</a:t>
            </a:r>
            <a:r>
              <a:rPr i="0"/>
              <a:t>, </a:t>
            </a:r>
            <a:r>
              <a:t>die</a:t>
            </a:r>
            <a:r>
              <a:rPr i="0"/>
              <a:t>?</a:t>
            </a:r>
            <a:endParaRPr i="0"/>
          </a:p>
          <a:p>
            <a:pPr marL="233333" indent="-233333" algn="just" defTabSz="859536">
              <a:lnSpc>
                <a:spcPct val="120000"/>
              </a:lnSpc>
              <a:spcBef>
                <a:spcPts val="0"/>
              </a:spcBef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233333" indent="-233333" algn="just" defTabSz="859536">
              <a:lnSpc>
                <a:spcPct val="120000"/>
              </a:lnSpc>
              <a:spcBef>
                <a:spcPts val="0"/>
              </a:spcBef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Wortbedeutung - Satzbedeutung - Kompositionalität</a:t>
            </a:r>
            <a:endParaRPr i="0"/>
          </a:p>
          <a:p>
            <a:pPr lvl="1" marL="0" indent="429768" algn="just" defTabSz="859536">
              <a:lnSpc>
                <a:spcPct val="120000"/>
              </a:lnSpc>
              <a:spcBef>
                <a:spcPts val="0"/>
              </a:spcBef>
              <a:buSzTx/>
              <a:buNone/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-&gt; wie viele Sätze gibt es in einer Sprache? Unendlich viele?</a:t>
            </a:r>
            <a:endParaRPr i="0"/>
          </a:p>
          <a:p>
            <a:pPr marL="233333" indent="-233333" algn="just" defTabSz="859536">
              <a:lnSpc>
                <a:spcPct val="120000"/>
              </a:lnSpc>
              <a:spcBef>
                <a:spcPts val="0"/>
              </a:spcBef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233333" indent="-233333" algn="just" defTabSz="859536">
              <a:lnSpc>
                <a:spcPct val="120000"/>
              </a:lnSpc>
              <a:spcBef>
                <a:spcPts val="0"/>
              </a:spcBef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„Wortbedeutung muss man lernen, Satzbedeutung nicht.“</a:t>
            </a:r>
            <a:endParaRPr i="0"/>
          </a:p>
        </p:txBody>
      </p:sp>
      <p:pic>
        <p:nvPicPr>
          <p:cNvPr id="309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10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11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314" name="Semantik: Bedeutungslehr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Semantik: Bedeutungslehre</a:t>
            </a:r>
            <a:endParaRPr b="1" i="0"/>
          </a:p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endParaRPr b="1" i="0"/>
          </a:p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Semantik untersucht Bedeutung.</a:t>
            </a:r>
          </a:p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Aber was bedeutet Bedeutung?</a:t>
            </a:r>
          </a:p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pic>
        <p:nvPicPr>
          <p:cNvPr id="315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17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Abgerundetes Rechteck"/>
          <p:cNvSpPr/>
          <p:nvPr/>
        </p:nvSpPr>
        <p:spPr>
          <a:xfrm>
            <a:off x="870489" y="7225117"/>
            <a:ext cx="23076467" cy="3245667"/>
          </a:xfrm>
          <a:prstGeom prst="roundRect">
            <a:avLst>
              <a:gd name="adj" fmla="val 15000"/>
            </a:avLst>
          </a:prstGeom>
          <a:solidFill>
            <a:srgbClr val="D5D5D5">
              <a:alpha val="27961"/>
            </a:srgbClr>
          </a:solidFill>
          <a:ln w="50800">
            <a:solidFill>
              <a:srgbClr val="929292"/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20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321" name="Semantik: Bedeutungslehr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Semantik: Bedeutungslehre</a:t>
            </a:r>
            <a:endParaRPr b="1" i="0"/>
          </a:p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endParaRPr b="1" i="0"/>
          </a:p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Semantik untersucht Bedeutung.</a:t>
            </a:r>
          </a:p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Die Semantik ist die Wissenschhaft von der </a:t>
            </a:r>
            <a:r>
              <a:rPr b="1"/>
              <a:t>Bedeutung einfacher und komplexer sprachlicher Ausdrücke </a:t>
            </a:r>
            <a:r>
              <a:t>für sich genommen. Sie befasst sich außerdem mit den </a:t>
            </a:r>
            <a:r>
              <a:rPr b="1"/>
              <a:t>Schnittstellen der Ausdrucksbedeutung</a:t>
            </a:r>
            <a:r>
              <a:t> zu den Ebenen der </a:t>
            </a:r>
            <a:r>
              <a:rPr b="1"/>
              <a:t>Äußerungsbedeutung</a:t>
            </a:r>
            <a:r>
              <a:t> und des </a:t>
            </a:r>
            <a:r>
              <a:rPr b="1"/>
              <a:t>kommunikativen Sinns</a:t>
            </a:r>
            <a:r>
              <a:t>.</a:t>
            </a:r>
          </a:p>
        </p:txBody>
      </p:sp>
      <p:pic>
        <p:nvPicPr>
          <p:cNvPr id="322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24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327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29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30" name="Pragmatik"/>
          <p:cNvSpPr/>
          <p:nvPr/>
        </p:nvSpPr>
        <p:spPr>
          <a:xfrm>
            <a:off x="14525539" y="4367366"/>
            <a:ext cx="5369809" cy="2438117"/>
          </a:xfrm>
          <a:prstGeom prst="roundRect">
            <a:avLst>
              <a:gd name="adj" fmla="val 15689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6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Pragmatik</a:t>
            </a:r>
          </a:p>
        </p:txBody>
      </p:sp>
      <p:sp>
        <p:nvSpPr>
          <p:cNvPr id="331" name="Semantik"/>
          <p:cNvSpPr/>
          <p:nvPr/>
        </p:nvSpPr>
        <p:spPr>
          <a:xfrm>
            <a:off x="10302519" y="3505556"/>
            <a:ext cx="3778962" cy="1429310"/>
          </a:xfrm>
          <a:prstGeom prst="roundRect">
            <a:avLst>
              <a:gd name="adj" fmla="val 18834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Semantik</a:t>
            </a:r>
          </a:p>
        </p:txBody>
      </p:sp>
      <p:sp>
        <p:nvSpPr>
          <p:cNvPr id="332" name="Module der Sprachforschung"/>
          <p:cNvSpPr/>
          <p:nvPr/>
        </p:nvSpPr>
        <p:spPr>
          <a:xfrm>
            <a:off x="1763011" y="6685570"/>
            <a:ext cx="5571217" cy="2580499"/>
          </a:xfrm>
          <a:prstGeom prst="roundRect">
            <a:avLst>
              <a:gd name="adj" fmla="val 15380"/>
            </a:avLst>
          </a:prstGeom>
          <a:solidFill>
            <a:schemeClr val="accent5">
              <a:hueOff val="-65973"/>
              <a:satOff val="18050"/>
              <a:lumOff val="-15912"/>
              <a:alpha val="65405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Module der Sprachforschung</a:t>
            </a:r>
          </a:p>
        </p:txBody>
      </p:sp>
      <p:sp>
        <p:nvSpPr>
          <p:cNvPr id="333" name="Linie"/>
          <p:cNvSpPr/>
          <p:nvPr/>
        </p:nvSpPr>
        <p:spPr>
          <a:xfrm flipV="1">
            <a:off x="7878081" y="6020384"/>
            <a:ext cx="2425096" cy="1675232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4" name="Linie"/>
          <p:cNvSpPr/>
          <p:nvPr/>
        </p:nvSpPr>
        <p:spPr>
          <a:xfrm flipV="1">
            <a:off x="8007047" y="6598896"/>
            <a:ext cx="4825979" cy="1388850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5" name="Linie"/>
          <p:cNvSpPr/>
          <p:nvPr/>
        </p:nvSpPr>
        <p:spPr>
          <a:xfrm flipV="1">
            <a:off x="8062918" y="8142910"/>
            <a:ext cx="6853228" cy="80919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6" name="Linie"/>
          <p:cNvSpPr/>
          <p:nvPr/>
        </p:nvSpPr>
        <p:spPr>
          <a:xfrm>
            <a:off x="8007047" y="8501475"/>
            <a:ext cx="4825979" cy="846097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7" name="Linie"/>
          <p:cNvSpPr/>
          <p:nvPr/>
        </p:nvSpPr>
        <p:spPr>
          <a:xfrm>
            <a:off x="8071605" y="8867592"/>
            <a:ext cx="2425095" cy="1146418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8" name="Phonologie"/>
          <p:cNvSpPr/>
          <p:nvPr/>
        </p:nvSpPr>
        <p:spPr>
          <a:xfrm>
            <a:off x="16524623" y="7444120"/>
            <a:ext cx="3247420" cy="1701801"/>
          </a:xfrm>
          <a:prstGeom prst="roundRect">
            <a:avLst>
              <a:gd name="adj" fmla="val 14711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Phonologie</a:t>
            </a:r>
          </a:p>
        </p:txBody>
      </p:sp>
      <p:sp>
        <p:nvSpPr>
          <p:cNvPr id="339" name="Morphologie"/>
          <p:cNvSpPr/>
          <p:nvPr/>
        </p:nvSpPr>
        <p:spPr>
          <a:xfrm>
            <a:off x="14338732" y="9764851"/>
            <a:ext cx="3528634" cy="1584388"/>
          </a:xfrm>
          <a:prstGeom prst="roundRect">
            <a:avLst>
              <a:gd name="adj" fmla="val 15865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Morphologie</a:t>
            </a:r>
          </a:p>
        </p:txBody>
      </p:sp>
      <p:sp>
        <p:nvSpPr>
          <p:cNvPr id="340" name="Syntax"/>
          <p:cNvSpPr/>
          <p:nvPr/>
        </p:nvSpPr>
        <p:spPr>
          <a:xfrm>
            <a:off x="10427683" y="11172564"/>
            <a:ext cx="3528634" cy="1489374"/>
          </a:xfrm>
          <a:prstGeom prst="roundRect">
            <a:avLst>
              <a:gd name="adj" fmla="val 16538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Syntax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343" name="Pragmatik: Konversationslehre…"/>
          <p:cNvSpPr txBox="1"/>
          <p:nvPr>
            <p:ph type="body" idx="1"/>
          </p:nvPr>
        </p:nvSpPr>
        <p:spPr>
          <a:xfrm>
            <a:off x="1217711" y="3840438"/>
            <a:ext cx="22382024" cy="8483601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Pragmatik: Konversationslehre</a:t>
            </a:r>
            <a:endParaRPr b="1" i="0"/>
          </a:p>
          <a:p>
            <a:pPr marL="248227" indent="-248227" algn="just" defTabSz="914400">
              <a:lnSpc>
                <a:spcPct val="12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 </a:t>
            </a:r>
            <a:r>
              <a:rPr i="0"/>
              <a:t>Untersucht alles, was Bedeutung ist, aber nicht zur Semantik gehört.</a:t>
            </a:r>
            <a:endParaRPr i="0"/>
          </a:p>
          <a:p>
            <a:pPr lvl="1" marL="0" indent="45720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Semantik: kontextfreie Ausdrucksbedeutung vs. </a:t>
            </a:r>
            <a:r>
              <a:rPr b="1" i="0"/>
              <a:t>Pragmatik: kontextabhhängiger kommunikativer Sinn</a:t>
            </a:r>
            <a:endParaRPr b="1" i="0"/>
          </a:p>
          <a:p>
            <a:pPr marL="248227" indent="-248227" algn="just" defTabSz="914400">
              <a:lnSpc>
                <a:spcPct val="12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b="1" i="0"/>
          </a:p>
          <a:p>
            <a:pPr marL="248227" indent="-248227" algn="just" defTabSz="914400">
              <a:lnSpc>
                <a:spcPct val="12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b="1" i="0"/>
          </a:p>
          <a:p>
            <a:pPr marL="248227" indent="-248227" algn="just" defTabSz="914400">
              <a:lnSpc>
                <a:spcPct val="12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248227" indent="-248227" algn="just" defTabSz="914400">
              <a:lnSpc>
                <a:spcPct val="12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Pragmatik untersucht das System, das bestimmt, was in einem gegebenen Kontext ein Satz bedeuten kann und nicht kann. </a:t>
            </a:r>
          </a:p>
        </p:txBody>
      </p:sp>
      <p:sp>
        <p:nvSpPr>
          <p:cNvPr id="344" name="Abgerundetes Rechteck"/>
          <p:cNvSpPr/>
          <p:nvPr/>
        </p:nvSpPr>
        <p:spPr>
          <a:xfrm>
            <a:off x="870490" y="7644053"/>
            <a:ext cx="23076467" cy="2206787"/>
          </a:xfrm>
          <a:prstGeom prst="roundRect">
            <a:avLst>
              <a:gd name="adj" fmla="val 22061"/>
            </a:avLst>
          </a:prstGeom>
          <a:solidFill>
            <a:srgbClr val="D5D5D5">
              <a:alpha val="27961"/>
            </a:srgbClr>
          </a:solidFill>
          <a:ln w="50800">
            <a:solidFill>
              <a:srgbClr val="929292"/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345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46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47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350" name="Pragmatik: Konversationslehre…"/>
          <p:cNvSpPr txBox="1"/>
          <p:nvPr>
            <p:ph type="body" idx="1"/>
          </p:nvPr>
        </p:nvSpPr>
        <p:spPr>
          <a:xfrm>
            <a:off x="1217711" y="3519596"/>
            <a:ext cx="21948578" cy="8483601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Pragmatik: Konversationslehre</a:t>
            </a:r>
            <a:endParaRPr i="0"/>
          </a:p>
          <a:p>
            <a:pPr marL="248227" indent="-248227" algn="just" defTabSz="914400">
              <a:lnSpc>
                <a:spcPct val="120000"/>
              </a:lnSpc>
              <a:spcBef>
                <a:spcPts val="0"/>
              </a:spcBef>
              <a:defRPr b="1"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Sprechakttheorie:</a:t>
            </a:r>
            <a:endParaRPr i="0"/>
          </a:p>
          <a:p>
            <a:pPr lvl="1" marL="0" indent="45720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-  Wann ist mit dem Sagen ein Tun verbunden und wann nicht?</a:t>
            </a:r>
            <a:endParaRPr i="0"/>
          </a:p>
          <a:p>
            <a:pPr lvl="1" marL="0" indent="45720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lvl="1" marL="0" indent="45720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„Ich werde dir helfen.“ </a:t>
            </a:r>
          </a:p>
          <a:p>
            <a:pPr lvl="1" marL="0" indent="45720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„Tut mir Leid.“ </a:t>
            </a:r>
          </a:p>
          <a:p>
            <a:pPr lvl="1" marL="0" indent="45720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„Ich bin dabei zu kochen.“ </a:t>
            </a:r>
          </a:p>
          <a:p>
            <a:pPr lvl="1" marL="0" indent="45720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„Hiermit erkläre ich Sie zu Eheleuten.“</a:t>
            </a:r>
          </a:p>
        </p:txBody>
      </p:sp>
      <p:pic>
        <p:nvPicPr>
          <p:cNvPr id="351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52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53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356" name="Bildschirmfoto 2023-02-27 um 09.23.11.png" descr="Bildschirmfoto 2023-02-27 um 09.23.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07881" y="3428308"/>
            <a:ext cx="16768238" cy="9645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7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58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59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362" name="Pragmatik: Konversationslehre…"/>
          <p:cNvSpPr txBox="1"/>
          <p:nvPr>
            <p:ph type="body" idx="1"/>
          </p:nvPr>
        </p:nvSpPr>
        <p:spPr>
          <a:xfrm>
            <a:off x="1217711" y="3272795"/>
            <a:ext cx="21948578" cy="8483601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3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Pragmatik: Konversationslehre</a:t>
            </a:r>
            <a:endParaRPr i="0"/>
          </a:p>
          <a:p>
            <a:pPr marL="248227" indent="-248227" algn="just" defTabSz="914400">
              <a:lnSpc>
                <a:spcPct val="13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</a:t>
            </a:r>
            <a:r>
              <a:rPr b="1" i="0"/>
              <a:t>Konversationsmaxime:</a:t>
            </a:r>
            <a:endParaRPr i="0"/>
          </a:p>
          <a:p>
            <a:pPr marL="0" indent="0" algn="just" defTabSz="914400">
              <a:lnSpc>
                <a:spcPct val="13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  - Umfasst keine Regeln, sondern Erwartungshaltungen, die als Grundlage der Interpretation dienen</a:t>
            </a:r>
            <a:endParaRPr i="0"/>
          </a:p>
          <a:p>
            <a:pPr lvl="1" marL="0" indent="457200" algn="just" defTabSz="914400">
              <a:lnSpc>
                <a:spcPct val="13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lvl="1" marL="0" indent="457200" algn="just" defTabSz="914400">
              <a:lnSpc>
                <a:spcPct val="13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1) </a:t>
            </a:r>
            <a:r>
              <a:rPr i="0" u="sng"/>
              <a:t>Qualitätsmaxime</a:t>
            </a:r>
            <a:r>
              <a:rPr i="0"/>
              <a:t>: </a:t>
            </a:r>
            <a:r>
              <a:t>Sage nichts, was du für falsch hälst.</a:t>
            </a:r>
          </a:p>
          <a:p>
            <a:pPr lvl="1" marL="0" indent="457200" algn="just" defTabSz="914400">
              <a:lnSpc>
                <a:spcPct val="13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2) </a:t>
            </a:r>
            <a:r>
              <a:rPr i="0" u="sng"/>
              <a:t>Quantitätsmaxime</a:t>
            </a:r>
            <a:r>
              <a:rPr i="0"/>
              <a:t>: </a:t>
            </a:r>
            <a:r>
              <a:t>Gestalte deinen Beitrag so informativ wie nötig, aber nicht informeller als nötig.</a:t>
            </a:r>
          </a:p>
          <a:p>
            <a:pPr lvl="1" marL="0" indent="457200" algn="just" defTabSz="914400">
              <a:lnSpc>
                <a:spcPct val="13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3) </a:t>
            </a:r>
            <a:r>
              <a:rPr i="0" u="sng"/>
              <a:t>Relevanzmaxime</a:t>
            </a:r>
            <a:r>
              <a:rPr i="0"/>
              <a:t>: </a:t>
            </a:r>
            <a:r>
              <a:t>Mache deine Beiträge relevant.</a:t>
            </a:r>
          </a:p>
          <a:p>
            <a:pPr lvl="1" marL="0" indent="457200" algn="just" defTabSz="914400">
              <a:lnSpc>
                <a:spcPct val="13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4) </a:t>
            </a:r>
            <a:r>
              <a:rPr i="0" u="sng"/>
              <a:t>Maxime der Art und Weise</a:t>
            </a:r>
            <a:r>
              <a:rPr i="0"/>
              <a:t>: </a:t>
            </a:r>
            <a:r>
              <a:t>Sei klar.</a:t>
            </a:r>
          </a:p>
        </p:txBody>
      </p:sp>
      <p:sp>
        <p:nvSpPr>
          <p:cNvPr id="363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64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365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66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67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370" name="Bildschirmfoto 2023-02-27 um 09.29.56.png" descr="Bildschirmfoto 2023-02-27 um 09.29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51413" y="3622648"/>
            <a:ext cx="9681175" cy="9257000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Oval"/>
          <p:cNvSpPr/>
          <p:nvPr/>
        </p:nvSpPr>
        <p:spPr>
          <a:xfrm>
            <a:off x="8595380" y="5609594"/>
            <a:ext cx="1690142" cy="143042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72" name="Oval"/>
          <p:cNvSpPr/>
          <p:nvPr/>
        </p:nvSpPr>
        <p:spPr>
          <a:xfrm>
            <a:off x="8595380" y="10147710"/>
            <a:ext cx="1690142" cy="143042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373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378" name="Bildschirmfoto 2023-02-27 um 09.29.56.png" descr="Bildschirmfoto 2023-02-27 um 09.29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51413" y="3622648"/>
            <a:ext cx="9681175" cy="9257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9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80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81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384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385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386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87" name="Phonologie"/>
          <p:cNvSpPr/>
          <p:nvPr/>
        </p:nvSpPr>
        <p:spPr>
          <a:xfrm>
            <a:off x="15640328" y="6756761"/>
            <a:ext cx="5369810" cy="2438117"/>
          </a:xfrm>
          <a:prstGeom prst="roundRect">
            <a:avLst>
              <a:gd name="adj" fmla="val 15689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6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Phonologie</a:t>
            </a:r>
          </a:p>
        </p:txBody>
      </p:sp>
      <p:sp>
        <p:nvSpPr>
          <p:cNvPr id="388" name="Semantik"/>
          <p:cNvSpPr/>
          <p:nvPr/>
        </p:nvSpPr>
        <p:spPr>
          <a:xfrm>
            <a:off x="10302519" y="3505556"/>
            <a:ext cx="3778962" cy="1429310"/>
          </a:xfrm>
          <a:prstGeom prst="roundRect">
            <a:avLst>
              <a:gd name="adj" fmla="val 18834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Semantik</a:t>
            </a:r>
          </a:p>
        </p:txBody>
      </p:sp>
      <p:sp>
        <p:nvSpPr>
          <p:cNvPr id="389" name="Module der Sprachforschung"/>
          <p:cNvSpPr/>
          <p:nvPr/>
        </p:nvSpPr>
        <p:spPr>
          <a:xfrm>
            <a:off x="1763011" y="6685570"/>
            <a:ext cx="5571217" cy="2580499"/>
          </a:xfrm>
          <a:prstGeom prst="roundRect">
            <a:avLst>
              <a:gd name="adj" fmla="val 15380"/>
            </a:avLst>
          </a:prstGeom>
          <a:solidFill>
            <a:schemeClr val="accent5">
              <a:hueOff val="-65973"/>
              <a:satOff val="18050"/>
              <a:lumOff val="-15912"/>
              <a:alpha val="65405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Module der Sprachforschung</a:t>
            </a:r>
          </a:p>
        </p:txBody>
      </p:sp>
      <p:sp>
        <p:nvSpPr>
          <p:cNvPr id="390" name="Linie"/>
          <p:cNvSpPr/>
          <p:nvPr/>
        </p:nvSpPr>
        <p:spPr>
          <a:xfrm flipV="1">
            <a:off x="7878081" y="6020384"/>
            <a:ext cx="2425096" cy="1675232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1" name="Linie"/>
          <p:cNvSpPr/>
          <p:nvPr/>
        </p:nvSpPr>
        <p:spPr>
          <a:xfrm flipV="1">
            <a:off x="8007047" y="6598896"/>
            <a:ext cx="4825979" cy="1388850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2" name="Linie"/>
          <p:cNvSpPr/>
          <p:nvPr/>
        </p:nvSpPr>
        <p:spPr>
          <a:xfrm flipV="1">
            <a:off x="8062918" y="8142910"/>
            <a:ext cx="6853228" cy="80919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3" name="Linie"/>
          <p:cNvSpPr/>
          <p:nvPr/>
        </p:nvSpPr>
        <p:spPr>
          <a:xfrm>
            <a:off x="8007047" y="8501475"/>
            <a:ext cx="4825979" cy="846097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4" name="Linie"/>
          <p:cNvSpPr/>
          <p:nvPr/>
        </p:nvSpPr>
        <p:spPr>
          <a:xfrm>
            <a:off x="8071605" y="8867592"/>
            <a:ext cx="2425095" cy="1146418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5" name="Pragmatik"/>
          <p:cNvSpPr/>
          <p:nvPr/>
        </p:nvSpPr>
        <p:spPr>
          <a:xfrm>
            <a:off x="14479339" y="4678512"/>
            <a:ext cx="3247420" cy="1701801"/>
          </a:xfrm>
          <a:prstGeom prst="roundRect">
            <a:avLst>
              <a:gd name="adj" fmla="val 14711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Pragmatik</a:t>
            </a:r>
          </a:p>
        </p:txBody>
      </p:sp>
      <p:sp>
        <p:nvSpPr>
          <p:cNvPr id="396" name="Morphologie"/>
          <p:cNvSpPr/>
          <p:nvPr/>
        </p:nvSpPr>
        <p:spPr>
          <a:xfrm>
            <a:off x="14338732" y="9571327"/>
            <a:ext cx="3528634" cy="1584388"/>
          </a:xfrm>
          <a:prstGeom prst="roundRect">
            <a:avLst>
              <a:gd name="adj" fmla="val 15865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Morphologie</a:t>
            </a:r>
          </a:p>
        </p:txBody>
      </p:sp>
      <p:sp>
        <p:nvSpPr>
          <p:cNvPr id="397" name="Syntax"/>
          <p:cNvSpPr/>
          <p:nvPr/>
        </p:nvSpPr>
        <p:spPr>
          <a:xfrm>
            <a:off x="10427683" y="11172564"/>
            <a:ext cx="3528634" cy="1489374"/>
          </a:xfrm>
          <a:prstGeom prst="roundRect">
            <a:avLst>
              <a:gd name="adj" fmla="val 16538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Syntax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400" name="Phonologie: Lautlehr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Phonologie: Lautlehre</a:t>
            </a:r>
            <a:endParaRPr b="1" i="0"/>
          </a:p>
          <a:p>
            <a:pPr marL="496454" indent="-496454" algn="just" defTabSz="914400">
              <a:lnSpc>
                <a:spcPct val="12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Phonologie untersucht das System, das bestimmt, welche Lautstrukturen/ Lautsequenzen möglich und welche unmöglich sind.</a:t>
            </a:r>
            <a:endParaRPr i="0"/>
          </a:p>
        </p:txBody>
      </p:sp>
      <p:pic>
        <p:nvPicPr>
          <p:cNvPr id="401" name="Bildschirmfoto 2023-02-27 um 09.38.38.png" descr="Bildschirmfoto 2023-02-27 um 09.38.3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39472" y="7173036"/>
            <a:ext cx="5963716" cy="4286421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Abgerundetes Rechteck"/>
          <p:cNvSpPr/>
          <p:nvPr/>
        </p:nvSpPr>
        <p:spPr>
          <a:xfrm>
            <a:off x="653767" y="4731794"/>
            <a:ext cx="23076466" cy="1888644"/>
          </a:xfrm>
          <a:prstGeom prst="roundRect">
            <a:avLst>
              <a:gd name="adj" fmla="val 25778"/>
            </a:avLst>
          </a:prstGeom>
          <a:solidFill>
            <a:srgbClr val="D5D5D5">
              <a:alpha val="27961"/>
            </a:srgbClr>
          </a:solidFill>
          <a:ln w="50800">
            <a:solidFill>
              <a:srgbClr val="929292"/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403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404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05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408" name="Phonologie: Lautlehr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Phonologie: Lautlehre</a:t>
            </a:r>
            <a:endParaRPr b="1" i="0"/>
          </a:p>
          <a:p>
            <a:pPr marL="496454" indent="-496454" algn="just" defTabSz="914400">
              <a:lnSpc>
                <a:spcPct val="12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Phonologie untersucht das System, das bestimmt, welche Lautstrukturen/ Lautsequenzen möglich und welche unmöglich sind.</a:t>
            </a:r>
            <a:endParaRPr i="0"/>
          </a:p>
        </p:txBody>
      </p:sp>
      <p:pic>
        <p:nvPicPr>
          <p:cNvPr id="409" name="Bildschirmfoto 2023-02-27 um 09.37.48.png" descr="Bildschirmfoto 2023-02-27 um 09.37.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13724" y="6920658"/>
            <a:ext cx="10350301" cy="5494605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411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12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415" name="Phonologie: Lautlehre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b="1" sz="40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Phonologie: Lautlehre</a:t>
            </a:r>
            <a:endParaRPr i="0"/>
          </a:p>
        </p:txBody>
      </p:sp>
      <p:pic>
        <p:nvPicPr>
          <p:cNvPr id="416" name="Bildschirmfoto 2023-02-27 um 09.42.12.png" descr="Bildschirmfoto 2023-02-27 um 09.42.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538289" y="5768403"/>
            <a:ext cx="9392178" cy="5603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7" name="Bildschirmfoto 2023-02-27 um 09.42.51.png" descr="Bildschirmfoto 2023-02-27 um 09.42.5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70376" y="5768403"/>
            <a:ext cx="9392178" cy="5603469"/>
          </a:xfrm>
          <a:prstGeom prst="rect">
            <a:avLst/>
          </a:prstGeom>
          <a:ln w="12700">
            <a:miter lim="400000"/>
          </a:ln>
        </p:spPr>
      </p:pic>
      <p:sp>
        <p:nvSpPr>
          <p:cNvPr id="418" name="Ich rate mal und wähle Antwort B."/>
          <p:cNvSpPr txBox="1"/>
          <p:nvPr/>
        </p:nvSpPr>
        <p:spPr>
          <a:xfrm>
            <a:off x="3774303" y="12059119"/>
            <a:ext cx="4840835" cy="555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Ich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rate</a:t>
            </a:r>
            <a:r>
              <a:t> mal und wähle Antwort B.</a:t>
            </a:r>
          </a:p>
        </p:txBody>
      </p:sp>
      <p:sp>
        <p:nvSpPr>
          <p:cNvPr id="419" name="Im Keller haust eine Ratte."/>
          <p:cNvSpPr txBox="1"/>
          <p:nvPr/>
        </p:nvSpPr>
        <p:spPr>
          <a:xfrm>
            <a:off x="16356200" y="11865277"/>
            <a:ext cx="3756357" cy="555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Im Keller haust eine 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Ratte</a:t>
            </a:r>
            <a:r>
              <a:t>.</a:t>
            </a:r>
          </a:p>
        </p:txBody>
      </p:sp>
      <p:pic>
        <p:nvPicPr>
          <p:cNvPr id="420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421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425" name="Phonologie: Lautlehre"/>
          <p:cNvSpPr txBox="1"/>
          <p:nvPr>
            <p:ph type="body" idx="1"/>
          </p:nvPr>
        </p:nvSpPr>
        <p:spPr>
          <a:xfrm>
            <a:off x="1217711" y="3351530"/>
            <a:ext cx="21948578" cy="8483601"/>
          </a:xfrm>
          <a:prstGeom prst="rect">
            <a:avLst/>
          </a:prstGeom>
        </p:spPr>
        <p:txBody>
          <a:bodyPr/>
          <a:lstStyle>
            <a:lvl1pPr marL="0" indent="0" algn="just" defTabSz="914400">
              <a:lnSpc>
                <a:spcPct val="120000"/>
              </a:lnSpc>
              <a:spcBef>
                <a:spcPts val="0"/>
              </a:spcBef>
              <a:buSzTx/>
              <a:buNone/>
              <a:defRPr b="1" sz="40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Phonologie: Lautlehre</a:t>
            </a:r>
            <a:endParaRPr i="0"/>
          </a:p>
        </p:txBody>
      </p:sp>
      <p:pic>
        <p:nvPicPr>
          <p:cNvPr id="426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427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28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29" name="Bildschirmfoto 2025-04-08 um 06.36.29.png" descr="Bildschirmfoto 2025-04-08 um 06.36.2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56184" y="3922009"/>
            <a:ext cx="12035006" cy="86582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432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34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35" name="Bildschirmfoto 2024-04-10 um 09.28.54.png" descr="Bildschirmfoto 2024-04-10 um 09.28.5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65572" y="2997702"/>
            <a:ext cx="6172896" cy="9259343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" name="Bildschirmfoto 2024-04-10 um 09.29.20.png" descr="Bildschirmfoto 2024-04-10 um 09.29.2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02058" y="2997702"/>
            <a:ext cx="2236967" cy="9259343"/>
          </a:xfrm>
          <a:prstGeom prst="rect">
            <a:avLst/>
          </a:prstGeom>
          <a:ln w="12700">
            <a:miter lim="400000"/>
          </a:ln>
        </p:spPr>
      </p:pic>
      <p:sp>
        <p:nvSpPr>
          <p:cNvPr id="437" name="r[a:]te"/>
          <p:cNvSpPr/>
          <p:nvPr/>
        </p:nvSpPr>
        <p:spPr>
          <a:xfrm>
            <a:off x="10340564" y="10176414"/>
            <a:ext cx="1947874" cy="961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r[a:]te</a:t>
            </a:r>
          </a:p>
        </p:txBody>
      </p:sp>
      <p:sp>
        <p:nvSpPr>
          <p:cNvPr id="438" name="ratte"/>
          <p:cNvSpPr/>
          <p:nvPr/>
        </p:nvSpPr>
        <p:spPr>
          <a:xfrm>
            <a:off x="13038666" y="10176414"/>
            <a:ext cx="1947875" cy="9610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130300">
              <a:lnSpc>
                <a:spcPct val="100000"/>
              </a:lnSpc>
              <a:defRPr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ratte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441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442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43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44" name="Morphologie"/>
          <p:cNvSpPr/>
          <p:nvPr/>
        </p:nvSpPr>
        <p:spPr>
          <a:xfrm>
            <a:off x="14175077" y="9144463"/>
            <a:ext cx="5369810" cy="2438117"/>
          </a:xfrm>
          <a:prstGeom prst="roundRect">
            <a:avLst>
              <a:gd name="adj" fmla="val 15689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6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Morphologie</a:t>
            </a:r>
          </a:p>
        </p:txBody>
      </p:sp>
      <p:sp>
        <p:nvSpPr>
          <p:cNvPr id="445" name="Semantik"/>
          <p:cNvSpPr/>
          <p:nvPr/>
        </p:nvSpPr>
        <p:spPr>
          <a:xfrm>
            <a:off x="10302519" y="3505556"/>
            <a:ext cx="3778962" cy="1429310"/>
          </a:xfrm>
          <a:prstGeom prst="roundRect">
            <a:avLst>
              <a:gd name="adj" fmla="val 18834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Semantik</a:t>
            </a:r>
          </a:p>
        </p:txBody>
      </p:sp>
      <p:sp>
        <p:nvSpPr>
          <p:cNvPr id="446" name="Module der Sprachforschung"/>
          <p:cNvSpPr/>
          <p:nvPr/>
        </p:nvSpPr>
        <p:spPr>
          <a:xfrm>
            <a:off x="1763011" y="6685570"/>
            <a:ext cx="5571217" cy="2580499"/>
          </a:xfrm>
          <a:prstGeom prst="roundRect">
            <a:avLst>
              <a:gd name="adj" fmla="val 15380"/>
            </a:avLst>
          </a:prstGeom>
          <a:solidFill>
            <a:schemeClr val="accent5">
              <a:hueOff val="-65973"/>
              <a:satOff val="18050"/>
              <a:lumOff val="-15912"/>
              <a:alpha val="65405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Module der Sprachforschung</a:t>
            </a:r>
          </a:p>
        </p:txBody>
      </p:sp>
      <p:sp>
        <p:nvSpPr>
          <p:cNvPr id="447" name="Linie"/>
          <p:cNvSpPr/>
          <p:nvPr/>
        </p:nvSpPr>
        <p:spPr>
          <a:xfrm flipV="1">
            <a:off x="7878081" y="6020384"/>
            <a:ext cx="2425096" cy="1675232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48" name="Linie"/>
          <p:cNvSpPr/>
          <p:nvPr/>
        </p:nvSpPr>
        <p:spPr>
          <a:xfrm flipV="1">
            <a:off x="8007047" y="6598896"/>
            <a:ext cx="4825979" cy="1388850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49" name="Linie"/>
          <p:cNvSpPr/>
          <p:nvPr/>
        </p:nvSpPr>
        <p:spPr>
          <a:xfrm flipV="1">
            <a:off x="8062918" y="8142910"/>
            <a:ext cx="6853228" cy="80919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50" name="Linie"/>
          <p:cNvSpPr/>
          <p:nvPr/>
        </p:nvSpPr>
        <p:spPr>
          <a:xfrm>
            <a:off x="8007047" y="8501475"/>
            <a:ext cx="4825979" cy="846097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51" name="Linie"/>
          <p:cNvSpPr/>
          <p:nvPr/>
        </p:nvSpPr>
        <p:spPr>
          <a:xfrm>
            <a:off x="8071605" y="8867592"/>
            <a:ext cx="2425095" cy="1146418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52" name="Pragmatik"/>
          <p:cNvSpPr/>
          <p:nvPr/>
        </p:nvSpPr>
        <p:spPr>
          <a:xfrm>
            <a:off x="14479339" y="4678512"/>
            <a:ext cx="3247420" cy="1701801"/>
          </a:xfrm>
          <a:prstGeom prst="roundRect">
            <a:avLst>
              <a:gd name="adj" fmla="val 14711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Pragmatik</a:t>
            </a:r>
          </a:p>
        </p:txBody>
      </p:sp>
      <p:sp>
        <p:nvSpPr>
          <p:cNvPr id="453" name="Phonologie"/>
          <p:cNvSpPr/>
          <p:nvPr/>
        </p:nvSpPr>
        <p:spPr>
          <a:xfrm>
            <a:off x="16080446" y="7183626"/>
            <a:ext cx="3528634" cy="1584388"/>
          </a:xfrm>
          <a:prstGeom prst="roundRect">
            <a:avLst>
              <a:gd name="adj" fmla="val 15865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Phonologie</a:t>
            </a:r>
          </a:p>
        </p:txBody>
      </p:sp>
      <p:sp>
        <p:nvSpPr>
          <p:cNvPr id="454" name="Syntax"/>
          <p:cNvSpPr/>
          <p:nvPr/>
        </p:nvSpPr>
        <p:spPr>
          <a:xfrm>
            <a:off x="10427683" y="11172564"/>
            <a:ext cx="3528634" cy="1489374"/>
          </a:xfrm>
          <a:prstGeom prst="roundRect">
            <a:avLst>
              <a:gd name="adj" fmla="val 16538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Syntax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457" name="Morphologie: Wortlehre…"/>
          <p:cNvSpPr txBox="1"/>
          <p:nvPr>
            <p:ph type="body" idx="1"/>
          </p:nvPr>
        </p:nvSpPr>
        <p:spPr>
          <a:xfrm>
            <a:off x="1217711" y="3470236"/>
            <a:ext cx="21948578" cy="8483601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Morphologie: Wortlehre</a:t>
            </a:r>
            <a:endParaRPr b="1" i="0"/>
          </a:p>
          <a:p>
            <a:pPr marL="248227" indent="-248227" algn="just" defTabSz="914400">
              <a:lnSpc>
                <a:spcPct val="14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Morphologie untersucht das kognitive Regelwerk, das mögliche von unmöglichen Wortkombinationen unterscheidet.</a:t>
            </a:r>
          </a:p>
        </p:txBody>
      </p:sp>
      <p:sp>
        <p:nvSpPr>
          <p:cNvPr id="458" name="Abgerundetes Rechteck"/>
          <p:cNvSpPr/>
          <p:nvPr/>
        </p:nvSpPr>
        <p:spPr>
          <a:xfrm>
            <a:off x="653767" y="4262871"/>
            <a:ext cx="23076466" cy="1888644"/>
          </a:xfrm>
          <a:prstGeom prst="roundRect">
            <a:avLst>
              <a:gd name="adj" fmla="val 25778"/>
            </a:avLst>
          </a:prstGeom>
          <a:solidFill>
            <a:srgbClr val="D5D5D5">
              <a:alpha val="27961"/>
            </a:srgbClr>
          </a:solidFill>
          <a:ln w="50800">
            <a:solidFill>
              <a:srgbClr val="929292"/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4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459" name="Bildschirmfoto 2023-02-27 um 09.49.24.png" descr="Bildschirmfoto 2023-02-27 um 09.49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79505" y="6241206"/>
            <a:ext cx="12771581" cy="7197544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*Wir isst.…"/>
          <p:cNvSpPr txBox="1"/>
          <p:nvPr/>
        </p:nvSpPr>
        <p:spPr>
          <a:xfrm>
            <a:off x="16497707" y="7579415"/>
            <a:ext cx="6748121" cy="333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20000"/>
              </a:lnSpc>
              <a:defRPr sz="2900"/>
            </a:pPr>
            <a:r>
              <a:t>*Wir </a:t>
            </a:r>
            <a:r>
              <a:rPr i="1"/>
              <a:t>isst</a:t>
            </a:r>
            <a:r>
              <a:t>.</a:t>
            </a:r>
          </a:p>
          <a:p>
            <a:pPr algn="l">
              <a:lnSpc>
                <a:spcPct val="120000"/>
              </a:lnSpc>
              <a:defRPr sz="2900"/>
            </a:pPr>
            <a:r>
              <a:t>*der </a:t>
            </a:r>
            <a:r>
              <a:rPr i="1"/>
              <a:t>grünen</a:t>
            </a:r>
            <a:r>
              <a:t> Traktor</a:t>
            </a:r>
          </a:p>
          <a:p>
            <a:pPr algn="l">
              <a:lnSpc>
                <a:spcPct val="120000"/>
              </a:lnSpc>
              <a:defRPr sz="2900"/>
            </a:pPr>
            <a:r>
              <a:t>*Die drei Könige brachten die </a:t>
            </a:r>
            <a:r>
              <a:rPr i="1"/>
              <a:t>Gebungen</a:t>
            </a:r>
            <a:r>
              <a:t>.</a:t>
            </a:r>
          </a:p>
          <a:p>
            <a:pPr algn="l">
              <a:lnSpc>
                <a:spcPct val="120000"/>
              </a:lnSpc>
              <a:defRPr sz="2900"/>
            </a:pPr>
            <a:r>
              <a:t>*Die Pizza war äußerst </a:t>
            </a:r>
            <a:r>
              <a:rPr i="1"/>
              <a:t>kostbar</a:t>
            </a:r>
            <a:r>
              <a:t>.</a:t>
            </a:r>
          </a:p>
          <a:p>
            <a:pPr algn="l">
              <a:lnSpc>
                <a:spcPct val="120000"/>
              </a:lnSpc>
              <a:defRPr sz="2900"/>
            </a:pPr>
            <a:r>
              <a:t>Sparsam, Sparsamkeit aber *Sparkeit</a:t>
            </a:r>
          </a:p>
        </p:txBody>
      </p:sp>
      <p:pic>
        <p:nvPicPr>
          <p:cNvPr id="461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462" name="Rechteck"/>
          <p:cNvSpPr/>
          <p:nvPr/>
        </p:nvSpPr>
        <p:spPr>
          <a:xfrm>
            <a:off x="366098" y="2521844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63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466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467" name="Rechteck"/>
          <p:cNvSpPr/>
          <p:nvPr/>
        </p:nvSpPr>
        <p:spPr>
          <a:xfrm>
            <a:off x="366098" y="2521844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68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69" name="Bildschirmfoto 2024-04-10 um 09.12.51.png" descr="Bildschirmfoto 2024-04-10 um 09.12.5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39806" y="2972873"/>
            <a:ext cx="5696030" cy="9836606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Bildschirmfoto 2024-04-10 um 09.13.52.png" descr="Bildschirmfoto 2024-04-10 um 09.13.52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948164" y="2972873"/>
            <a:ext cx="5844344" cy="98366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473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76" name="Syntax"/>
          <p:cNvSpPr/>
          <p:nvPr/>
        </p:nvSpPr>
        <p:spPr>
          <a:xfrm>
            <a:off x="8804627" y="10888745"/>
            <a:ext cx="5369810" cy="2438117"/>
          </a:xfrm>
          <a:prstGeom prst="roundRect">
            <a:avLst>
              <a:gd name="adj" fmla="val 15689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6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Syntax</a:t>
            </a:r>
          </a:p>
        </p:txBody>
      </p:sp>
      <p:sp>
        <p:nvSpPr>
          <p:cNvPr id="477" name="Semantik"/>
          <p:cNvSpPr/>
          <p:nvPr/>
        </p:nvSpPr>
        <p:spPr>
          <a:xfrm>
            <a:off x="10302519" y="3505556"/>
            <a:ext cx="3778962" cy="1429310"/>
          </a:xfrm>
          <a:prstGeom prst="roundRect">
            <a:avLst>
              <a:gd name="adj" fmla="val 18834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Semantik</a:t>
            </a:r>
          </a:p>
        </p:txBody>
      </p:sp>
      <p:sp>
        <p:nvSpPr>
          <p:cNvPr id="478" name="Module der Sprachforschung"/>
          <p:cNvSpPr/>
          <p:nvPr/>
        </p:nvSpPr>
        <p:spPr>
          <a:xfrm>
            <a:off x="1763011" y="6685570"/>
            <a:ext cx="5571217" cy="2580499"/>
          </a:xfrm>
          <a:prstGeom prst="roundRect">
            <a:avLst>
              <a:gd name="adj" fmla="val 15380"/>
            </a:avLst>
          </a:prstGeom>
          <a:solidFill>
            <a:schemeClr val="accent5">
              <a:hueOff val="-65973"/>
              <a:satOff val="18050"/>
              <a:lumOff val="-15912"/>
              <a:alpha val="65405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Module der Sprachforschung</a:t>
            </a:r>
          </a:p>
        </p:txBody>
      </p:sp>
      <p:sp>
        <p:nvSpPr>
          <p:cNvPr id="479" name="Linie"/>
          <p:cNvSpPr/>
          <p:nvPr/>
        </p:nvSpPr>
        <p:spPr>
          <a:xfrm flipV="1">
            <a:off x="7878081" y="6020384"/>
            <a:ext cx="2425096" cy="1675232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80" name="Linie"/>
          <p:cNvSpPr/>
          <p:nvPr/>
        </p:nvSpPr>
        <p:spPr>
          <a:xfrm flipV="1">
            <a:off x="8007047" y="6598896"/>
            <a:ext cx="4825979" cy="1388850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81" name="Linie"/>
          <p:cNvSpPr/>
          <p:nvPr/>
        </p:nvSpPr>
        <p:spPr>
          <a:xfrm flipV="1">
            <a:off x="8062918" y="8142910"/>
            <a:ext cx="6853228" cy="80919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82" name="Linie"/>
          <p:cNvSpPr/>
          <p:nvPr/>
        </p:nvSpPr>
        <p:spPr>
          <a:xfrm>
            <a:off x="8007047" y="8501475"/>
            <a:ext cx="4825979" cy="846097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83" name="Linie"/>
          <p:cNvSpPr/>
          <p:nvPr/>
        </p:nvSpPr>
        <p:spPr>
          <a:xfrm>
            <a:off x="8071605" y="8867592"/>
            <a:ext cx="2425095" cy="1146418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84" name="Pragmatik"/>
          <p:cNvSpPr/>
          <p:nvPr/>
        </p:nvSpPr>
        <p:spPr>
          <a:xfrm>
            <a:off x="14479339" y="4678512"/>
            <a:ext cx="3247420" cy="1701801"/>
          </a:xfrm>
          <a:prstGeom prst="roundRect">
            <a:avLst>
              <a:gd name="adj" fmla="val 14711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Pragmatik</a:t>
            </a:r>
          </a:p>
        </p:txBody>
      </p:sp>
      <p:sp>
        <p:nvSpPr>
          <p:cNvPr id="485" name="Phonologie"/>
          <p:cNvSpPr/>
          <p:nvPr/>
        </p:nvSpPr>
        <p:spPr>
          <a:xfrm>
            <a:off x="16080446" y="7183625"/>
            <a:ext cx="3528634" cy="1584389"/>
          </a:xfrm>
          <a:prstGeom prst="roundRect">
            <a:avLst>
              <a:gd name="adj" fmla="val 15865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Phonologie</a:t>
            </a:r>
          </a:p>
        </p:txBody>
      </p:sp>
      <p:sp>
        <p:nvSpPr>
          <p:cNvPr id="486" name="Morphologie"/>
          <p:cNvSpPr/>
          <p:nvPr/>
        </p:nvSpPr>
        <p:spPr>
          <a:xfrm>
            <a:off x="14338732" y="9572160"/>
            <a:ext cx="3528634" cy="1489374"/>
          </a:xfrm>
          <a:prstGeom prst="roundRect">
            <a:avLst>
              <a:gd name="adj" fmla="val 16538"/>
            </a:avLst>
          </a:prstGeom>
          <a:solidFill>
            <a:srgbClr val="D5D5D5"/>
          </a:solidFill>
          <a:ln w="25400">
            <a:solidFill>
              <a:srgbClr val="D5D5D5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92929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Morphologie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Abgerundetes Rechteck"/>
          <p:cNvSpPr/>
          <p:nvPr/>
        </p:nvSpPr>
        <p:spPr>
          <a:xfrm>
            <a:off x="653767" y="4386272"/>
            <a:ext cx="23076466" cy="1888644"/>
          </a:xfrm>
          <a:prstGeom prst="roundRect">
            <a:avLst>
              <a:gd name="adj" fmla="val 25778"/>
            </a:avLst>
          </a:prstGeom>
          <a:solidFill>
            <a:srgbClr val="D5D5D5">
              <a:alpha val="27961"/>
            </a:srgbClr>
          </a:solidFill>
          <a:ln w="50800">
            <a:solidFill>
              <a:srgbClr val="929292"/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4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89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490" name="Syntax: Satzlehre…"/>
          <p:cNvSpPr txBox="1"/>
          <p:nvPr>
            <p:ph type="body" idx="1"/>
          </p:nvPr>
        </p:nvSpPr>
        <p:spPr>
          <a:xfrm>
            <a:off x="1217711" y="3692357"/>
            <a:ext cx="21948578" cy="8483601"/>
          </a:xfrm>
          <a:prstGeom prst="rect">
            <a:avLst/>
          </a:prstGeom>
        </p:spPr>
        <p:txBody>
          <a:bodyPr/>
          <a:lstStyle/>
          <a:p>
            <a:pPr marL="0" indent="0" algn="just" defTabSz="886968">
              <a:lnSpc>
                <a:spcPct val="140000"/>
              </a:lnSpc>
              <a:spcBef>
                <a:spcPts val="0"/>
              </a:spcBef>
              <a:buSzTx/>
              <a:buNone/>
              <a:defRPr i="1" sz="388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Syntax: Satzlehre</a:t>
            </a:r>
            <a:endParaRPr b="1" i="0"/>
          </a:p>
          <a:p>
            <a:pPr marL="0" indent="0" algn="just" defTabSz="886968">
              <a:lnSpc>
                <a:spcPct val="140000"/>
              </a:lnSpc>
              <a:spcBef>
                <a:spcPts val="0"/>
              </a:spcBef>
              <a:buSzTx/>
              <a:buNone/>
              <a:defRPr i="1" sz="3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Syntax untersucht das System, das bestimmt, wie Wörter zu Wortgruppen bzw. Wortgruppen zu Sätzen zusammengefügt werden können.</a:t>
            </a:r>
            <a:endParaRPr i="0"/>
          </a:p>
          <a:p>
            <a:pPr marL="240780" indent="-240780" algn="just" defTabSz="886968">
              <a:lnSpc>
                <a:spcPct val="140000"/>
              </a:lnSpc>
              <a:spcBef>
                <a:spcPts val="0"/>
              </a:spcBef>
              <a:defRPr i="1" sz="3880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240780" indent="-240780" algn="just" defTabSz="886968">
              <a:lnSpc>
                <a:spcPct val="140000"/>
              </a:lnSpc>
              <a:spcBef>
                <a:spcPts val="0"/>
              </a:spcBef>
              <a:defRPr i="1" sz="3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Nominalphrase: </a:t>
            </a:r>
            <a:r>
              <a:t>Der grüne Traktor/ Der große, grüne Traktor/ Der Traktor, der grün ist/ *Grüne der Traktor</a:t>
            </a:r>
          </a:p>
          <a:p>
            <a:pPr marL="240780" indent="-240780" algn="just" defTabSz="886968">
              <a:lnSpc>
                <a:spcPct val="140000"/>
              </a:lnSpc>
              <a:spcBef>
                <a:spcPts val="0"/>
              </a:spcBef>
              <a:defRPr i="1" sz="388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240780" indent="-240780" algn="just" defTabSz="886968">
              <a:lnSpc>
                <a:spcPct val="140000"/>
              </a:lnSpc>
              <a:spcBef>
                <a:spcPts val="0"/>
              </a:spcBef>
              <a:defRPr i="1" sz="3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Mittelfeldvariation: </a:t>
            </a:r>
            <a:endParaRPr i="0"/>
          </a:p>
          <a:p>
            <a:pPr lvl="1" marL="0" indent="443484" algn="just" defTabSz="886968">
              <a:lnSpc>
                <a:spcPct val="140000"/>
              </a:lnSpc>
              <a:spcBef>
                <a:spcPts val="0"/>
              </a:spcBef>
              <a:buSzTx/>
              <a:buNone/>
              <a:defRPr i="1" sz="3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Lisa schickt morgen das Paket an Hans nach Lüneburg. </a:t>
            </a:r>
          </a:p>
          <a:p>
            <a:pPr lvl="1" marL="0" indent="443484" algn="just" defTabSz="886968">
              <a:lnSpc>
                <a:spcPct val="140000"/>
              </a:lnSpc>
              <a:spcBef>
                <a:spcPts val="0"/>
              </a:spcBef>
              <a:buSzTx/>
              <a:buNone/>
              <a:defRPr i="1" sz="3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Lisa schickt das Paket morgen an Hans nach Lüneburg. </a:t>
            </a:r>
          </a:p>
          <a:p>
            <a:pPr lvl="1" marL="0" indent="443484" algn="just" defTabSz="886968">
              <a:lnSpc>
                <a:spcPct val="140000"/>
              </a:lnSpc>
              <a:spcBef>
                <a:spcPts val="0"/>
              </a:spcBef>
              <a:buSzTx/>
              <a:buNone/>
              <a:defRPr i="1" sz="3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Lisa schickt morgen nach Lüneburg das Paket an Hans.</a:t>
            </a:r>
          </a:p>
        </p:txBody>
      </p:sp>
      <p:pic>
        <p:nvPicPr>
          <p:cNvPr id="491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93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Abgerundetes Rechteck"/>
          <p:cNvSpPr/>
          <p:nvPr/>
        </p:nvSpPr>
        <p:spPr>
          <a:xfrm>
            <a:off x="653767" y="4386272"/>
            <a:ext cx="23076466" cy="1888644"/>
          </a:xfrm>
          <a:prstGeom prst="roundRect">
            <a:avLst>
              <a:gd name="adj" fmla="val 25778"/>
            </a:avLst>
          </a:prstGeom>
          <a:solidFill>
            <a:srgbClr val="D5D5D5">
              <a:alpha val="27961"/>
            </a:srgbClr>
          </a:solidFill>
          <a:ln w="50800">
            <a:solidFill>
              <a:srgbClr val="929292"/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4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496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497" name="Syntax: Satzlehre…"/>
          <p:cNvSpPr txBox="1"/>
          <p:nvPr>
            <p:ph type="body" idx="1"/>
          </p:nvPr>
        </p:nvSpPr>
        <p:spPr>
          <a:xfrm>
            <a:off x="1217711" y="3692357"/>
            <a:ext cx="21948578" cy="8483601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Syntax: Satzlehre</a:t>
            </a:r>
            <a:endParaRPr b="1" i="0"/>
          </a:p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Syntax untersucht das System, das bestimmt, wie Wörter zu Wortgruppen bzw. Wortgruppen zu Sätzen zusammengefügt werden können.</a:t>
            </a:r>
            <a:endParaRPr i="0"/>
          </a:p>
          <a:p>
            <a:pPr marL="248227" indent="-248227" algn="just" defTabSz="914400">
              <a:lnSpc>
                <a:spcPct val="14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248227" indent="-248227" algn="just" defTabSz="914400">
              <a:lnSpc>
                <a:spcPct val="14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Vorfeldbesetzung:</a:t>
            </a:r>
          </a:p>
        </p:txBody>
      </p:sp>
      <p:pic>
        <p:nvPicPr>
          <p:cNvPr id="498" name="Bild" descr="Bil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87599" y="8000945"/>
            <a:ext cx="18408802" cy="4822352"/>
          </a:xfrm>
          <a:prstGeom prst="rect">
            <a:avLst/>
          </a:prstGeom>
          <a:ln w="12700">
            <a:miter lim="400000"/>
          </a:ln>
        </p:spPr>
      </p:pic>
      <p:pic>
        <p:nvPicPr>
          <p:cNvPr id="499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500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01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Abgerundetes Rechteck"/>
          <p:cNvSpPr/>
          <p:nvPr/>
        </p:nvSpPr>
        <p:spPr>
          <a:xfrm>
            <a:off x="653767" y="4386272"/>
            <a:ext cx="23076466" cy="1888644"/>
          </a:xfrm>
          <a:prstGeom prst="roundRect">
            <a:avLst>
              <a:gd name="adj" fmla="val 25778"/>
            </a:avLst>
          </a:prstGeom>
          <a:solidFill>
            <a:srgbClr val="D5D5D5">
              <a:alpha val="27961"/>
            </a:srgbClr>
          </a:solidFill>
          <a:ln w="50800">
            <a:solidFill>
              <a:srgbClr val="929292"/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4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04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505" name="Syntax: Satzlehre…"/>
          <p:cNvSpPr txBox="1"/>
          <p:nvPr>
            <p:ph type="body" idx="1"/>
          </p:nvPr>
        </p:nvSpPr>
        <p:spPr>
          <a:xfrm>
            <a:off x="1217711" y="3692357"/>
            <a:ext cx="21948578" cy="8483601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Syntax: Satzlehre</a:t>
            </a:r>
            <a:endParaRPr b="1" i="0"/>
          </a:p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Syntax untersucht das System, das bestimmt, wie Wörter zu Wortgruppen bzw. Wortgruppen zu Sätzen zusammengefügt werden können.</a:t>
            </a:r>
            <a:endParaRPr i="0"/>
          </a:p>
        </p:txBody>
      </p:sp>
      <p:pic>
        <p:nvPicPr>
          <p:cNvPr id="506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507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08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09" name="Bildschirmfoto 2025-04-10 um 08.36.53.png" descr="Bildschirmfoto 2025-04-10 um 08.36.5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90472" y="7289459"/>
            <a:ext cx="18803056" cy="50726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Abgerundetes Rechteck"/>
          <p:cNvSpPr/>
          <p:nvPr/>
        </p:nvSpPr>
        <p:spPr>
          <a:xfrm>
            <a:off x="653767" y="4386272"/>
            <a:ext cx="23076466" cy="1888644"/>
          </a:xfrm>
          <a:prstGeom prst="roundRect">
            <a:avLst>
              <a:gd name="adj" fmla="val 25778"/>
            </a:avLst>
          </a:prstGeom>
          <a:solidFill>
            <a:srgbClr val="D5D5D5">
              <a:alpha val="27961"/>
            </a:srgbClr>
          </a:solidFill>
          <a:ln w="50800">
            <a:solidFill>
              <a:srgbClr val="929292"/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4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12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sp>
        <p:nvSpPr>
          <p:cNvPr id="513" name="Syntax: Satzlehre…"/>
          <p:cNvSpPr txBox="1"/>
          <p:nvPr>
            <p:ph type="body" idx="1"/>
          </p:nvPr>
        </p:nvSpPr>
        <p:spPr>
          <a:xfrm>
            <a:off x="1217711" y="3692357"/>
            <a:ext cx="21948578" cy="8483601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Syntax: Satzlehre</a:t>
            </a:r>
            <a:endParaRPr b="1" i="0"/>
          </a:p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Syntax untersucht das System, das bestimmt, wie Wörter zu Wortgruppen bzw. Wortgruppen zu Sätzen zusammengefügt werden können.</a:t>
            </a:r>
            <a:endParaRPr i="0"/>
          </a:p>
        </p:txBody>
      </p:sp>
      <p:pic>
        <p:nvPicPr>
          <p:cNvPr id="514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515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16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17" name="Bildschirmfoto 2025-04-10 um 08.37.18.png" descr="Bildschirmfoto 2025-04-10 um 08.37.1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11695" y="6688502"/>
            <a:ext cx="13160610" cy="63889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Einführung in die 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Linguistik</a:t>
            </a:r>
          </a:p>
        </p:txBody>
      </p:sp>
      <p:pic>
        <p:nvPicPr>
          <p:cNvPr id="520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521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23" name="Semantik"/>
          <p:cNvSpPr/>
          <p:nvPr/>
        </p:nvSpPr>
        <p:spPr>
          <a:xfrm>
            <a:off x="10102137" y="3477154"/>
            <a:ext cx="4179725" cy="2024029"/>
          </a:xfrm>
          <a:prstGeom prst="roundRect">
            <a:avLst>
              <a:gd name="adj" fmla="val 1471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Semantik</a:t>
            </a:r>
          </a:p>
        </p:txBody>
      </p:sp>
      <p:sp>
        <p:nvSpPr>
          <p:cNvPr id="524" name="Pragmatik"/>
          <p:cNvSpPr/>
          <p:nvPr/>
        </p:nvSpPr>
        <p:spPr>
          <a:xfrm>
            <a:off x="14794140" y="4738363"/>
            <a:ext cx="4179725" cy="2024029"/>
          </a:xfrm>
          <a:prstGeom prst="roundRect">
            <a:avLst>
              <a:gd name="adj" fmla="val 1471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Pragmatik</a:t>
            </a:r>
          </a:p>
        </p:txBody>
      </p:sp>
      <p:sp>
        <p:nvSpPr>
          <p:cNvPr id="525" name="Phonologie"/>
          <p:cNvSpPr/>
          <p:nvPr/>
        </p:nvSpPr>
        <p:spPr>
          <a:xfrm>
            <a:off x="17658120" y="7239134"/>
            <a:ext cx="4179725" cy="2024028"/>
          </a:xfrm>
          <a:prstGeom prst="roundRect">
            <a:avLst>
              <a:gd name="adj" fmla="val 1471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Phonologie</a:t>
            </a:r>
          </a:p>
        </p:txBody>
      </p:sp>
      <p:sp>
        <p:nvSpPr>
          <p:cNvPr id="526" name="Morphologie"/>
          <p:cNvSpPr/>
          <p:nvPr/>
        </p:nvSpPr>
        <p:spPr>
          <a:xfrm>
            <a:off x="14794140" y="10017373"/>
            <a:ext cx="4179725" cy="2024029"/>
          </a:xfrm>
          <a:prstGeom prst="roundRect">
            <a:avLst>
              <a:gd name="adj" fmla="val 1471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Morphologie</a:t>
            </a:r>
          </a:p>
        </p:txBody>
      </p:sp>
      <p:sp>
        <p:nvSpPr>
          <p:cNvPr id="527" name="Syntax"/>
          <p:cNvSpPr/>
          <p:nvPr/>
        </p:nvSpPr>
        <p:spPr>
          <a:xfrm>
            <a:off x="10102137" y="10716514"/>
            <a:ext cx="4179725" cy="2024029"/>
          </a:xfrm>
          <a:prstGeom prst="roundRect">
            <a:avLst>
              <a:gd name="adj" fmla="val 1471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Syntax</a:t>
            </a:r>
          </a:p>
        </p:txBody>
      </p:sp>
      <p:sp>
        <p:nvSpPr>
          <p:cNvPr id="528" name="Module der Sprachforschung"/>
          <p:cNvSpPr/>
          <p:nvPr/>
        </p:nvSpPr>
        <p:spPr>
          <a:xfrm>
            <a:off x="1763011" y="6685570"/>
            <a:ext cx="6260754" cy="3131156"/>
          </a:xfrm>
          <a:prstGeom prst="roundRect">
            <a:avLst>
              <a:gd name="adj" fmla="val 14244"/>
            </a:avLst>
          </a:prstGeom>
          <a:solidFill>
            <a:schemeClr val="accent5">
              <a:hueOff val="-65973"/>
              <a:satOff val="18050"/>
              <a:lumOff val="-15912"/>
              <a:alpha val="65405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52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Module der Sprachforschung</a:t>
            </a:r>
          </a:p>
        </p:txBody>
      </p:sp>
      <p:sp>
        <p:nvSpPr>
          <p:cNvPr id="529" name="Linie"/>
          <p:cNvSpPr/>
          <p:nvPr/>
        </p:nvSpPr>
        <p:spPr>
          <a:xfrm flipV="1">
            <a:off x="9011577" y="6047473"/>
            <a:ext cx="2425097" cy="1675232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0" name="Linie"/>
          <p:cNvSpPr/>
          <p:nvPr/>
        </p:nvSpPr>
        <p:spPr>
          <a:xfrm flipV="1">
            <a:off x="9002312" y="6620758"/>
            <a:ext cx="4825979" cy="1388850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1" name="Linie"/>
          <p:cNvSpPr/>
          <p:nvPr/>
        </p:nvSpPr>
        <p:spPr>
          <a:xfrm flipV="1">
            <a:off x="8993906" y="8210689"/>
            <a:ext cx="6853228" cy="80919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2" name="Linie"/>
          <p:cNvSpPr/>
          <p:nvPr/>
        </p:nvSpPr>
        <p:spPr>
          <a:xfrm>
            <a:off x="9002313" y="8676273"/>
            <a:ext cx="4825979" cy="846097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3" name="Linie"/>
          <p:cNvSpPr/>
          <p:nvPr/>
        </p:nvSpPr>
        <p:spPr>
          <a:xfrm>
            <a:off x="9011578" y="9088763"/>
            <a:ext cx="2425095" cy="1146417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534" name="Bildschirmfoto 2025-04-08 um 06.33.09.png" descr="Bildschirmfoto 2025-04-08 um 06.33.0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202893" y="4518694"/>
            <a:ext cx="1090179" cy="1514774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" name="Bildschirmfoto 2025-04-08 um 06.33.48.png" descr="Bildschirmfoto 2025-04-08 um 06.33.4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470138" y="2675412"/>
            <a:ext cx="1929562" cy="15989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" name="Bildschirmfoto 2025-04-08 um 06.54.10.png" descr="Bildschirmfoto 2025-04-08 um 06.54.10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9167042" y="9513790"/>
            <a:ext cx="1161881" cy="2396793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" name="Bildschirmfoto 2025-04-08 um 06.36.29.png" descr="Bildschirmfoto 2025-04-08 um 06.36.29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1795749" y="6880159"/>
            <a:ext cx="1725165" cy="1241126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" name="Bildschirmfoto 2025-04-10 um 08.37.18.png" descr="Bildschirmfoto 2025-04-10 um 08.37.18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4422059" y="12227975"/>
            <a:ext cx="2025720" cy="9834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Überbli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Überblick</a:t>
            </a:r>
          </a:p>
        </p:txBody>
      </p:sp>
      <p:sp>
        <p:nvSpPr>
          <p:cNvPr id="541" name="Rectangle 2"/>
          <p:cNvSpPr txBox="1"/>
          <p:nvPr/>
        </p:nvSpPr>
        <p:spPr>
          <a:xfrm>
            <a:off x="1371131" y="3725197"/>
            <a:ext cx="17781181" cy="1001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13.30-13.50:</a:t>
            </a:r>
            <a:r>
              <a:rPr b="0"/>
              <a:t> 	</a:t>
            </a:r>
            <a:r>
              <a:rPr b="0" i="0"/>
              <a:t>Ein psycholinguistisches Experiment</a:t>
            </a:r>
            <a:endParaRPr b="0"/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13.50-14.10:</a:t>
            </a:r>
            <a:r>
              <a:rPr b="0" i="0"/>
              <a:t>	        Einführung in die Linguistik</a:t>
            </a:r>
            <a:endParaRPr b="0"/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14.10-14.30: 	</a:t>
            </a:r>
            <a:r>
              <a:rPr b="0" i="0"/>
              <a:t>Einführung in die Psycholinguistik</a:t>
            </a:r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14.30-14.50:</a:t>
            </a:r>
            <a:r>
              <a:rPr b="0" i="0"/>
              <a:t>	        Hintergründe des Experiments</a:t>
            </a: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14.50-15.10: 	</a:t>
            </a:r>
            <a:r>
              <a:rPr b="0" i="0"/>
              <a:t>Auswertung des Experiments</a:t>
            </a: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15.10-15.30: 	</a:t>
            </a:r>
            <a:r>
              <a:rPr b="0" i="0"/>
              <a:t>Simulation mit ChatGPT</a:t>
            </a:r>
            <a:endParaRPr b="0"/>
          </a:p>
          <a:p>
            <a:pPr indent="85725" algn="l" defTabSz="914400">
              <a:lnSpc>
                <a:spcPct val="120000"/>
              </a:lnSpc>
              <a:defRPr i="1"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i="1" sz="4000">
                <a:latin typeface="Calibri"/>
                <a:ea typeface="Calibri"/>
                <a:cs typeface="Calibri"/>
                <a:sym typeface="Calibri"/>
              </a:defRPr>
            </a:pPr>
            <a:r>
              <a:t>15.30-16.00:	       - Abschluss -</a:t>
            </a:r>
          </a:p>
        </p:txBody>
      </p:sp>
      <p:pic>
        <p:nvPicPr>
          <p:cNvPr id="542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543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44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45" name="Abgerundetes Rechteck"/>
          <p:cNvSpPr/>
          <p:nvPr/>
        </p:nvSpPr>
        <p:spPr>
          <a:xfrm>
            <a:off x="1244945" y="6298487"/>
            <a:ext cx="12667495" cy="1119026"/>
          </a:xfrm>
          <a:prstGeom prst="roundRect">
            <a:avLst>
              <a:gd name="adj" fmla="val 17024"/>
            </a:avLst>
          </a:prstGeom>
          <a:solidFill>
            <a:schemeClr val="accent5">
              <a:hueOff val="-65973"/>
              <a:satOff val="18050"/>
              <a:lumOff val="-15912"/>
              <a:alpha val="29666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548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49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550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551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52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53" name="…the scientific discipline that studies how people acquire a language and how they comprehend and produce this language. (Kalbunde, 2001)…"/>
          <p:cNvSpPr txBox="1"/>
          <p:nvPr>
            <p:ph type="body" idx="1"/>
          </p:nvPr>
        </p:nvSpPr>
        <p:spPr>
          <a:xfrm>
            <a:off x="1219199" y="4590394"/>
            <a:ext cx="21945601" cy="7321509"/>
          </a:xfrm>
          <a:prstGeom prst="rect">
            <a:avLst/>
          </a:prstGeom>
        </p:spPr>
        <p:txBody>
          <a:bodyPr lIns="45719" tIns="45719" rIns="45719" bIns="45719"/>
          <a:lstStyle/>
          <a:p>
            <a:pPr marL="0" indent="0" defTabSz="832104">
              <a:lnSpc>
                <a:spcPct val="140000"/>
              </a:lnSpc>
              <a:spcBef>
                <a:spcPts val="900"/>
              </a:spcBef>
              <a:buSzTx/>
              <a:buNone/>
              <a:defRPr sz="364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…the scientific discipline that studies how people </a:t>
            </a:r>
            <a:r>
              <a:rPr b="1"/>
              <a:t>acquire a language</a:t>
            </a:r>
            <a:r>
              <a:t> and how they </a:t>
            </a:r>
            <a:r>
              <a:rPr b="1"/>
              <a:t>comprehend and produce this language</a:t>
            </a:r>
            <a:r>
              <a:t>. (Kalbunde, 2001) </a:t>
            </a:r>
          </a:p>
          <a:p>
            <a:pPr marL="0" indent="0" defTabSz="832104">
              <a:lnSpc>
                <a:spcPct val="140000"/>
              </a:lnSpc>
              <a:spcBef>
                <a:spcPts val="900"/>
              </a:spcBef>
              <a:buSzTx/>
              <a:buNone/>
              <a:defRPr sz="364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832104">
              <a:lnSpc>
                <a:spcPct val="140000"/>
              </a:lnSpc>
              <a:spcBef>
                <a:spcPts val="900"/>
              </a:spcBef>
              <a:buSzTx/>
              <a:buNone/>
              <a:defRPr sz="364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…the discipline that investigates and describes the </a:t>
            </a:r>
            <a:r>
              <a:rPr b="1"/>
              <a:t>psychological processes</a:t>
            </a:r>
            <a:r>
              <a:t> that make it possible for humans to </a:t>
            </a:r>
            <a:r>
              <a:rPr b="1"/>
              <a:t>master and use language</a:t>
            </a:r>
            <a:r>
              <a:t>. (Ratner &amp; Gleason, 2004) </a:t>
            </a:r>
          </a:p>
          <a:p>
            <a:pPr marL="0" indent="0" defTabSz="832104">
              <a:lnSpc>
                <a:spcPct val="140000"/>
              </a:lnSpc>
              <a:spcBef>
                <a:spcPts val="900"/>
              </a:spcBef>
              <a:buSzTx/>
              <a:buNone/>
              <a:defRPr sz="364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832104">
              <a:lnSpc>
                <a:spcPct val="140000"/>
              </a:lnSpc>
              <a:spcBef>
                <a:spcPts val="900"/>
              </a:spcBef>
              <a:buSzTx/>
              <a:buNone/>
              <a:defRPr sz="364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…mainly concerned with the </a:t>
            </a:r>
            <a:r>
              <a:rPr b="1"/>
              <a:t>mechanisms</a:t>
            </a:r>
            <a:r>
              <a:t> by which language is </a:t>
            </a:r>
            <a:r>
              <a:rPr b="1"/>
              <a:t>processed and represented in the mind and brain</a:t>
            </a:r>
            <a:r>
              <a:t>; that is, the </a:t>
            </a:r>
            <a:r>
              <a:rPr b="1"/>
              <a:t>psychological and neurobiological factors</a:t>
            </a:r>
            <a:r>
              <a:t> that enable humans to </a:t>
            </a:r>
            <a:r>
              <a:rPr b="1"/>
              <a:t>acquire, use, comprehend, and produce language</a:t>
            </a:r>
            <a:r>
              <a:t>. (Wikipedia) </a:t>
            </a:r>
          </a:p>
        </p:txBody>
      </p:sp>
      <p:sp>
        <p:nvSpPr>
          <p:cNvPr id="554" name="Psycholinguistics is…"/>
          <p:cNvSpPr txBox="1"/>
          <p:nvPr/>
        </p:nvSpPr>
        <p:spPr>
          <a:xfrm>
            <a:off x="1245064" y="3106335"/>
            <a:ext cx="478576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just" defTabSz="914400">
              <a:lnSpc>
                <a:spcPct val="140000"/>
              </a:lnSpc>
              <a:defRPr b="1" sz="40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Psycholinguistics is…</a:t>
            </a:r>
          </a:p>
        </p:txBody>
      </p:sp>
      <p:sp>
        <p:nvSpPr>
          <p:cNvPr id="555" name="Abgerundetes Rechteck"/>
          <p:cNvSpPr/>
          <p:nvPr/>
        </p:nvSpPr>
        <p:spPr>
          <a:xfrm>
            <a:off x="1079068" y="4366585"/>
            <a:ext cx="22225864" cy="1910829"/>
          </a:xfrm>
          <a:prstGeom prst="roundRect">
            <a:avLst>
              <a:gd name="adj" fmla="val 9969"/>
            </a:avLst>
          </a:prstGeom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56" name="Abgerundetes Rechteck"/>
          <p:cNvSpPr/>
          <p:nvPr/>
        </p:nvSpPr>
        <p:spPr>
          <a:xfrm>
            <a:off x="1079068" y="6839162"/>
            <a:ext cx="22225864" cy="1910830"/>
          </a:xfrm>
          <a:prstGeom prst="roundRect">
            <a:avLst>
              <a:gd name="adj" fmla="val 9969"/>
            </a:avLst>
          </a:prstGeom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57" name="Abgerundetes Rechteck"/>
          <p:cNvSpPr/>
          <p:nvPr/>
        </p:nvSpPr>
        <p:spPr>
          <a:xfrm>
            <a:off x="1079068" y="9507688"/>
            <a:ext cx="22225864" cy="2432076"/>
          </a:xfrm>
          <a:prstGeom prst="roundRect">
            <a:avLst>
              <a:gd name="adj" fmla="val 7833"/>
            </a:avLst>
          </a:prstGeom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560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61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562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563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64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574" name="Inhaltsplatzhalter 2"/>
          <p:cNvGrpSpPr/>
          <p:nvPr/>
        </p:nvGrpSpPr>
        <p:grpSpPr>
          <a:xfrm>
            <a:off x="2325627" y="3545683"/>
            <a:ext cx="19732746" cy="8163382"/>
            <a:chOff x="0" y="0"/>
            <a:chExt cx="19732744" cy="8163380"/>
          </a:xfrm>
        </p:grpSpPr>
        <p:sp>
          <p:nvSpPr>
            <p:cNvPr id="565" name="Abgerundetes Rechteck"/>
            <p:cNvSpPr/>
            <p:nvPr/>
          </p:nvSpPr>
          <p:spPr>
            <a:xfrm>
              <a:off x="0" y="0"/>
              <a:ext cx="19732745" cy="2332394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satOff val="2969"/>
                <a:lumOff val="-11469"/>
                <a:alpha val="58842"/>
              </a:schemeClr>
            </a:solidFill>
            <a:ln w="25400" cap="flat">
              <a:solidFill>
                <a:schemeClr val="accent1">
                  <a:satOff val="2969"/>
                  <a:lumOff val="-11469"/>
                </a:schemeClr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66" name="Quadrat"/>
            <p:cNvSpPr/>
            <p:nvPr/>
          </p:nvSpPr>
          <p:spPr>
            <a:xfrm>
              <a:off x="705549" y="524787"/>
              <a:ext cx="1282817" cy="1282817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67" name="Wie wird sprachliches Wissen erworben?"/>
            <p:cNvSpPr txBox="1"/>
            <p:nvPr/>
          </p:nvSpPr>
          <p:spPr>
            <a:xfrm>
              <a:off x="2693914" y="615705"/>
              <a:ext cx="17038830" cy="11009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1544" tIns="131544" rIns="131544" bIns="131544" numCol="1" anchor="ctr">
              <a:noAutofit/>
            </a:bodyPr>
            <a:lstStyle>
              <a:lvl1pPr algn="l" defTabSz="1111250">
                <a:lnSpc>
                  <a:spcPct val="100000"/>
                </a:lnSpc>
                <a:spcBef>
                  <a:spcPts val="1000"/>
                </a:spcBef>
                <a:defRPr sz="4000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pPr/>
              <a:r>
                <a:t>Wie wird sprachliches Wissen erworben? </a:t>
              </a:r>
            </a:p>
          </p:txBody>
        </p:sp>
        <p:sp>
          <p:nvSpPr>
            <p:cNvPr id="568" name="Abgerundetes Rechteck"/>
            <p:cNvSpPr/>
            <p:nvPr/>
          </p:nvSpPr>
          <p:spPr>
            <a:xfrm>
              <a:off x="0" y="2915494"/>
              <a:ext cx="19732745" cy="2332395"/>
            </a:xfrm>
            <a:prstGeom prst="roundRect">
              <a:avLst>
                <a:gd name="adj" fmla="val 10000"/>
              </a:avLst>
            </a:prstGeom>
            <a:solidFill>
              <a:schemeClr val="accent4">
                <a:hueOff val="-904334"/>
                <a:lumOff val="2953"/>
                <a:alpha val="67468"/>
              </a:schemeClr>
            </a:solidFill>
            <a:ln w="25400" cap="flat">
              <a:solidFill>
                <a:schemeClr val="accent4">
                  <a:hueOff val="-904334"/>
                  <a:lumOff val="2953"/>
                </a:schemeClr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69" name="Quadrat"/>
            <p:cNvSpPr/>
            <p:nvPr/>
          </p:nvSpPr>
          <p:spPr>
            <a:xfrm>
              <a:off x="705549" y="3440282"/>
              <a:ext cx="1282817" cy="1282817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70" name="Was passiert beim Verlust der Sprachfähigkeit?"/>
            <p:cNvSpPr txBox="1"/>
            <p:nvPr/>
          </p:nvSpPr>
          <p:spPr>
            <a:xfrm>
              <a:off x="2693914" y="3531199"/>
              <a:ext cx="17038830" cy="11009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1544" tIns="131544" rIns="131544" bIns="131544" numCol="1" anchor="ctr">
              <a:noAutofit/>
            </a:bodyPr>
            <a:lstStyle>
              <a:lvl1pPr algn="l" defTabSz="1111250">
                <a:lnSpc>
                  <a:spcPct val="100000"/>
                </a:lnSpc>
                <a:spcBef>
                  <a:spcPts val="1000"/>
                </a:spcBef>
                <a:defRPr sz="4000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pPr/>
              <a:r>
                <a:t>Was passiert beim Verlust der Sprachfähigkeit? </a:t>
              </a:r>
            </a:p>
          </p:txBody>
        </p:sp>
        <p:sp>
          <p:nvSpPr>
            <p:cNvPr id="571" name="Abgerundetes Rechteck"/>
            <p:cNvSpPr/>
            <p:nvPr/>
          </p:nvSpPr>
          <p:spPr>
            <a:xfrm>
              <a:off x="0" y="5830987"/>
              <a:ext cx="19732745" cy="2332394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hueOff val="945267"/>
                <a:satOff val="49643"/>
                <a:lumOff val="-19255"/>
                <a:alpha val="6057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72" name="Quadrat"/>
            <p:cNvSpPr/>
            <p:nvPr/>
          </p:nvSpPr>
          <p:spPr>
            <a:xfrm>
              <a:off x="705549" y="6355776"/>
              <a:ext cx="1282817" cy="1282817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73" name="Wie wird sprachliches Wissen verwendet?"/>
            <p:cNvSpPr txBox="1"/>
            <p:nvPr/>
          </p:nvSpPr>
          <p:spPr>
            <a:xfrm>
              <a:off x="2693914" y="6446692"/>
              <a:ext cx="17038830" cy="11009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1544" tIns="131544" rIns="131544" bIns="131544" numCol="1" anchor="ctr">
              <a:noAutofit/>
            </a:bodyPr>
            <a:lstStyle>
              <a:lvl1pPr algn="l" defTabSz="1111250">
                <a:lnSpc>
                  <a:spcPct val="100000"/>
                </a:lnSpc>
                <a:spcBef>
                  <a:spcPts val="1000"/>
                </a:spcBef>
                <a:defRPr sz="4000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pPr/>
              <a:r>
                <a:t>Wie wird sprachliches Wissen verwendet?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577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78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579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580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81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587" name="Inhaltsplatzhalter 2"/>
          <p:cNvGrpSpPr/>
          <p:nvPr/>
        </p:nvGrpSpPr>
        <p:grpSpPr>
          <a:xfrm>
            <a:off x="2436212" y="3545682"/>
            <a:ext cx="19843330" cy="4723100"/>
            <a:chOff x="0" y="0"/>
            <a:chExt cx="19843328" cy="4723099"/>
          </a:xfrm>
        </p:grpSpPr>
        <p:sp>
          <p:nvSpPr>
            <p:cNvPr id="582" name="Quadrat"/>
            <p:cNvSpPr/>
            <p:nvPr/>
          </p:nvSpPr>
          <p:spPr>
            <a:xfrm>
              <a:off x="594964" y="524788"/>
              <a:ext cx="1282817" cy="1282817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83" name="Quadrat"/>
            <p:cNvSpPr/>
            <p:nvPr/>
          </p:nvSpPr>
          <p:spPr>
            <a:xfrm>
              <a:off x="594964" y="3440283"/>
              <a:ext cx="1282817" cy="1282817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84" name="Abgerundetes Rechteck"/>
            <p:cNvSpPr/>
            <p:nvPr/>
          </p:nvSpPr>
          <p:spPr>
            <a:xfrm>
              <a:off x="0" y="0"/>
              <a:ext cx="19732745" cy="2332394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hueOff val="945267"/>
                <a:satOff val="49643"/>
                <a:lumOff val="-19255"/>
                <a:alpha val="6057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85" name="Quadrat"/>
            <p:cNvSpPr/>
            <p:nvPr/>
          </p:nvSpPr>
          <p:spPr>
            <a:xfrm>
              <a:off x="594964" y="524788"/>
              <a:ext cx="1282817" cy="1282817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86" name="Wie wird sprachliches Wissen verwendet?"/>
            <p:cNvSpPr txBox="1"/>
            <p:nvPr/>
          </p:nvSpPr>
          <p:spPr>
            <a:xfrm>
              <a:off x="2804499" y="615705"/>
              <a:ext cx="17038830" cy="11009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1544" tIns="131544" rIns="131544" bIns="131544" numCol="1" anchor="ctr">
              <a:noAutofit/>
            </a:bodyPr>
            <a:lstStyle>
              <a:lvl1pPr algn="l" defTabSz="1111250">
                <a:lnSpc>
                  <a:spcPct val="100000"/>
                </a:lnSpc>
                <a:spcBef>
                  <a:spcPts val="1000"/>
                </a:spcBef>
                <a:defRPr sz="4000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pPr/>
              <a:r>
                <a:t>Wie wird sprachliches Wissen verwendet? </a:t>
              </a:r>
            </a:p>
          </p:txBody>
        </p:sp>
      </p:grpSp>
      <p:sp>
        <p:nvSpPr>
          <p:cNvPr id="588" name="Sprachproduktion"/>
          <p:cNvSpPr/>
          <p:nvPr/>
        </p:nvSpPr>
        <p:spPr>
          <a:xfrm>
            <a:off x="4932287" y="8333915"/>
            <a:ext cx="4849390" cy="1701801"/>
          </a:xfrm>
          <a:prstGeom prst="roundRect">
            <a:avLst>
              <a:gd name="adj" fmla="val 19799"/>
            </a:avLst>
          </a:prstGeom>
          <a:solidFill>
            <a:srgbClr val="379139">
              <a:alpha val="47134"/>
            </a:srgbClr>
          </a:solidFill>
          <a:ln w="25400">
            <a:solidFill>
              <a:schemeClr val="accent3">
                <a:hueOff val="945267"/>
                <a:satOff val="49643"/>
                <a:lumOff val="-1925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1C4211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Sprachproduktion</a:t>
            </a:r>
          </a:p>
        </p:txBody>
      </p:sp>
      <p:sp>
        <p:nvSpPr>
          <p:cNvPr id="589" name="Sprachrezeption"/>
          <p:cNvSpPr/>
          <p:nvPr/>
        </p:nvSpPr>
        <p:spPr>
          <a:xfrm>
            <a:off x="14127260" y="8333915"/>
            <a:ext cx="4849390" cy="1701801"/>
          </a:xfrm>
          <a:prstGeom prst="roundRect">
            <a:avLst>
              <a:gd name="adj" fmla="val 19799"/>
            </a:avLst>
          </a:prstGeom>
          <a:solidFill>
            <a:srgbClr val="379139">
              <a:alpha val="47134"/>
            </a:srgbClr>
          </a:solidFill>
          <a:ln w="25400">
            <a:solidFill>
              <a:schemeClr val="accent3">
                <a:hueOff val="945267"/>
                <a:satOff val="49643"/>
                <a:lumOff val="-1925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4000">
                <a:solidFill>
                  <a:srgbClr val="1C4211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Sprachrezeption</a:t>
            </a:r>
          </a:p>
        </p:txBody>
      </p:sp>
      <p:sp>
        <p:nvSpPr>
          <p:cNvPr id="590" name="Linie"/>
          <p:cNvSpPr/>
          <p:nvPr/>
        </p:nvSpPr>
        <p:spPr>
          <a:xfrm flipV="1">
            <a:off x="9865647" y="6184946"/>
            <a:ext cx="1993481" cy="1678600"/>
          </a:xfrm>
          <a:prstGeom prst="line">
            <a:avLst/>
          </a:prstGeom>
          <a:ln w="63500">
            <a:solidFill>
              <a:schemeClr val="accent3">
                <a:hueOff val="263036"/>
                <a:satOff val="49643"/>
                <a:lumOff val="-2595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91" name="Linie"/>
          <p:cNvSpPr/>
          <p:nvPr/>
        </p:nvSpPr>
        <p:spPr>
          <a:xfrm flipH="1" flipV="1">
            <a:off x="12049377" y="6184946"/>
            <a:ext cx="2030091" cy="1678600"/>
          </a:xfrm>
          <a:prstGeom prst="line">
            <a:avLst/>
          </a:prstGeom>
          <a:ln w="63500">
            <a:solidFill>
              <a:schemeClr val="accent3">
                <a:hueOff val="263036"/>
                <a:satOff val="49643"/>
                <a:lumOff val="-2595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594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95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596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597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598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604" name="Inhaltsplatzhalter 2"/>
          <p:cNvGrpSpPr/>
          <p:nvPr/>
        </p:nvGrpSpPr>
        <p:grpSpPr>
          <a:xfrm>
            <a:off x="2436212" y="3545682"/>
            <a:ext cx="19843330" cy="4723100"/>
            <a:chOff x="0" y="0"/>
            <a:chExt cx="19843328" cy="4723099"/>
          </a:xfrm>
        </p:grpSpPr>
        <p:sp>
          <p:nvSpPr>
            <p:cNvPr id="599" name="Quadrat"/>
            <p:cNvSpPr/>
            <p:nvPr/>
          </p:nvSpPr>
          <p:spPr>
            <a:xfrm>
              <a:off x="594964" y="524788"/>
              <a:ext cx="1282817" cy="1282817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00" name="Quadrat"/>
            <p:cNvSpPr/>
            <p:nvPr/>
          </p:nvSpPr>
          <p:spPr>
            <a:xfrm>
              <a:off x="594964" y="3440283"/>
              <a:ext cx="1282817" cy="1282817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01" name="Abgerundetes Rechteck"/>
            <p:cNvSpPr/>
            <p:nvPr/>
          </p:nvSpPr>
          <p:spPr>
            <a:xfrm>
              <a:off x="0" y="0"/>
              <a:ext cx="19732745" cy="2332394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hueOff val="945267"/>
                <a:satOff val="49643"/>
                <a:lumOff val="-19255"/>
                <a:alpha val="6057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02" name="Quadrat"/>
            <p:cNvSpPr/>
            <p:nvPr/>
          </p:nvSpPr>
          <p:spPr>
            <a:xfrm>
              <a:off x="594964" y="524788"/>
              <a:ext cx="1282817" cy="1282817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914400">
                <a:lnSpc>
                  <a:spcPct val="100000"/>
                </a:lnSpc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03" name="Wie wird sprachliches Wissen verwendet?"/>
            <p:cNvSpPr txBox="1"/>
            <p:nvPr/>
          </p:nvSpPr>
          <p:spPr>
            <a:xfrm>
              <a:off x="2804499" y="615705"/>
              <a:ext cx="17038830" cy="11009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31544" tIns="131544" rIns="131544" bIns="131544" numCol="1" anchor="ctr">
              <a:noAutofit/>
            </a:bodyPr>
            <a:lstStyle>
              <a:lvl1pPr algn="l" defTabSz="1111250">
                <a:lnSpc>
                  <a:spcPct val="100000"/>
                </a:lnSpc>
                <a:spcBef>
                  <a:spcPts val="1000"/>
                </a:spcBef>
                <a:defRPr sz="4000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pPr/>
              <a:r>
                <a:t>Wie wird sprachliches Wissen verwendet? </a:t>
              </a:r>
            </a:p>
          </p:txBody>
        </p:sp>
      </p:grpSp>
      <p:sp>
        <p:nvSpPr>
          <p:cNvPr id="605" name="Leitsatz der Kognitionswissenschaft:…"/>
          <p:cNvSpPr txBox="1"/>
          <p:nvPr>
            <p:ph type="body" sz="half" idx="1"/>
          </p:nvPr>
        </p:nvSpPr>
        <p:spPr>
          <a:xfrm>
            <a:off x="2577507" y="6318752"/>
            <a:ext cx="19560739" cy="5938741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Leitsatz der Kognitionswissenschaft:</a:t>
            </a:r>
            <a:endParaRPr i="0"/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Kognition = Repräsentation </a:t>
            </a:r>
            <a:r>
              <a:rPr i="0"/>
              <a:t>(mentale Inhalte) </a:t>
            </a:r>
            <a:r>
              <a:rPr b="1" i="0"/>
              <a:t>+ Prozess </a:t>
            </a:r>
            <a:r>
              <a:rPr i="0"/>
              <a:t>(Vorgänge, die mit ihnen arbeiten)</a:t>
            </a:r>
            <a:endParaRPr b="1" i="0"/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b="1" i="0"/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In der Psycholinguistik:</a:t>
            </a:r>
            <a:endParaRPr b="1" i="0"/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Repräsentation = </a:t>
            </a:r>
            <a:r>
              <a:rPr i="0"/>
              <a:t>Wörter im mentalen Lexikon, grammatische Strukturen, Bedeutungen</a:t>
            </a:r>
            <a:endParaRPr i="0"/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Prozess =</a:t>
            </a:r>
            <a:r>
              <a:rPr i="0"/>
              <a:t> Sprachverstehen, Sprachproduktion, Worterkennung, Satzverarbeitung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608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09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610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611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12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613" name="Bildschirmfoto 2025-04-10 um 07.57.58.png" descr="Bildschirmfoto 2025-04-10 um 07.57.5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39536" y="3045232"/>
            <a:ext cx="9704928" cy="90961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616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17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618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619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20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21" name="Unser Gehirn:…"/>
          <p:cNvSpPr txBox="1"/>
          <p:nvPr>
            <p:ph type="body" idx="1"/>
          </p:nvPr>
        </p:nvSpPr>
        <p:spPr>
          <a:xfrm>
            <a:off x="1217711" y="3692357"/>
            <a:ext cx="21948578" cy="8483601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Unser Gehirn:</a:t>
            </a:r>
            <a:endParaRPr b="1" i="0"/>
          </a:p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endParaRPr b="1" i="0"/>
          </a:p>
          <a:p>
            <a:pPr marL="228600" indent="-228600" defTabSz="914400">
              <a:lnSpc>
                <a:spcPct val="140000"/>
              </a:lnSpc>
              <a:spcBef>
                <a:spcPts val="1000"/>
              </a:spcBef>
              <a:buSzPct val="100000"/>
              <a:buFont typeface="Arial"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Memory (beinhaltet Wernicke Areal)</a:t>
            </a:r>
          </a:p>
          <a:p>
            <a:pPr marL="228600" indent="-228600" defTabSz="914400">
              <a:lnSpc>
                <a:spcPct val="140000"/>
              </a:lnSpc>
              <a:spcBef>
                <a:spcPts val="1000"/>
              </a:spcBef>
              <a:buSzPct val="100000"/>
              <a:buFont typeface="Arial"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Unification (beinhaltet Broca Areal)</a:t>
            </a:r>
          </a:p>
          <a:p>
            <a:pPr marL="228600" indent="-228600" defTabSz="914400">
              <a:lnSpc>
                <a:spcPct val="140000"/>
              </a:lnSpc>
              <a:spcBef>
                <a:spcPts val="1000"/>
              </a:spcBef>
              <a:buSzPct val="100000"/>
              <a:buFont typeface="Arial"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Control (beinhaltet weitere Teile des Frontallappens)</a:t>
            </a:r>
          </a:p>
        </p:txBody>
      </p:sp>
      <p:pic>
        <p:nvPicPr>
          <p:cNvPr id="622" name="Bildschirmfoto 2025-04-10 um 07.59.12.png" descr="Bildschirmfoto 2025-04-10 um 07.59.1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217696" y="3816106"/>
            <a:ext cx="8940737" cy="6451882"/>
          </a:xfrm>
          <a:prstGeom prst="rect">
            <a:avLst/>
          </a:prstGeom>
          <a:ln w="12700">
            <a:miter lim="400000"/>
          </a:ln>
        </p:spPr>
      </p:pic>
      <p:sp>
        <p:nvSpPr>
          <p:cNvPr id="623" name="The MUC model (Hagoort, 2005)"/>
          <p:cNvSpPr txBox="1"/>
          <p:nvPr/>
        </p:nvSpPr>
        <p:spPr>
          <a:xfrm>
            <a:off x="14624896" y="10607590"/>
            <a:ext cx="612633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914400">
              <a:lnSpc>
                <a:spcPct val="140000"/>
              </a:lnSpc>
              <a:spcBef>
                <a:spcPts val="1000"/>
              </a:spcBef>
              <a:defRPr sz="3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The MUC model (Hagoort, 2005)</a:t>
            </a:r>
          </a:p>
        </p:txBody>
      </p:sp>
      <p:sp>
        <p:nvSpPr>
          <p:cNvPr id="624" name="Abgerundetes Rechteck"/>
          <p:cNvSpPr/>
          <p:nvPr/>
        </p:nvSpPr>
        <p:spPr>
          <a:xfrm>
            <a:off x="1081546" y="6410377"/>
            <a:ext cx="9120362" cy="793646"/>
          </a:xfrm>
          <a:prstGeom prst="roundRect">
            <a:avLst>
              <a:gd name="adj" fmla="val 13583"/>
            </a:avLst>
          </a:prstGeom>
          <a:ln w="63500">
            <a:solidFill>
              <a:schemeClr val="accent4"/>
            </a:solidFill>
            <a:miter lim="400000"/>
          </a:ln>
        </p:spPr>
        <p:txBody>
          <a:bodyPr lIns="45719" rIns="45719"/>
          <a:lstStyle/>
          <a:p>
            <a:pPr algn="l" defTabSz="914400">
              <a:lnSpc>
                <a:spcPct val="100000"/>
              </a:lnSpc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5" name="Abgerundetes Rechteck"/>
          <p:cNvSpPr/>
          <p:nvPr/>
        </p:nvSpPr>
        <p:spPr>
          <a:xfrm>
            <a:off x="1081546" y="7339119"/>
            <a:ext cx="9120362" cy="793645"/>
          </a:xfrm>
          <a:prstGeom prst="roundRect">
            <a:avLst>
              <a:gd name="adj" fmla="val 13583"/>
            </a:avLst>
          </a:prstGeom>
          <a:ln w="63500">
            <a:solidFill>
              <a:schemeClr val="accent1">
                <a:satOff val="2969"/>
                <a:lumOff val="-11469"/>
              </a:schemeClr>
            </a:solidFill>
            <a:miter lim="400000"/>
          </a:ln>
        </p:spPr>
        <p:txBody>
          <a:bodyPr lIns="45719" rIns="45719"/>
          <a:lstStyle/>
          <a:p>
            <a:pPr algn="l" defTabSz="914400">
              <a:lnSpc>
                <a:spcPct val="100000"/>
              </a:lnSpc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6" name="Abgerundetes Rechteck"/>
          <p:cNvSpPr/>
          <p:nvPr/>
        </p:nvSpPr>
        <p:spPr>
          <a:xfrm>
            <a:off x="1081546" y="8312189"/>
            <a:ext cx="11205927" cy="793646"/>
          </a:xfrm>
          <a:prstGeom prst="roundRect">
            <a:avLst>
              <a:gd name="adj" fmla="val 13583"/>
            </a:avLst>
          </a:prstGeom>
          <a:ln w="63500">
            <a:solidFill>
              <a:schemeClr val="accent5">
                <a:hueOff val="187634"/>
                <a:satOff val="22839"/>
                <a:lumOff val="25028"/>
              </a:schemeClr>
            </a:solidFill>
            <a:miter lim="400000"/>
          </a:ln>
        </p:spPr>
        <p:txBody>
          <a:bodyPr lIns="45719" rIns="45719"/>
          <a:lstStyle/>
          <a:p>
            <a:pPr algn="l" defTabSz="914400">
              <a:lnSpc>
                <a:spcPct val="100000"/>
              </a:lnSpc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7" name="Linie"/>
          <p:cNvSpPr/>
          <p:nvPr/>
        </p:nvSpPr>
        <p:spPr>
          <a:xfrm flipV="1">
            <a:off x="12412067" y="7096542"/>
            <a:ext cx="2425096" cy="1675232"/>
          </a:xfrm>
          <a:prstGeom prst="line">
            <a:avLst/>
          </a:prstGeom>
          <a:ln w="63500">
            <a:solidFill>
              <a:schemeClr val="accent5">
                <a:hueOff val="187634"/>
                <a:satOff val="22839"/>
                <a:lumOff val="2502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28" name="Linie"/>
          <p:cNvSpPr/>
          <p:nvPr/>
        </p:nvSpPr>
        <p:spPr>
          <a:xfrm>
            <a:off x="10513129" y="7695615"/>
            <a:ext cx="5126870" cy="381162"/>
          </a:xfrm>
          <a:prstGeom prst="line">
            <a:avLst/>
          </a:prstGeom>
          <a:ln w="63500">
            <a:solidFill>
              <a:schemeClr val="accent1">
                <a:satOff val="2969"/>
                <a:lumOff val="-1146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29" name="Linie"/>
          <p:cNvSpPr/>
          <p:nvPr/>
        </p:nvSpPr>
        <p:spPr>
          <a:xfrm>
            <a:off x="10513129" y="6851465"/>
            <a:ext cx="7512547" cy="1768953"/>
          </a:xfrm>
          <a:prstGeom prst="line">
            <a:avLst/>
          </a:prstGeom>
          <a:ln w="63500">
            <a:solidFill>
              <a:schemeClr val="accent4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632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33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634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36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7" name="Sprachverstehen:…"/>
          <p:cNvSpPr txBox="1"/>
          <p:nvPr>
            <p:ph type="body" idx="1"/>
          </p:nvPr>
        </p:nvSpPr>
        <p:spPr>
          <a:xfrm>
            <a:off x="1217711" y="3692357"/>
            <a:ext cx="20621234" cy="8268587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Sprachverstehen:</a:t>
            </a:r>
            <a:endParaRPr i="0"/>
          </a:p>
          <a:p>
            <a:pPr marL="496454" indent="-496454" algn="just" defTabSz="914400">
              <a:lnSpc>
                <a:spcPct val="14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Wie läuft die Verarbeitung von sprachlichem Input ab?</a:t>
            </a:r>
            <a:endParaRPr i="0"/>
          </a:p>
          <a:p>
            <a:pPr marL="496454" indent="-496454" algn="just" defTabSz="914400">
              <a:lnSpc>
                <a:spcPct val="14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496454" indent="-496454" algn="just" defTabSz="914400">
              <a:lnSpc>
                <a:spcPct val="14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0" indent="0" algn="ctr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defendant examined by the lawyer turned out to be unreliable.</a:t>
            </a:r>
          </a:p>
        </p:txBody>
      </p:sp>
      <p:sp>
        <p:nvSpPr>
          <p:cNvPr id="638" name="Abgerundetes Rechteck"/>
          <p:cNvSpPr/>
          <p:nvPr/>
        </p:nvSpPr>
        <p:spPr>
          <a:xfrm>
            <a:off x="1089457" y="3551112"/>
            <a:ext cx="4413962" cy="1024360"/>
          </a:xfrm>
          <a:prstGeom prst="roundRect">
            <a:avLst>
              <a:gd name="adj" fmla="val 29939"/>
            </a:avLst>
          </a:prstGeom>
          <a:solidFill>
            <a:srgbClr val="379139">
              <a:alpha val="47134"/>
            </a:srgbClr>
          </a:solidFill>
          <a:ln w="25400">
            <a:solidFill>
              <a:schemeClr val="accent3">
                <a:hueOff val="945267"/>
                <a:satOff val="49643"/>
                <a:lumOff val="-1925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i="1" sz="4000">
                <a:solidFill>
                  <a:srgbClr val="1C421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641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42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643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644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45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46" name="Sprachverstehen:…"/>
          <p:cNvSpPr txBox="1"/>
          <p:nvPr>
            <p:ph type="body" idx="1"/>
          </p:nvPr>
        </p:nvSpPr>
        <p:spPr>
          <a:xfrm>
            <a:off x="1217711" y="3692357"/>
            <a:ext cx="20621234" cy="8268587"/>
          </a:xfrm>
          <a:prstGeom prst="rect">
            <a:avLst/>
          </a:prstGeom>
        </p:spPr>
        <p:txBody>
          <a:bodyPr/>
          <a:lstStyle/>
          <a:p>
            <a:pPr marL="0" indent="0" algn="just" defTabSz="859536">
              <a:lnSpc>
                <a:spcPct val="140000"/>
              </a:lnSpc>
              <a:spcBef>
                <a:spcPts val="0"/>
              </a:spcBef>
              <a:buSzTx/>
              <a:buNone/>
              <a:defRPr i="1" sz="3759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Sprachverstehen:</a:t>
            </a:r>
            <a:endParaRPr i="0"/>
          </a:p>
          <a:p>
            <a:pPr marL="466667" indent="-466667" algn="just" defTabSz="859536">
              <a:lnSpc>
                <a:spcPct val="140000"/>
              </a:lnSpc>
              <a:spcBef>
                <a:spcPts val="0"/>
              </a:spcBef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466667" indent="-466667" algn="just" defTabSz="859536">
              <a:lnSpc>
                <a:spcPct val="140000"/>
              </a:lnSpc>
              <a:spcBef>
                <a:spcPts val="0"/>
              </a:spcBef>
              <a:defRPr i="1" sz="3759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0" indent="0" algn="ctr" defTabSz="859536">
              <a:lnSpc>
                <a:spcPct val="140000"/>
              </a:lnSpc>
              <a:spcBef>
                <a:spcPts val="0"/>
              </a:spcBef>
              <a:buSzTx/>
              <a:buNone/>
              <a:defRPr i="1" sz="4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defendant examined by the lawyer turned out to be unreliable.</a:t>
            </a:r>
          </a:p>
          <a:p>
            <a:pPr marL="0" indent="0" algn="ctr" defTabSz="859536">
              <a:lnSpc>
                <a:spcPct val="140000"/>
              </a:lnSpc>
              <a:spcBef>
                <a:spcPts val="0"/>
              </a:spcBef>
              <a:buSzTx/>
              <a:buNone/>
              <a:defRPr i="1" sz="4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algn="ctr" defTabSz="859536">
              <a:lnSpc>
                <a:spcPct val="140000"/>
              </a:lnSpc>
              <a:spcBef>
                <a:spcPts val="0"/>
              </a:spcBef>
              <a:buSzTx/>
              <a:buNone/>
              <a:defRPr i="1" sz="4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</a:t>
            </a:r>
            <a:r>
              <a:rPr b="1"/>
              <a:t>defendant examined</a:t>
            </a:r>
            <a:r>
              <a:t>…</a:t>
            </a:r>
          </a:p>
          <a:p>
            <a:pPr marL="0" indent="0" algn="ctr" defTabSz="859536">
              <a:lnSpc>
                <a:spcPct val="140000"/>
              </a:lnSpc>
              <a:spcBef>
                <a:spcPts val="0"/>
              </a:spcBef>
              <a:buSzTx/>
              <a:buNone/>
              <a:defRPr i="1" sz="4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defendant, </a:t>
            </a:r>
            <a:r>
              <a:rPr b="1"/>
              <a:t>examined by the lawyer</a:t>
            </a:r>
            <a:r>
              <a:t>, …</a:t>
            </a:r>
          </a:p>
          <a:p>
            <a:pPr marL="0" indent="0" algn="ctr" defTabSz="859536">
              <a:lnSpc>
                <a:spcPct val="140000"/>
              </a:lnSpc>
              <a:spcBef>
                <a:spcPts val="0"/>
              </a:spcBef>
              <a:buSzTx/>
              <a:buNone/>
              <a:defRPr i="1" sz="4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(Der Angeklagte, vernommen durch den Anwalt, erwies sich als unzuverlässig)</a:t>
            </a:r>
          </a:p>
        </p:txBody>
      </p:sp>
      <p:sp>
        <p:nvSpPr>
          <p:cNvPr id="647" name="Abgerundetes Rechteck"/>
          <p:cNvSpPr/>
          <p:nvPr/>
        </p:nvSpPr>
        <p:spPr>
          <a:xfrm>
            <a:off x="1089457" y="3551112"/>
            <a:ext cx="4413962" cy="1024360"/>
          </a:xfrm>
          <a:prstGeom prst="roundRect">
            <a:avLst>
              <a:gd name="adj" fmla="val 29939"/>
            </a:avLst>
          </a:prstGeom>
          <a:solidFill>
            <a:srgbClr val="379139">
              <a:alpha val="47134"/>
            </a:srgbClr>
          </a:solidFill>
          <a:ln w="25400">
            <a:solidFill>
              <a:schemeClr val="accent3">
                <a:hueOff val="945267"/>
                <a:satOff val="49643"/>
                <a:lumOff val="-1925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i="1" sz="4000">
                <a:solidFill>
                  <a:srgbClr val="1C421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650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51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652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653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54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55" name="Sprachverstehen:…"/>
          <p:cNvSpPr txBox="1"/>
          <p:nvPr>
            <p:ph type="body" sz="quarter" idx="1"/>
          </p:nvPr>
        </p:nvSpPr>
        <p:spPr>
          <a:xfrm>
            <a:off x="1217711" y="3692357"/>
            <a:ext cx="7048973" cy="8749588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Sprachverstehen:</a:t>
            </a:r>
            <a:endParaRPr b="1" i="0"/>
          </a:p>
          <a:p>
            <a:pPr marL="496454" indent="-496454" algn="just" defTabSz="914400">
              <a:lnSpc>
                <a:spcPct val="14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Wie läuft sprachliche Verarbeitung von Input ab?</a:t>
            </a:r>
            <a:endParaRPr i="0"/>
          </a:p>
          <a:p>
            <a:pPr marL="496454" indent="-496454" algn="just" defTabSz="914400">
              <a:lnSpc>
                <a:spcPct val="14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defendant examined by the lawyer turned out to be unreliable.</a:t>
            </a:r>
          </a:p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496454" indent="-496454" algn="just" defTabSz="914400">
              <a:lnSpc>
                <a:spcPct val="14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496454" indent="-496454" algn="just" defTabSz="914400">
              <a:lnSpc>
                <a:spcPct val="140000"/>
              </a:lnSpc>
              <a:spcBef>
                <a:spcPts val="0"/>
              </a:spcBef>
              <a:defRPr i="1"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-&gt; Garden-Path Effect</a:t>
            </a:r>
          </a:p>
        </p:txBody>
      </p:sp>
      <p:pic>
        <p:nvPicPr>
          <p:cNvPr id="656" name="Bildschirmfoto 2025-04-10 um 08.08.56.png" descr="Bildschirmfoto 2025-04-10 um 08.08.5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747872" y="3621651"/>
            <a:ext cx="14341665" cy="9258994"/>
          </a:xfrm>
          <a:prstGeom prst="rect">
            <a:avLst/>
          </a:prstGeom>
          <a:ln w="12700">
            <a:miter lim="400000"/>
          </a:ln>
        </p:spPr>
      </p:pic>
      <p:sp>
        <p:nvSpPr>
          <p:cNvPr id="657" name="Abgerundetes Rechteck"/>
          <p:cNvSpPr/>
          <p:nvPr/>
        </p:nvSpPr>
        <p:spPr>
          <a:xfrm>
            <a:off x="1089457" y="3551112"/>
            <a:ext cx="4413962" cy="1024360"/>
          </a:xfrm>
          <a:prstGeom prst="roundRect">
            <a:avLst>
              <a:gd name="adj" fmla="val 29939"/>
            </a:avLst>
          </a:prstGeom>
          <a:solidFill>
            <a:srgbClr val="379139">
              <a:alpha val="47134"/>
            </a:srgbClr>
          </a:solidFill>
          <a:ln w="25400">
            <a:solidFill>
              <a:schemeClr val="accent3">
                <a:hueOff val="945267"/>
                <a:satOff val="49643"/>
                <a:lumOff val="-1925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i="1" sz="4000">
                <a:solidFill>
                  <a:srgbClr val="1C421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660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61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662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663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64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65" name="Sprachproduktion:…"/>
          <p:cNvSpPr txBox="1"/>
          <p:nvPr>
            <p:ph type="body" idx="1"/>
          </p:nvPr>
        </p:nvSpPr>
        <p:spPr>
          <a:xfrm>
            <a:off x="1217711" y="3692357"/>
            <a:ext cx="21948578" cy="8483601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Sprachproduktion:</a:t>
            </a:r>
            <a:endParaRPr b="1" i="0"/>
          </a:p>
          <a:p>
            <a:pPr marL="228600" indent="-228600" defTabSz="914400">
              <a:lnSpc>
                <a:spcPct val="140000"/>
              </a:lnSpc>
              <a:spcBef>
                <a:spcPts val="1000"/>
              </a:spcBef>
              <a:buSzPct val="100000"/>
              <a:buFont typeface="Arial"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Wortproduktion:</a:t>
            </a:r>
          </a:p>
          <a:p>
            <a:pPr lvl="2" marL="1143000" indent="-228600" defTabSz="914400">
              <a:lnSpc>
                <a:spcPct val="140000"/>
              </a:lnSpc>
              <a:spcBef>
                <a:spcPts val="1000"/>
              </a:spcBef>
              <a:buSzPct val="100000"/>
              <a:buFont typeface="Arial"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Wie sind Wörter im </a:t>
            </a:r>
            <a:r>
              <a:rPr b="1"/>
              <a:t>mentalen Lexikon</a:t>
            </a:r>
            <a:r>
              <a:t> repräsentiert und was passiert, während ich auf einen „Eintrag“ zugreife und diesen später </a:t>
            </a:r>
            <a:r>
              <a:rPr b="1"/>
              <a:t>artikuliere</a:t>
            </a:r>
            <a:r>
              <a:t>?</a:t>
            </a:r>
          </a:p>
          <a:p>
            <a:pPr lvl="2" marL="1143000" indent="-228600" defTabSz="914400">
              <a:lnSpc>
                <a:spcPct val="140000"/>
              </a:lnSpc>
              <a:spcBef>
                <a:spcPts val="1000"/>
              </a:spcBef>
              <a:buSzPct val="100000"/>
              <a:buFont typeface="Arial"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228600" indent="-228600" defTabSz="914400">
              <a:lnSpc>
                <a:spcPct val="140000"/>
              </a:lnSpc>
              <a:spcBef>
                <a:spcPts val="1000"/>
              </a:spcBef>
              <a:buSzPct val="100000"/>
              <a:buFont typeface="Arial"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Satzproduktion:</a:t>
            </a:r>
          </a:p>
          <a:p>
            <a:pPr lvl="2" marL="1143000" indent="-228600" defTabSz="914400">
              <a:lnSpc>
                <a:spcPct val="140000"/>
              </a:lnSpc>
              <a:spcBef>
                <a:spcPts val="1000"/>
              </a:spcBef>
              <a:buSzPct val="100000"/>
              <a:buFont typeface="Arial"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Wie werden Sätze produziert?</a:t>
            </a:r>
          </a:p>
          <a:p>
            <a:pPr lvl="2" marL="1143000" indent="-228600" defTabSz="914400">
              <a:lnSpc>
                <a:spcPct val="140000"/>
              </a:lnSpc>
              <a:spcBef>
                <a:spcPts val="1000"/>
              </a:spcBef>
              <a:buSzPct val="100000"/>
              <a:buFont typeface="Arial"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Wie entscheide ich mich zwischen </a:t>
            </a:r>
            <a:r>
              <a:rPr b="1"/>
              <a:t>möglichen Alternativen</a:t>
            </a:r>
            <a:r>
              <a:t>?</a:t>
            </a:r>
          </a:p>
        </p:txBody>
      </p:sp>
      <p:sp>
        <p:nvSpPr>
          <p:cNvPr id="666" name="Abgerundetes Rechteck"/>
          <p:cNvSpPr/>
          <p:nvPr/>
        </p:nvSpPr>
        <p:spPr>
          <a:xfrm>
            <a:off x="1089457" y="4615918"/>
            <a:ext cx="4172921" cy="979410"/>
          </a:xfrm>
          <a:prstGeom prst="roundRect">
            <a:avLst>
              <a:gd name="adj" fmla="val 3035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i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667" name="Abgerundetes Rechteck"/>
          <p:cNvSpPr/>
          <p:nvPr/>
        </p:nvSpPr>
        <p:spPr>
          <a:xfrm>
            <a:off x="912348" y="8419870"/>
            <a:ext cx="4172921" cy="979411"/>
          </a:xfrm>
          <a:prstGeom prst="roundRect">
            <a:avLst>
              <a:gd name="adj" fmla="val 30351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i="1" sz="40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668" name="Abgerundetes Rechteck"/>
          <p:cNvSpPr/>
          <p:nvPr/>
        </p:nvSpPr>
        <p:spPr>
          <a:xfrm>
            <a:off x="1089457" y="3551112"/>
            <a:ext cx="4413962" cy="1024360"/>
          </a:xfrm>
          <a:prstGeom prst="roundRect">
            <a:avLst>
              <a:gd name="adj" fmla="val 29939"/>
            </a:avLst>
          </a:prstGeom>
          <a:solidFill>
            <a:srgbClr val="379139">
              <a:alpha val="47134"/>
            </a:srgbClr>
          </a:solidFill>
          <a:ln w="25400">
            <a:solidFill>
              <a:schemeClr val="accent3">
                <a:hueOff val="945267"/>
                <a:satOff val="49643"/>
                <a:lumOff val="-1925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i="1" sz="4000">
                <a:solidFill>
                  <a:srgbClr val="1C421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671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72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673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674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76" name="Sprachproduktion:"/>
          <p:cNvSpPr txBox="1"/>
          <p:nvPr>
            <p:ph type="body" idx="1"/>
          </p:nvPr>
        </p:nvSpPr>
        <p:spPr>
          <a:xfrm>
            <a:off x="1217711" y="3692357"/>
            <a:ext cx="21948578" cy="8483601"/>
          </a:xfrm>
          <a:prstGeom prst="rect">
            <a:avLst/>
          </a:prstGeom>
        </p:spPr>
        <p:txBody>
          <a:bodyPr/>
          <a:lstStyle>
            <a:lvl1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b="1" sz="40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Sprachproduktion:</a:t>
            </a:r>
          </a:p>
        </p:txBody>
      </p:sp>
      <p:pic>
        <p:nvPicPr>
          <p:cNvPr id="677" name="Bildschirmfoto 2025-04-08 um 07.14.24.png" descr="Bildschirmfoto 2025-04-08 um 07.14.2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70756" y="4305299"/>
            <a:ext cx="13242488" cy="8414001"/>
          </a:xfrm>
          <a:prstGeom prst="rect">
            <a:avLst/>
          </a:prstGeom>
          <a:ln w="12700">
            <a:miter lim="400000"/>
          </a:ln>
        </p:spPr>
      </p:pic>
      <p:sp>
        <p:nvSpPr>
          <p:cNvPr id="678" name="Abgerundetes Rechteck"/>
          <p:cNvSpPr/>
          <p:nvPr/>
        </p:nvSpPr>
        <p:spPr>
          <a:xfrm>
            <a:off x="1089457" y="3551112"/>
            <a:ext cx="4413962" cy="1024360"/>
          </a:xfrm>
          <a:prstGeom prst="roundRect">
            <a:avLst>
              <a:gd name="adj" fmla="val 29939"/>
            </a:avLst>
          </a:prstGeom>
          <a:solidFill>
            <a:srgbClr val="379139">
              <a:alpha val="47134"/>
            </a:srgbClr>
          </a:solidFill>
          <a:ln w="25400">
            <a:solidFill>
              <a:schemeClr val="accent3">
                <a:hueOff val="945267"/>
                <a:satOff val="49643"/>
                <a:lumOff val="-1925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914400">
              <a:lnSpc>
                <a:spcPct val="100000"/>
              </a:lnSpc>
              <a:defRPr i="1" sz="4000">
                <a:solidFill>
                  <a:srgbClr val="1C421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681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82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683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684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6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86" name="Experimentelle Methoden:"/>
          <p:cNvSpPr txBox="1"/>
          <p:nvPr>
            <p:ph type="body" idx="1"/>
          </p:nvPr>
        </p:nvSpPr>
        <p:spPr>
          <a:xfrm>
            <a:off x="1217711" y="3692357"/>
            <a:ext cx="21948578" cy="8483601"/>
          </a:xfrm>
          <a:prstGeom prst="rect">
            <a:avLst/>
          </a:prstGeom>
        </p:spPr>
        <p:txBody>
          <a:bodyPr/>
          <a:lstStyle>
            <a:lvl1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b="1" sz="40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Experimentelle Methoden:</a:t>
            </a:r>
            <a:endParaRPr b="1" i="0"/>
          </a:p>
        </p:txBody>
      </p:sp>
      <p:sp>
        <p:nvSpPr>
          <p:cNvPr id="687" name="Online"/>
          <p:cNvSpPr/>
          <p:nvPr/>
        </p:nvSpPr>
        <p:spPr>
          <a:xfrm>
            <a:off x="3897593" y="5114951"/>
            <a:ext cx="4655629" cy="1463974"/>
          </a:xfrm>
          <a:prstGeom prst="roundRect">
            <a:avLst>
              <a:gd name="adj" fmla="val 22654"/>
            </a:avLst>
          </a:prstGeom>
          <a:solidFill>
            <a:schemeClr val="accent5">
              <a:hueOff val="-65973"/>
              <a:satOff val="18050"/>
              <a:lumOff val="-15912"/>
              <a:alpha val="65405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52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Online</a:t>
            </a:r>
          </a:p>
        </p:txBody>
      </p:sp>
      <p:sp>
        <p:nvSpPr>
          <p:cNvPr id="688" name="Offline"/>
          <p:cNvSpPr/>
          <p:nvPr/>
        </p:nvSpPr>
        <p:spPr>
          <a:xfrm>
            <a:off x="15149804" y="5144186"/>
            <a:ext cx="5049049" cy="1463974"/>
          </a:xfrm>
          <a:prstGeom prst="roundRect">
            <a:avLst>
              <a:gd name="adj" fmla="val 24568"/>
            </a:avLst>
          </a:prstGeom>
          <a:solidFill>
            <a:schemeClr val="accent5">
              <a:hueOff val="-65973"/>
              <a:satOff val="18050"/>
              <a:lumOff val="-15912"/>
              <a:alpha val="65405"/>
            </a:schemeClr>
          </a:solidFill>
          <a:ln w="508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52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Offline</a:t>
            </a:r>
          </a:p>
        </p:txBody>
      </p:sp>
      <p:sp>
        <p:nvSpPr>
          <p:cNvPr id="689" name="Self-paced Reading (SPR)"/>
          <p:cNvSpPr/>
          <p:nvPr/>
        </p:nvSpPr>
        <p:spPr>
          <a:xfrm>
            <a:off x="370654" y="8017683"/>
            <a:ext cx="3842786" cy="1382657"/>
          </a:xfrm>
          <a:prstGeom prst="roundRect">
            <a:avLst>
              <a:gd name="adj" fmla="val 19799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Self-paced Reading (SPR)</a:t>
            </a:r>
          </a:p>
        </p:txBody>
      </p:sp>
      <p:sp>
        <p:nvSpPr>
          <p:cNvPr id="690" name="Eye tracking"/>
          <p:cNvSpPr/>
          <p:nvPr/>
        </p:nvSpPr>
        <p:spPr>
          <a:xfrm>
            <a:off x="1206909" y="9679424"/>
            <a:ext cx="3580686" cy="1219156"/>
          </a:xfrm>
          <a:prstGeom prst="roundRect">
            <a:avLst>
              <a:gd name="adj" fmla="val 20922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Eye tracking</a:t>
            </a:r>
          </a:p>
        </p:txBody>
      </p:sp>
      <p:sp>
        <p:nvSpPr>
          <p:cNvPr id="691" name="EEG"/>
          <p:cNvSpPr/>
          <p:nvPr/>
        </p:nvSpPr>
        <p:spPr>
          <a:xfrm>
            <a:off x="7937793" y="8017683"/>
            <a:ext cx="3634258" cy="1219156"/>
          </a:xfrm>
          <a:prstGeom prst="roundRect">
            <a:avLst>
              <a:gd name="adj" fmla="val 21235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EEG</a:t>
            </a:r>
          </a:p>
        </p:txBody>
      </p:sp>
      <p:sp>
        <p:nvSpPr>
          <p:cNvPr id="692" name="Akzeptabilitätsurteil"/>
          <p:cNvSpPr/>
          <p:nvPr/>
        </p:nvSpPr>
        <p:spPr>
          <a:xfrm>
            <a:off x="15333814" y="11038951"/>
            <a:ext cx="4523143" cy="1409223"/>
          </a:xfrm>
          <a:prstGeom prst="roundRect">
            <a:avLst>
              <a:gd name="adj" fmla="val 20416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Akzeptabilitätsurteil</a:t>
            </a:r>
          </a:p>
        </p:txBody>
      </p:sp>
      <p:sp>
        <p:nvSpPr>
          <p:cNvPr id="693" name="Speeded Grammaticality Judgement"/>
          <p:cNvSpPr/>
          <p:nvPr/>
        </p:nvSpPr>
        <p:spPr>
          <a:xfrm>
            <a:off x="12855532" y="8514041"/>
            <a:ext cx="4175951" cy="1849944"/>
          </a:xfrm>
          <a:prstGeom prst="roundRect">
            <a:avLst>
              <a:gd name="adj" fmla="val 16080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Speeded Grammaticality Judgement</a:t>
            </a:r>
          </a:p>
        </p:txBody>
      </p:sp>
      <p:sp>
        <p:nvSpPr>
          <p:cNvPr id="694" name="Satzvervollständigung"/>
          <p:cNvSpPr/>
          <p:nvPr/>
        </p:nvSpPr>
        <p:spPr>
          <a:xfrm>
            <a:off x="18799477" y="8747684"/>
            <a:ext cx="4681030" cy="1382657"/>
          </a:xfrm>
          <a:prstGeom prst="roundRect">
            <a:avLst>
              <a:gd name="adj" fmla="val 19865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Satzvervollständigung</a:t>
            </a:r>
          </a:p>
        </p:txBody>
      </p:sp>
      <p:sp>
        <p:nvSpPr>
          <p:cNvPr id="695" name="Linie"/>
          <p:cNvSpPr/>
          <p:nvPr/>
        </p:nvSpPr>
        <p:spPr>
          <a:xfrm flipV="1">
            <a:off x="6225407" y="7480202"/>
            <a:ext cx="1" cy="2610019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96" name="Linie"/>
          <p:cNvSpPr/>
          <p:nvPr/>
        </p:nvSpPr>
        <p:spPr>
          <a:xfrm flipV="1">
            <a:off x="17674328" y="7581684"/>
            <a:ext cx="1" cy="2837912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97" name="Linie"/>
          <p:cNvSpPr/>
          <p:nvPr/>
        </p:nvSpPr>
        <p:spPr>
          <a:xfrm flipV="1">
            <a:off x="5197246" y="7511966"/>
            <a:ext cx="693999" cy="844384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98" name="Linie"/>
          <p:cNvSpPr/>
          <p:nvPr/>
        </p:nvSpPr>
        <p:spPr>
          <a:xfrm flipV="1">
            <a:off x="16723496" y="7511966"/>
            <a:ext cx="693999" cy="844384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99" name="Linie"/>
          <p:cNvSpPr/>
          <p:nvPr/>
        </p:nvSpPr>
        <p:spPr>
          <a:xfrm flipH="1" flipV="1">
            <a:off x="6559569" y="7511966"/>
            <a:ext cx="693999" cy="844384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00" name="Linie"/>
          <p:cNvSpPr/>
          <p:nvPr/>
        </p:nvSpPr>
        <p:spPr>
          <a:xfrm flipH="1" flipV="1">
            <a:off x="17931162" y="7511966"/>
            <a:ext cx="694000" cy="844384"/>
          </a:xfrm>
          <a:prstGeom prst="line">
            <a:avLst/>
          </a:prstGeom>
          <a:ln w="635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01" name="fMRI"/>
          <p:cNvSpPr/>
          <p:nvPr/>
        </p:nvSpPr>
        <p:spPr>
          <a:xfrm>
            <a:off x="4408278" y="11133985"/>
            <a:ext cx="3634258" cy="1219155"/>
          </a:xfrm>
          <a:prstGeom prst="roundRect">
            <a:avLst>
              <a:gd name="adj" fmla="val 21235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fMRI</a:t>
            </a:r>
          </a:p>
        </p:txBody>
      </p:sp>
      <p:sp>
        <p:nvSpPr>
          <p:cNvPr id="702" name="MEG"/>
          <p:cNvSpPr/>
          <p:nvPr/>
        </p:nvSpPr>
        <p:spPr>
          <a:xfrm>
            <a:off x="7004435" y="9575554"/>
            <a:ext cx="3634257" cy="1219155"/>
          </a:xfrm>
          <a:prstGeom prst="roundRect">
            <a:avLst>
              <a:gd name="adj" fmla="val 21235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MEG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705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706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707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708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709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10" name="Experimentelle Methoden:"/>
          <p:cNvSpPr txBox="1"/>
          <p:nvPr>
            <p:ph type="body" idx="1"/>
          </p:nvPr>
        </p:nvSpPr>
        <p:spPr>
          <a:xfrm>
            <a:off x="1217711" y="3692357"/>
            <a:ext cx="21948578" cy="8483601"/>
          </a:xfrm>
          <a:prstGeom prst="rect">
            <a:avLst/>
          </a:prstGeom>
        </p:spPr>
        <p:txBody>
          <a:bodyPr/>
          <a:lstStyle>
            <a:lvl1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b="1" sz="40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Experimentelle Methoden:</a:t>
            </a:r>
            <a:endParaRPr b="1" i="0"/>
          </a:p>
        </p:txBody>
      </p:sp>
      <p:sp>
        <p:nvSpPr>
          <p:cNvPr id="711" name="EEG"/>
          <p:cNvSpPr/>
          <p:nvPr/>
        </p:nvSpPr>
        <p:spPr>
          <a:xfrm>
            <a:off x="7329576" y="3428404"/>
            <a:ext cx="3634257" cy="1219156"/>
          </a:xfrm>
          <a:prstGeom prst="roundRect">
            <a:avLst>
              <a:gd name="adj" fmla="val 21235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EEG</a:t>
            </a:r>
          </a:p>
        </p:txBody>
      </p:sp>
      <p:pic>
        <p:nvPicPr>
          <p:cNvPr id="712" name="Bildschirmfoto 2025-04-10 um 08.22.02.png" descr="Bildschirmfoto 2025-04-10 um 08.22.0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17903" y="4910651"/>
            <a:ext cx="10313938" cy="7596722"/>
          </a:xfrm>
          <a:prstGeom prst="rect">
            <a:avLst/>
          </a:prstGeom>
          <a:ln w="12700">
            <a:miter lim="400000"/>
          </a:ln>
        </p:spPr>
      </p:pic>
      <p:sp>
        <p:nvSpPr>
          <p:cNvPr id="713" name="Inhaltsplatzhalter 2"/>
          <p:cNvSpPr txBox="1"/>
          <p:nvPr/>
        </p:nvSpPr>
        <p:spPr>
          <a:xfrm>
            <a:off x="1412691" y="5059334"/>
            <a:ext cx="9890409" cy="638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 algn="l" defTabSz="914400">
              <a:lnSpc>
                <a:spcPct val="140000"/>
              </a:lnSpc>
              <a:spcBef>
                <a:spcPts val="1000"/>
              </a:spcBef>
              <a:buSzPct val="100000"/>
              <a:buFont typeface="Arial"/>
              <a:buChar char="•"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Messung elektronischer Aktivität im Gehirn</a:t>
            </a:r>
          </a:p>
          <a:p>
            <a:pPr marL="228600" indent="-228600" algn="l" defTabSz="914400">
              <a:lnSpc>
                <a:spcPct val="140000"/>
              </a:lnSpc>
              <a:spcBef>
                <a:spcPts val="1000"/>
              </a:spcBef>
              <a:buSzPct val="100000"/>
              <a:buFont typeface="Arial"/>
              <a:buChar char="•"/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Erhebung sogenannter ERPs (event-related potentials). </a:t>
            </a:r>
          </a:p>
          <a:p>
            <a:pPr lvl="2" algn="l" defTabSz="914400">
              <a:lnSpc>
                <a:spcPct val="140000"/>
              </a:lnSpc>
              <a:spcBef>
                <a:spcPts val="500"/>
              </a:spcBef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-&gt; Ausschläge der Gehirnwellen/in der Aktivität in Bezug zu einem Reiz (bspw. ein Wort)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716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717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718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719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720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21" name="Experimentelle Methoden:"/>
          <p:cNvSpPr txBox="1"/>
          <p:nvPr>
            <p:ph type="body" idx="1"/>
          </p:nvPr>
        </p:nvSpPr>
        <p:spPr>
          <a:xfrm>
            <a:off x="1217711" y="3692357"/>
            <a:ext cx="21948578" cy="8483601"/>
          </a:xfrm>
          <a:prstGeom prst="rect">
            <a:avLst/>
          </a:prstGeom>
        </p:spPr>
        <p:txBody>
          <a:bodyPr/>
          <a:lstStyle>
            <a:lvl1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b="1" sz="40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Experimentelle Methoden:</a:t>
            </a:r>
            <a:endParaRPr b="1" i="0"/>
          </a:p>
        </p:txBody>
      </p:sp>
      <p:sp>
        <p:nvSpPr>
          <p:cNvPr id="722" name="Eye tracking"/>
          <p:cNvSpPr/>
          <p:nvPr/>
        </p:nvSpPr>
        <p:spPr>
          <a:xfrm>
            <a:off x="7372024" y="3431370"/>
            <a:ext cx="3580687" cy="1219155"/>
          </a:xfrm>
          <a:prstGeom prst="roundRect">
            <a:avLst>
              <a:gd name="adj" fmla="val 20922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Eye tracking</a:t>
            </a:r>
          </a:p>
        </p:txBody>
      </p:sp>
      <p:pic>
        <p:nvPicPr>
          <p:cNvPr id="723" name="Bildschirmfoto 2025-04-10 um 08.24.44.png" descr="Bildschirmfoto 2025-04-10 um 08.24.4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80832" y="5294452"/>
            <a:ext cx="9572716" cy="638181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4" name="Bildschirmfoto 2025-04-10 um 08.25.20.png" descr="Bildschirmfoto 2025-04-10 um 08.25.2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523569" y="3098598"/>
            <a:ext cx="5657832" cy="5546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725" name="Bildschirmfoto 2025-04-10 um 08.25.40.png" descr="Bildschirmfoto 2025-04-10 um 08.25.40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5196708" y="9173374"/>
            <a:ext cx="6311554" cy="43125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Einführung in die Psycholinguisti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Einführung in die Psycholinguistik</a:t>
            </a:r>
          </a:p>
        </p:txBody>
      </p:sp>
      <p:sp>
        <p:nvSpPr>
          <p:cNvPr id="728" name="Kreis"/>
          <p:cNvSpPr/>
          <p:nvPr/>
        </p:nvSpPr>
        <p:spPr>
          <a:xfrm>
            <a:off x="15283704" y="8074011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729" name="Kreis"/>
          <p:cNvSpPr/>
          <p:nvPr/>
        </p:nvSpPr>
        <p:spPr>
          <a:xfrm>
            <a:off x="15283704" y="11582193"/>
            <a:ext cx="1270001" cy="12700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730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731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732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33" name="Experimentelle Methoden:…"/>
          <p:cNvSpPr txBox="1"/>
          <p:nvPr>
            <p:ph type="body" idx="1"/>
          </p:nvPr>
        </p:nvSpPr>
        <p:spPr>
          <a:xfrm>
            <a:off x="1217711" y="3692357"/>
            <a:ext cx="21948578" cy="8483601"/>
          </a:xfrm>
          <a:prstGeom prst="rect">
            <a:avLst/>
          </a:prstGeom>
        </p:spPr>
        <p:txBody>
          <a:bodyPr/>
          <a:lstStyle/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Experimentelle Methoden:</a:t>
            </a:r>
            <a:endParaRPr b="1" i="0"/>
          </a:p>
          <a:p>
            <a:pPr marL="0" indent="0" algn="just" defTabSz="914400">
              <a:lnSpc>
                <a:spcPct val="140000"/>
              </a:lnSpc>
              <a:spcBef>
                <a:spcPts val="0"/>
              </a:spcBef>
              <a:buSzTx/>
              <a:buNone/>
              <a:defRPr i="1" sz="4000" u="sng">
                <a:latin typeface="Times Roman"/>
                <a:ea typeface="Times Roman"/>
                <a:cs typeface="Times Roman"/>
                <a:sym typeface="Times Roman"/>
              </a:defRPr>
            </a:pPr>
            <a:endParaRPr b="1" i="0"/>
          </a:p>
          <a:p>
            <a:pPr marL="496454" indent="-496454" algn="just" defTabSz="914400">
              <a:lnSpc>
                <a:spcPct val="140000"/>
              </a:lnSpc>
              <a:spcBef>
                <a:spcPts val="0"/>
              </a:spcBef>
              <a:defRPr sz="4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Sätze sollen nach ihrer Akzeptabilität/ Grammatikalität/ Natürlichkeit bewertet werden.</a:t>
            </a:r>
          </a:p>
        </p:txBody>
      </p:sp>
      <p:sp>
        <p:nvSpPr>
          <p:cNvPr id="734" name="Speeded Grammaticality Judgement"/>
          <p:cNvSpPr/>
          <p:nvPr/>
        </p:nvSpPr>
        <p:spPr>
          <a:xfrm>
            <a:off x="7602743" y="3233605"/>
            <a:ext cx="4175951" cy="1849944"/>
          </a:xfrm>
          <a:prstGeom prst="roundRect">
            <a:avLst>
              <a:gd name="adj" fmla="val 16080"/>
            </a:avLst>
          </a:prstGeom>
          <a:solidFill>
            <a:schemeClr val="accent5">
              <a:hueOff val="-65973"/>
              <a:satOff val="18050"/>
              <a:lumOff val="-15912"/>
              <a:alpha val="10330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914400">
              <a:lnSpc>
                <a:spcPct val="100000"/>
              </a:lnSpc>
              <a:defRPr b="1" sz="35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 i="1"/>
            </a:pPr>
            <a:r>
              <a:rPr b="1" i="0"/>
              <a:t>Speeded Grammaticality Judgement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Foliennummernplatzhalter 4"/>
          <p:cNvSpPr txBox="1"/>
          <p:nvPr>
            <p:ph type="sldNum" sz="quarter" idx="2"/>
          </p:nvPr>
        </p:nvSpPr>
        <p:spPr>
          <a:xfrm>
            <a:off x="22156419" y="12790738"/>
            <a:ext cx="551181" cy="5741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37" name="Rectangle 2"/>
          <p:cNvSpPr txBox="1"/>
          <p:nvPr>
            <p:ph type="title"/>
          </p:nvPr>
        </p:nvSpPr>
        <p:spPr>
          <a:xfrm>
            <a:off x="4419600" y="5715000"/>
            <a:ext cx="15544800" cy="2286000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*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Foliennummernplatzhalter 4"/>
          <p:cNvSpPr txBox="1"/>
          <p:nvPr>
            <p:ph type="sldNum" sz="quarter" idx="2"/>
          </p:nvPr>
        </p:nvSpPr>
        <p:spPr>
          <a:xfrm>
            <a:off x="22156419" y="12790738"/>
            <a:ext cx="551181" cy="5741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40" name="Rectangle 2"/>
          <p:cNvSpPr txBox="1"/>
          <p:nvPr>
            <p:ph type="title"/>
          </p:nvPr>
        </p:nvSpPr>
        <p:spPr>
          <a:xfrm>
            <a:off x="4419600" y="5715000"/>
            <a:ext cx="15544800" cy="2286000"/>
          </a:xfrm>
          <a:prstGeom prst="rect">
            <a:avLst/>
          </a:prstGeom>
        </p:spPr>
        <p:txBody>
          <a:bodyPr/>
          <a:lstStyle>
            <a:lvl1pPr algn="ctr">
              <a:defRPr sz="5600"/>
            </a:lvl1pPr>
          </a:lstStyle>
          <a:p>
            <a:pPr/>
            <a:r>
              <a:t>Welche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Foliennummernplatzhalter 4"/>
          <p:cNvSpPr txBox="1"/>
          <p:nvPr>
            <p:ph type="sldNum" sz="quarter" idx="2"/>
          </p:nvPr>
        </p:nvSpPr>
        <p:spPr>
          <a:xfrm>
            <a:off x="22156419" y="12790738"/>
            <a:ext cx="551181" cy="5741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43" name="Rectangle 2"/>
          <p:cNvSpPr txBox="1"/>
          <p:nvPr>
            <p:ph type="title"/>
          </p:nvPr>
        </p:nvSpPr>
        <p:spPr>
          <a:xfrm>
            <a:off x="4419600" y="5715000"/>
            <a:ext cx="15544800" cy="2286000"/>
          </a:xfrm>
          <a:prstGeom prst="rect">
            <a:avLst/>
          </a:prstGeom>
        </p:spPr>
        <p:txBody>
          <a:bodyPr/>
          <a:lstStyle>
            <a:lvl1pPr algn="ctr">
              <a:defRPr sz="5600"/>
            </a:lvl1pPr>
          </a:lstStyle>
          <a:p>
            <a:pPr/>
            <a:r>
              <a:t>Frau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Foliennummernplatzhalter 4"/>
          <p:cNvSpPr txBox="1"/>
          <p:nvPr>
            <p:ph type="sldNum" sz="quarter" idx="2"/>
          </p:nvPr>
        </p:nvSpPr>
        <p:spPr>
          <a:xfrm>
            <a:off x="22156419" y="12790738"/>
            <a:ext cx="551181" cy="5741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46" name="Rectangle 2"/>
          <p:cNvSpPr txBox="1"/>
          <p:nvPr>
            <p:ph type="title"/>
          </p:nvPr>
        </p:nvSpPr>
        <p:spPr>
          <a:xfrm>
            <a:off x="4419600" y="5715000"/>
            <a:ext cx="15544800" cy="2286000"/>
          </a:xfrm>
          <a:prstGeom prst="rect">
            <a:avLst/>
          </a:prstGeom>
        </p:spPr>
        <p:txBody>
          <a:bodyPr/>
          <a:lstStyle>
            <a:lvl1pPr algn="ctr">
              <a:defRPr sz="5600"/>
            </a:lvl1pPr>
          </a:lstStyle>
          <a:p>
            <a:pPr/>
            <a:r>
              <a:t>glaubst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Foliennummernplatzhalter 4"/>
          <p:cNvSpPr txBox="1"/>
          <p:nvPr>
            <p:ph type="sldNum" sz="quarter" idx="2"/>
          </p:nvPr>
        </p:nvSpPr>
        <p:spPr>
          <a:xfrm>
            <a:off x="22156419" y="12790738"/>
            <a:ext cx="551181" cy="5741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49" name="Rectangle 2"/>
          <p:cNvSpPr txBox="1"/>
          <p:nvPr>
            <p:ph type="title"/>
          </p:nvPr>
        </p:nvSpPr>
        <p:spPr>
          <a:xfrm>
            <a:off x="4419600" y="5715000"/>
            <a:ext cx="15544800" cy="2286000"/>
          </a:xfrm>
          <a:prstGeom prst="rect">
            <a:avLst/>
          </a:prstGeom>
        </p:spPr>
        <p:txBody>
          <a:bodyPr/>
          <a:lstStyle>
            <a:lvl1pPr algn="ctr">
              <a:defRPr sz="5600"/>
            </a:lvl1pPr>
          </a:lstStyle>
          <a:p>
            <a:pPr/>
            <a:r>
              <a:t>Du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Foliennummernplatzhalter 4"/>
          <p:cNvSpPr txBox="1"/>
          <p:nvPr>
            <p:ph type="sldNum" sz="quarter" idx="2"/>
          </p:nvPr>
        </p:nvSpPr>
        <p:spPr>
          <a:xfrm>
            <a:off x="22156419" y="12790738"/>
            <a:ext cx="551181" cy="5741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52" name="Rectangle 2"/>
          <p:cNvSpPr txBox="1"/>
          <p:nvPr>
            <p:ph type="title"/>
          </p:nvPr>
        </p:nvSpPr>
        <p:spPr>
          <a:xfrm>
            <a:off x="4419600" y="5715000"/>
            <a:ext cx="15544800" cy="2286000"/>
          </a:xfrm>
          <a:prstGeom prst="rect">
            <a:avLst/>
          </a:prstGeom>
        </p:spPr>
        <p:txBody>
          <a:bodyPr/>
          <a:lstStyle>
            <a:lvl1pPr algn="ctr">
              <a:defRPr sz="5600"/>
            </a:lvl1pPr>
          </a:lstStyle>
          <a:p>
            <a:pPr/>
            <a:r>
              <a:t>liebt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Foliennummernplatzhalter 4"/>
          <p:cNvSpPr txBox="1"/>
          <p:nvPr>
            <p:ph type="sldNum" sz="quarter" idx="2"/>
          </p:nvPr>
        </p:nvSpPr>
        <p:spPr>
          <a:xfrm>
            <a:off x="22156419" y="12790738"/>
            <a:ext cx="551181" cy="5741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55" name="Rectangle 2"/>
          <p:cNvSpPr txBox="1"/>
          <p:nvPr>
            <p:ph type="title"/>
          </p:nvPr>
        </p:nvSpPr>
        <p:spPr>
          <a:xfrm>
            <a:off x="4419600" y="5715000"/>
            <a:ext cx="15544800" cy="2286000"/>
          </a:xfrm>
          <a:prstGeom prst="rect">
            <a:avLst/>
          </a:prstGeom>
        </p:spPr>
        <p:txBody>
          <a:bodyPr/>
          <a:lstStyle>
            <a:lvl1pPr algn="ctr">
              <a:defRPr sz="5600"/>
            </a:lvl1pPr>
          </a:lstStyle>
          <a:p>
            <a:pPr/>
            <a:r>
              <a:t>jeder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Foliennummernplatzhalter 4"/>
          <p:cNvSpPr txBox="1"/>
          <p:nvPr>
            <p:ph type="sldNum" sz="quarter" idx="2"/>
          </p:nvPr>
        </p:nvSpPr>
        <p:spPr>
          <a:xfrm>
            <a:off x="22156419" y="12790738"/>
            <a:ext cx="551181" cy="5741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58" name="Rectangle 2"/>
          <p:cNvSpPr txBox="1"/>
          <p:nvPr>
            <p:ph type="title"/>
          </p:nvPr>
        </p:nvSpPr>
        <p:spPr>
          <a:xfrm>
            <a:off x="4419600" y="5715000"/>
            <a:ext cx="15544800" cy="2286000"/>
          </a:xfrm>
          <a:prstGeom prst="rect">
            <a:avLst/>
          </a:prstGeom>
        </p:spPr>
        <p:txBody>
          <a:bodyPr/>
          <a:lstStyle>
            <a:lvl1pPr algn="ctr">
              <a:defRPr sz="5600"/>
            </a:lvl1pPr>
          </a:lstStyle>
          <a:p>
            <a:pPr/>
            <a:r>
              <a:t>Mann?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Foliennummernplatzhalter 4"/>
          <p:cNvSpPr txBox="1"/>
          <p:nvPr>
            <p:ph type="sldNum" sz="quarter" idx="2"/>
          </p:nvPr>
        </p:nvSpPr>
        <p:spPr>
          <a:xfrm>
            <a:off x="22156419" y="12790738"/>
            <a:ext cx="551181" cy="5741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61" name="Rectangle 2"/>
          <p:cNvSpPr txBox="1"/>
          <p:nvPr>
            <p:ph type="title"/>
          </p:nvPr>
        </p:nvSpPr>
        <p:spPr>
          <a:xfrm>
            <a:off x="4419600" y="5715000"/>
            <a:ext cx="15544800" cy="2286000"/>
          </a:xfrm>
          <a:prstGeom prst="rect">
            <a:avLst/>
          </a:prstGeom>
        </p:spPr>
        <p:txBody>
          <a:bodyPr/>
          <a:lstStyle/>
          <a:p>
            <a:pPr algn="ctr">
              <a:defRPr sz="5000">
                <a:solidFill>
                  <a:srgbClr val="FF0000"/>
                </a:solidFill>
              </a:defRPr>
            </a:pPr>
            <a:r>
              <a:t>???</a:t>
            </a:r>
            <a:br/>
            <a:br/>
            <a:r>
              <a:t>Grammatisch	Ungrammatisch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Foliennummernplatzhalter 4"/>
          <p:cNvSpPr txBox="1"/>
          <p:nvPr>
            <p:ph type="sldNum" sz="quarter" idx="2"/>
          </p:nvPr>
        </p:nvSpPr>
        <p:spPr>
          <a:xfrm>
            <a:off x="22156419" y="12790738"/>
            <a:ext cx="551181" cy="5741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64" name="Rectangle 2"/>
          <p:cNvSpPr txBox="1"/>
          <p:nvPr>
            <p:ph type="title"/>
          </p:nvPr>
        </p:nvSpPr>
        <p:spPr>
          <a:xfrm>
            <a:off x="4419600" y="5715000"/>
            <a:ext cx="15544800" cy="2286000"/>
          </a:xfrm>
          <a:prstGeom prst="rect">
            <a:avLst/>
          </a:prstGeom>
        </p:spPr>
        <p:txBody>
          <a:bodyPr/>
          <a:lstStyle>
            <a:lvl1pPr algn="ctr">
              <a:defRPr sz="5600">
                <a:solidFill>
                  <a:srgbClr val="FF0000"/>
                </a:solidFill>
              </a:defRPr>
            </a:lvl1pPr>
          </a:lstStyle>
          <a:p>
            <a:pPr/>
            <a:r>
              <a:t>Zu langsam!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Überbli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Überblick</a:t>
            </a:r>
          </a:p>
        </p:txBody>
      </p:sp>
      <p:sp>
        <p:nvSpPr>
          <p:cNvPr id="767" name="Rectangle 2"/>
          <p:cNvSpPr txBox="1"/>
          <p:nvPr/>
        </p:nvSpPr>
        <p:spPr>
          <a:xfrm>
            <a:off x="1371131" y="3725197"/>
            <a:ext cx="17781181" cy="1001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13.30-13.50:</a:t>
            </a:r>
            <a:r>
              <a:rPr b="0"/>
              <a:t> 	</a:t>
            </a:r>
            <a:r>
              <a:rPr b="0" i="0"/>
              <a:t>Ein psycholinguistisches Experiment</a:t>
            </a:r>
            <a:endParaRPr b="0"/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13.50-14.10:</a:t>
            </a:r>
            <a:r>
              <a:rPr b="0" i="0"/>
              <a:t>	        Einführung in die Linguistik</a:t>
            </a:r>
            <a:endParaRPr b="0"/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14.10-14.30: 	</a:t>
            </a:r>
            <a:r>
              <a:rPr b="0" i="0"/>
              <a:t>Einführung in die Psycholinguistik</a:t>
            </a:r>
          </a:p>
          <a:p>
            <a:pPr indent="85725" algn="l" defTabSz="914400">
              <a:lnSpc>
                <a:spcPct val="120000"/>
              </a:lnSpc>
              <a:defRPr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14.30-14.50:</a:t>
            </a:r>
            <a:r>
              <a:rPr b="0" i="0"/>
              <a:t>	        Hintergründe des Experiments</a:t>
            </a: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14.50-15.10: 	</a:t>
            </a:r>
            <a:r>
              <a:rPr b="0" i="0"/>
              <a:t>Auswertung des Experiments</a:t>
            </a: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endParaRPr b="0" i="0"/>
          </a:p>
          <a:p>
            <a:pPr indent="85725" algn="l" defTabSz="914400">
              <a:lnSpc>
                <a:spcPct val="120000"/>
              </a:lnSpc>
              <a:defRPr b="1" i="1" sz="4000">
                <a:latin typeface="Calibri"/>
                <a:ea typeface="Calibri"/>
                <a:cs typeface="Calibri"/>
                <a:sym typeface="Calibri"/>
              </a:defRPr>
            </a:pPr>
            <a:r>
              <a:t>15.10-15.30: 	</a:t>
            </a:r>
            <a:r>
              <a:rPr b="0" i="0"/>
              <a:t>Simulation mit ChatGPT</a:t>
            </a:r>
            <a:endParaRPr b="0"/>
          </a:p>
          <a:p>
            <a:pPr indent="85725" algn="l" defTabSz="914400">
              <a:lnSpc>
                <a:spcPct val="120000"/>
              </a:lnSpc>
              <a:defRPr i="1" sz="4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85725" algn="l" defTabSz="914400">
              <a:lnSpc>
                <a:spcPct val="120000"/>
              </a:lnSpc>
              <a:defRPr i="1" sz="4000">
                <a:latin typeface="Calibri"/>
                <a:ea typeface="Calibri"/>
                <a:cs typeface="Calibri"/>
                <a:sym typeface="Calibri"/>
              </a:defRPr>
            </a:pPr>
            <a:r>
              <a:t>15.30-16.00:	       - Abschluss -</a:t>
            </a:r>
          </a:p>
        </p:txBody>
      </p:sp>
      <p:pic>
        <p:nvPicPr>
          <p:cNvPr id="768" name="Bildschirmfoto 2023-02-27 um 15.48.08.png" descr="Bildschirmfoto 2023-02-27 um 15.48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29477" y="697310"/>
            <a:ext cx="6311553" cy="1514774"/>
          </a:xfrm>
          <a:prstGeom prst="rect">
            <a:avLst/>
          </a:prstGeom>
          <a:ln w="12700">
            <a:miter lim="400000"/>
          </a:ln>
        </p:spPr>
      </p:pic>
      <p:sp>
        <p:nvSpPr>
          <p:cNvPr id="769" name="Rechteck"/>
          <p:cNvSpPr/>
          <p:nvPr/>
        </p:nvSpPr>
        <p:spPr>
          <a:xfrm>
            <a:off x="366098" y="2428718"/>
            <a:ext cx="23651804" cy="141269"/>
          </a:xfrm>
          <a:prstGeom prst="rect">
            <a:avLst/>
          </a:prstGeom>
          <a:solidFill>
            <a:srgbClr val="982C3A">
              <a:alpha val="4356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770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71" name="Abgerundetes Rechteck"/>
          <p:cNvSpPr/>
          <p:nvPr/>
        </p:nvSpPr>
        <p:spPr>
          <a:xfrm>
            <a:off x="1162006" y="7691635"/>
            <a:ext cx="12667496" cy="2597345"/>
          </a:xfrm>
          <a:prstGeom prst="roundRect">
            <a:avLst>
              <a:gd name="adj" fmla="val 7334"/>
            </a:avLst>
          </a:prstGeom>
          <a:solidFill>
            <a:schemeClr val="accent5">
              <a:hueOff val="-65973"/>
              <a:satOff val="18050"/>
              <a:lumOff val="-15912"/>
              <a:alpha val="29666"/>
            </a:schemeClr>
          </a:solidFill>
          <a:ln w="25400">
            <a:solidFill>
              <a:schemeClr val="accent5">
                <a:hueOff val="-65973"/>
                <a:satOff val="18050"/>
                <a:lumOff val="-1591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lnSpc>
                <a:spcPct val="100000"/>
              </a:lnSpc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